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dat" ContentType="application/x-fontdata"/>
  <Default Extension="bin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media/image2.bin" ContentType="image/jpeg"/>
  <Override PartName="/ppt/media/image8.bin" ContentType="image/jpeg"/>
  <Override PartName="/ppt/slides/slide2.xml" ContentType="application/vnd.openxmlformats-officedocument.presentationml.slide+xml"/>
  <Override PartName="/ppt/media/image16.bin" ContentType="image/svg+xml"/>
  <Override PartName="/ppt/media/image19.bin" ContentType="image/svg+xml"/>
  <Override PartName="/ppt/media/image22.bin" ContentType="image/svg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media/image34.bin" ContentType="image/jpe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media/image193.bin" ContentType="image/svg+xml"/>
  <Override PartName="/ppt/media/image196.bin" ContentType="image/svg+xml"/>
  <Override PartName="/ppt/media/image199.bin" ContentType="image/svg+xml"/>
  <Override PartName="/ppt/slides/slide13.xml" ContentType="application/vnd.openxmlformats-officedocument.presentationml.slide+xml"/>
  <Override PartName="/ppt/media/image202.bin" ContentType="image/jpeg"/>
  <Override PartName="/ppt/slides/slide14.xml" ContentType="application/vnd.openxmlformats-officedocument.presentationml.slide+xml"/>
  <Override PartName="/ppt/media/image210.bin" ContentType="image/jpeg"/>
  <Override PartName="/ppt/slides/slide15.xml" ContentType="application/vnd.openxmlformats-officedocument.presentationml.slide+xml"/>
  <Override PartName="/ppt/media/image218.bin" ContentType="image/jpeg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media/image310.bin" ContentType="image/svg+xml"/>
  <Override PartName="/ppt/media/image314.bin" ContentType="image/svg+xml"/>
  <Override PartName="/ppt/media/image318.bin" ContentType="image/svg+xml"/>
  <Override PartName="/ppt/media/image322.bin" ContentType="image/svg+xml"/>
  <Override PartName="/ppt/media/image326.bin" ContentType="image/svg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media/image388.bin" ContentType="image/svg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media/image408.bin" ContentType="image/svg+xml"/>
  <Override PartName="/ppt/media/image410.bin" ContentType="image/svg+xml"/>
  <Override PartName="/ppt/media/image412.bin" ContentType="image/jpeg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media/image600.bin" ContentType="image/svg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media/image623.bin" ContentType="image/svg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media/image665.bin" ContentType="image/svg+xml"/>
  <Override PartName="/ppt/media/image669.bin" ContentType="image/svg+xml"/>
  <Override PartName="/ppt/media/image673.bin" ContentType="image/svg+xml"/>
  <Override PartName="/ppt/slides/slide59.xml" ContentType="application/vnd.openxmlformats-officedocument.presentationml.slide+xml"/>
  <Override PartName="/ppt/media/image682.bin" ContentType="image/svg+xml"/>
  <Override PartName="/ppt/slides/slide60.xml" ContentType="application/vnd.openxmlformats-officedocument.presentationml.slide+xml"/>
  <Override PartName="/ppt/media/image691.bin" ContentType="image/svg+xml"/>
  <Override PartName="/ppt/media/image695.bin" ContentType="image/svg+xml"/>
  <Override PartName="/ppt/media/image699.bin" ContentType="image/svg+xml"/>
  <Override PartName="/ppt/slides/slide61.xml" ContentType="application/vnd.openxmlformats-officedocument.presentationml.slide+xml"/>
  <Override PartName="/ppt/media/image708.bin" ContentType="image/svg+xml"/>
  <Override PartName="/ppt/media/image712.bin" ContentType="image/svg+xml"/>
  <Override PartName="/ppt/media/image720.bin" ContentType="image/svg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media/image802.bin" ContentType="image/svg+xml"/>
  <Override PartName="/ppt/media/image812.bin" ContentType="image/svg+xml"/>
  <Override PartName="/ppt/media/image822.bin" ContentType="image/svg+xml"/>
  <Override PartName="/ppt/media/image832.bin" ContentType="image/svg+xml"/>
  <Override PartName="/ppt/media/image842.bin" ContentType="image/svg+xml"/>
  <Override PartName="/ppt/media/image852.bin" ContentType="image/svg+xml"/>
  <Override PartName="/ppt/slides/slide64.xml" ContentType="application/vnd.openxmlformats-officedocument.presentationml.slide+xml"/>
  <Override PartName="/ppt/media/image863.bin" ContentType="image/svg+xml"/>
  <Override PartName="/ppt/slides/slide65.xml" ContentType="application/vnd.openxmlformats-officedocument.presentationml.slide+xml"/>
  <Override PartName="/ppt/media/image868.bin" ContentType="image/svg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media/image901.bin" ContentType="image/svg+xml"/>
  <Override PartName="/ppt/media/image909.bin" ContentType="image/svg+xml"/>
  <Override PartName="/ppt/media/image917.bin" ContentType="image/svg+xml"/>
  <Override PartName="/ppt/media/image925.bin" ContentType="image/svg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media/image1050.bin" ContentType="image/svg+xml"/>
  <Override PartName="/ppt/media/image1062.bin" ContentType="image/svg+xml"/>
  <Override PartName="/ppt/media/image1074.bin" ContentType="image/svg+xml"/>
  <Override PartName="/ppt/slides/slide72.xml" ContentType="application/vnd.openxmlformats-officedocument.presentationml.slide+xml"/>
  <Override PartName="/ppt/slides/slide7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72" r:id="rId1"/>
  </p:sldMasterIdLst>
  <p:sldIdLst>
    <p:sldId id="301" r:id="rId10"/>
    <p:sldId id="332" r:id="rId34"/>
    <p:sldId id="367" r:id="rId57"/>
    <p:sldId id="406" r:id="rId77"/>
    <p:sldId id="435" r:id="rId95"/>
    <p:sldId id="448" r:id="rId105"/>
    <p:sldId id="471" r:id="rId125"/>
    <p:sldId id="619" r:id="rId231"/>
    <p:sldId id="646" r:id="rId251"/>
    <p:sldId id="800" r:id="rId361"/>
    <p:sldId id="825" r:id="rId383"/>
    <p:sldId id="850" r:id="rId405"/>
    <p:sldId id="879" r:id="rId428"/>
    <p:sldId id="906" r:id="rId446"/>
    <p:sldId id="933" r:id="rId464"/>
    <p:sldId id="960" r:id="rId482"/>
    <p:sldId id="1019" r:id="rId514"/>
    <p:sldId id="1044" r:id="rId536"/>
    <p:sldId id="1069" r:id="rId558"/>
    <p:sldId id="1094" r:id="rId580"/>
    <p:sldId id="1119" r:id="rId602"/>
    <p:sldId id="1144" r:id="rId624"/>
    <p:sldId id="1169" r:id="rId646"/>
    <p:sldId id="1252" r:id="rId701"/>
    <p:sldId id="1277" r:id="rId723"/>
    <p:sldId id="1302" r:id="rId745"/>
    <p:sldId id="1327" r:id="rId767"/>
    <p:sldId id="1352" r:id="rId789"/>
    <p:sldId id="1377" r:id="rId811"/>
    <p:sldId id="1405" r:id="rId834"/>
    <p:sldId id="1432" r:id="rId854"/>
    <p:sldId id="1562" r:id="rId931"/>
    <p:sldId id="1589" r:id="rId951"/>
    <p:sldId id="1606" r:id="rId963"/>
    <p:sldId id="1631" r:id="rId983"/>
    <p:sldId id="1658" r:id="rId1005"/>
    <p:sldId id="1675" r:id="rId1017"/>
    <p:sldId id="1692" r:id="rId1029"/>
    <p:sldId id="1707" r:id="rId1041"/>
    <p:sldId id="1748" r:id="rId1055"/>
    <p:sldId id="1771" r:id="rId1075"/>
    <p:sldId id="1794" r:id="rId1095"/>
    <p:sldId id="1817" r:id="rId1115"/>
    <p:sldId id="1840" r:id="rId1135"/>
    <p:sldId id="1863" r:id="rId1155"/>
    <p:sldId id="1886" r:id="rId1175"/>
    <p:sldId id="1909" r:id="rId1195"/>
    <p:sldId id="1932" r:id="rId1215"/>
    <p:sldId id="1955" r:id="rId1235"/>
    <p:sldId id="1978" r:id="rId1255"/>
    <p:sldId id="2001" r:id="rId1275"/>
    <p:sldId id="2029" r:id="rId1298"/>
    <p:sldId id="2052" r:id="rId1318"/>
    <p:sldId id="2075" r:id="rId1338"/>
    <p:sldId id="2093" r:id="rId1349"/>
    <p:sldId id="2106" r:id="rId1359"/>
    <p:sldId id="2119" r:id="rId1369"/>
    <p:sldId id="2203" r:id="rId1427"/>
    <p:sldId id="2242" r:id="rId1460"/>
    <p:sldId id="2265" r:id="rId1479"/>
    <p:sldId id="2304" r:id="rId1512"/>
    <p:sldId id="2379" r:id="rId1557"/>
    <p:sldId id="2493" r:id="rId1639"/>
    <p:sldId id="2723" r:id="rId1809"/>
    <p:sldId id="2759" r:id="rId1832"/>
    <p:sldId id="2774" r:id="rId1843"/>
    <p:sldId id="2789" r:id="rId1859"/>
    <p:sldId id="2804" r:id="rId1875"/>
    <p:sldId id="2819" r:id="rId1891"/>
    <p:sldId id="2914" r:id="rId1965"/>
    <p:sldId id="3082" r:id="rId2083"/>
    <p:sldId id="3328" r:id="rId2260"/>
    <p:sldId id="3355" r:id="rId2280"/>
  </p:sldIdLst>
  <p:sldSz cx="18288000" cy="10287000"/>
  <p:notesSz cx="18288000" cy="10287000"/>
  <p:embeddedFontLst>
    <p:embeddedFont>
      <p:font typeface="Poppins SemiBold" pitchFamily="2" charset="77"/>
      <p:regular r:id="rId6"/>
    </p:embeddedFont>
    <p:embeddedFont>
      <p:font typeface="Roboto" pitchFamily="2" charset="77"/>
      <p:regular r:id="rId7"/>
      <p:bold r:id="rId8"/>
      <p: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3" /><Relationship Type="http://schemas.openxmlformats.org/officeDocument/2006/relationships/presProps" Target="presProps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5" /><Relationship Type="http://schemas.openxmlformats.org/officeDocument/2006/relationships/theme" Target="theme/theme1.xml" Id="rId4" /><Relationship Type="http://schemas.openxmlformats.org/officeDocument/2006/relationships/font" Target="/ppt/fonts/font.dat" Id="rId6" /><Relationship Type="http://schemas.openxmlformats.org/officeDocument/2006/relationships/font" Target="/ppt/fonts/font2.dat" Id="rId7" /><Relationship Type="http://schemas.openxmlformats.org/officeDocument/2006/relationships/font" Target="/ppt/fonts/font3.dat" Id="rId8" /><Relationship Type="http://schemas.openxmlformats.org/officeDocument/2006/relationships/font" Target="/ppt/fonts/font4.dat" Id="rId9" /><Relationship Type="http://schemas.openxmlformats.org/officeDocument/2006/relationships/slide" Target="/ppt/slides/slide1.xml" Id="rId10" /><Relationship Type="http://schemas.openxmlformats.org/officeDocument/2006/relationships/slide" Target="/ppt/slides/slide2.xml" Id="rId34" /><Relationship Type="http://schemas.openxmlformats.org/officeDocument/2006/relationships/slide" Target="/ppt/slides/slide3.xml" Id="rId57" /><Relationship Type="http://schemas.openxmlformats.org/officeDocument/2006/relationships/slide" Target="/ppt/slides/slide4.xml" Id="rId77" /><Relationship Type="http://schemas.openxmlformats.org/officeDocument/2006/relationships/slide" Target="/ppt/slides/slide5.xml" Id="rId95" /><Relationship Type="http://schemas.openxmlformats.org/officeDocument/2006/relationships/slide" Target="/ppt/slides/slide6.xml" Id="rId105" /><Relationship Type="http://schemas.openxmlformats.org/officeDocument/2006/relationships/slide" Target="/ppt/slides/slide7.xml" Id="rId125" /><Relationship Type="http://schemas.openxmlformats.org/officeDocument/2006/relationships/slide" Target="/ppt/slides/slide8.xml" Id="rId231" /><Relationship Type="http://schemas.openxmlformats.org/officeDocument/2006/relationships/slide" Target="/ppt/slides/slide9.xml" Id="rId251" /><Relationship Type="http://schemas.openxmlformats.org/officeDocument/2006/relationships/slide" Target="/ppt/slides/slide10.xml" Id="rId361" /><Relationship Type="http://schemas.openxmlformats.org/officeDocument/2006/relationships/slide" Target="/ppt/slides/slide11.xml" Id="rId383" /><Relationship Type="http://schemas.openxmlformats.org/officeDocument/2006/relationships/slide" Target="/ppt/slides/slide12.xml" Id="rId405" /><Relationship Type="http://schemas.openxmlformats.org/officeDocument/2006/relationships/slide" Target="/ppt/slides/slide13.xml" Id="rId428" /><Relationship Type="http://schemas.openxmlformats.org/officeDocument/2006/relationships/slide" Target="/ppt/slides/slide14.xml" Id="rId446" /><Relationship Type="http://schemas.openxmlformats.org/officeDocument/2006/relationships/slide" Target="/ppt/slides/slide15.xml" Id="rId464" /><Relationship Type="http://schemas.openxmlformats.org/officeDocument/2006/relationships/slide" Target="/ppt/slides/slide16.xml" Id="rId482" /><Relationship Type="http://schemas.openxmlformats.org/officeDocument/2006/relationships/slide" Target="/ppt/slides/slide17.xml" Id="rId514" /><Relationship Type="http://schemas.openxmlformats.org/officeDocument/2006/relationships/slide" Target="/ppt/slides/slide18.xml" Id="rId536" /><Relationship Type="http://schemas.openxmlformats.org/officeDocument/2006/relationships/slide" Target="/ppt/slides/slide19.xml" Id="rId558" /><Relationship Type="http://schemas.openxmlformats.org/officeDocument/2006/relationships/slide" Target="/ppt/slides/slide20.xml" Id="rId580" /><Relationship Type="http://schemas.openxmlformats.org/officeDocument/2006/relationships/slide" Target="/ppt/slides/slide21.xml" Id="rId602" /><Relationship Type="http://schemas.openxmlformats.org/officeDocument/2006/relationships/slide" Target="/ppt/slides/slide22.xml" Id="rId624" /><Relationship Type="http://schemas.openxmlformats.org/officeDocument/2006/relationships/slide" Target="/ppt/slides/slide23.xml" Id="rId646" /><Relationship Type="http://schemas.openxmlformats.org/officeDocument/2006/relationships/slide" Target="/ppt/slides/slide24.xml" Id="rId701" /><Relationship Type="http://schemas.openxmlformats.org/officeDocument/2006/relationships/slide" Target="/ppt/slides/slide25.xml" Id="rId723" /><Relationship Type="http://schemas.openxmlformats.org/officeDocument/2006/relationships/slide" Target="/ppt/slides/slide26.xml" Id="rId745" /><Relationship Type="http://schemas.openxmlformats.org/officeDocument/2006/relationships/slide" Target="/ppt/slides/slide27.xml" Id="rId767" /><Relationship Type="http://schemas.openxmlformats.org/officeDocument/2006/relationships/slide" Target="/ppt/slides/slide28.xml" Id="rId789" /><Relationship Type="http://schemas.openxmlformats.org/officeDocument/2006/relationships/slide" Target="/ppt/slides/slide29.xml" Id="rId811" /><Relationship Type="http://schemas.openxmlformats.org/officeDocument/2006/relationships/slide" Target="/ppt/slides/slide30.xml" Id="rId834" /><Relationship Type="http://schemas.openxmlformats.org/officeDocument/2006/relationships/slide" Target="/ppt/slides/slide31.xml" Id="rId854" /><Relationship Type="http://schemas.openxmlformats.org/officeDocument/2006/relationships/slide" Target="/ppt/slides/slide32.xml" Id="rId931" /><Relationship Type="http://schemas.openxmlformats.org/officeDocument/2006/relationships/slide" Target="/ppt/slides/slide33.xml" Id="rId951" /><Relationship Type="http://schemas.openxmlformats.org/officeDocument/2006/relationships/slide" Target="/ppt/slides/slide34.xml" Id="rId963" /><Relationship Type="http://schemas.openxmlformats.org/officeDocument/2006/relationships/slide" Target="/ppt/slides/slide35.xml" Id="rId983" /><Relationship Type="http://schemas.openxmlformats.org/officeDocument/2006/relationships/slide" Target="/ppt/slides/slide36.xml" Id="rId1005" /><Relationship Type="http://schemas.openxmlformats.org/officeDocument/2006/relationships/slide" Target="/ppt/slides/slide37.xml" Id="rId1017" /><Relationship Type="http://schemas.openxmlformats.org/officeDocument/2006/relationships/slide" Target="/ppt/slides/slide38.xml" Id="rId1029" /><Relationship Type="http://schemas.openxmlformats.org/officeDocument/2006/relationships/slide" Target="/ppt/slides/slide39.xml" Id="rId1041" /><Relationship Type="http://schemas.openxmlformats.org/officeDocument/2006/relationships/slide" Target="/ppt/slides/slide40.xml" Id="rId1055" /><Relationship Type="http://schemas.openxmlformats.org/officeDocument/2006/relationships/slide" Target="/ppt/slides/slide41.xml" Id="rId1075" /><Relationship Type="http://schemas.openxmlformats.org/officeDocument/2006/relationships/slide" Target="/ppt/slides/slide42.xml" Id="rId1095" /><Relationship Type="http://schemas.openxmlformats.org/officeDocument/2006/relationships/slide" Target="/ppt/slides/slide43.xml" Id="rId1115" /><Relationship Type="http://schemas.openxmlformats.org/officeDocument/2006/relationships/slide" Target="/ppt/slides/slide44.xml" Id="rId1135" /><Relationship Type="http://schemas.openxmlformats.org/officeDocument/2006/relationships/slide" Target="/ppt/slides/slide45.xml" Id="rId1155" /><Relationship Type="http://schemas.openxmlformats.org/officeDocument/2006/relationships/slide" Target="/ppt/slides/slide46.xml" Id="rId1175" /><Relationship Type="http://schemas.openxmlformats.org/officeDocument/2006/relationships/slide" Target="/ppt/slides/slide47.xml" Id="rId1195" /><Relationship Type="http://schemas.openxmlformats.org/officeDocument/2006/relationships/slide" Target="/ppt/slides/slide48.xml" Id="rId1215" /><Relationship Type="http://schemas.openxmlformats.org/officeDocument/2006/relationships/slide" Target="/ppt/slides/slide49.xml" Id="rId1235" /><Relationship Type="http://schemas.openxmlformats.org/officeDocument/2006/relationships/slide" Target="/ppt/slides/slide50.xml" Id="rId1255" /><Relationship Type="http://schemas.openxmlformats.org/officeDocument/2006/relationships/slide" Target="/ppt/slides/slide51.xml" Id="rId1275" /><Relationship Type="http://schemas.openxmlformats.org/officeDocument/2006/relationships/slide" Target="/ppt/slides/slide52.xml" Id="rId1298" /><Relationship Type="http://schemas.openxmlformats.org/officeDocument/2006/relationships/slide" Target="/ppt/slides/slide53.xml" Id="rId1318" /><Relationship Type="http://schemas.openxmlformats.org/officeDocument/2006/relationships/slide" Target="/ppt/slides/slide54.xml" Id="rId1338" /><Relationship Type="http://schemas.openxmlformats.org/officeDocument/2006/relationships/slide" Target="/ppt/slides/slide55.xml" Id="rId1349" /><Relationship Type="http://schemas.openxmlformats.org/officeDocument/2006/relationships/slide" Target="/ppt/slides/slide56.xml" Id="rId1359" /><Relationship Type="http://schemas.openxmlformats.org/officeDocument/2006/relationships/slide" Target="/ppt/slides/slide57.xml" Id="rId1369" /><Relationship Type="http://schemas.openxmlformats.org/officeDocument/2006/relationships/slide" Target="/ppt/slides/slide58.xml" Id="rId1427" /><Relationship Type="http://schemas.openxmlformats.org/officeDocument/2006/relationships/slide" Target="/ppt/slides/slide59.xml" Id="rId1460" /><Relationship Type="http://schemas.openxmlformats.org/officeDocument/2006/relationships/slide" Target="/ppt/slides/slide60.xml" Id="rId1479" /><Relationship Type="http://schemas.openxmlformats.org/officeDocument/2006/relationships/slide" Target="/ppt/slides/slide61.xml" Id="rId1512" /><Relationship Type="http://schemas.openxmlformats.org/officeDocument/2006/relationships/slide" Target="/ppt/slides/slide62.xml" Id="rId1557" /><Relationship Type="http://schemas.openxmlformats.org/officeDocument/2006/relationships/slide" Target="/ppt/slides/slide63.xml" Id="rId1639" /><Relationship Type="http://schemas.openxmlformats.org/officeDocument/2006/relationships/slide" Target="/ppt/slides/slide64.xml" Id="rId1809" /><Relationship Type="http://schemas.openxmlformats.org/officeDocument/2006/relationships/slide" Target="/ppt/slides/slide65.xml" Id="rId1832" /><Relationship Type="http://schemas.openxmlformats.org/officeDocument/2006/relationships/slide" Target="/ppt/slides/slide66.xml" Id="rId1843" /><Relationship Type="http://schemas.openxmlformats.org/officeDocument/2006/relationships/slide" Target="/ppt/slides/slide67.xml" Id="rId1859" /><Relationship Type="http://schemas.openxmlformats.org/officeDocument/2006/relationships/slide" Target="/ppt/slides/slide68.xml" Id="rId1875" /><Relationship Type="http://schemas.openxmlformats.org/officeDocument/2006/relationships/slide" Target="/ppt/slides/slide69.xml" Id="rId1891" /><Relationship Type="http://schemas.openxmlformats.org/officeDocument/2006/relationships/slide" Target="/ppt/slides/slide70.xml" Id="rId1965" /><Relationship Type="http://schemas.openxmlformats.org/officeDocument/2006/relationships/slide" Target="/ppt/slides/slide71.xml" Id="rId2083" /><Relationship Type="http://schemas.openxmlformats.org/officeDocument/2006/relationships/slide" Target="/ppt/slides/slide72.xml" Id="rId2260" /><Relationship Type="http://schemas.openxmlformats.org/officeDocument/2006/relationships/slide" Target="/ppt/slides/slide73.xml" Id="rId2280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1" /><Relationship Type="http://schemas.openxmlformats.org/officeDocument/2006/relationships/image" Target="/ppt/media/image.bin" Id="rId13" /><Relationship Type="http://schemas.openxmlformats.org/officeDocument/2006/relationships/image" Target="/ppt/media/image2.bin" Id="rId15" /><Relationship Type="http://schemas.openxmlformats.org/officeDocument/2006/relationships/image" Target="/ppt/media/image3.bin" Id="rId17" /><Relationship Type="http://schemas.openxmlformats.org/officeDocument/2006/relationships/image" Target="/ppt/media/image4.bin" Id="rId19" /><Relationship Type="http://schemas.openxmlformats.org/officeDocument/2006/relationships/image" Target="/ppt/media/image5.bin" Id="rId21" /><Relationship Type="http://schemas.openxmlformats.org/officeDocument/2006/relationships/image" Target="/ppt/media/image6.bin" Id="rId23" /><Relationship Type="http://schemas.openxmlformats.org/officeDocument/2006/relationships/image" Target="/ppt/media/image7.bin" Id="rId25" /><Relationship Type="http://schemas.openxmlformats.org/officeDocument/2006/relationships/image" Target="/ppt/media/image8.bin" Id="rId27" /><Relationship Type="http://schemas.openxmlformats.org/officeDocument/2006/relationships/image" Target="/ppt/media/image9.bin" Id="rId29" /><Relationship Type="http://schemas.openxmlformats.org/officeDocument/2006/relationships/image" Target="/ppt/media/image10.bin" Id="rId31" /><Relationship Type="http://schemas.openxmlformats.org/officeDocument/2006/relationships/image" Target="/ppt/media/image11.bin" Id="rId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5" /><Relationship Type="http://schemas.openxmlformats.org/officeDocument/2006/relationships/image" Target="/ppt/media/image12.bin" Id="rId37" /><Relationship Type="http://schemas.openxmlformats.org/officeDocument/2006/relationships/image" Target="/ppt/media/image13.bin" Id="rId39" /><Relationship Type="http://schemas.openxmlformats.org/officeDocument/2006/relationships/image" Target="/ppt/media/image14.bin" Id="rId41" /><Relationship Type="http://schemas.openxmlformats.org/officeDocument/2006/relationships/image" Target="/ppt/media/image15.bin" Id="rId43" /><Relationship Type="http://schemas.openxmlformats.org/officeDocument/2006/relationships/image" Target="/ppt/media/image16.bin" Id="rId45" /><Relationship Type="http://schemas.openxmlformats.org/officeDocument/2006/relationships/image" Target="/ppt/media/image17.bin" Id="rId46" /><Relationship Type="http://schemas.openxmlformats.org/officeDocument/2006/relationships/image" Target="/ppt/media/image18.bin" Id="rId48" /><Relationship Type="http://schemas.openxmlformats.org/officeDocument/2006/relationships/image" Target="/ppt/media/image19.bin" Id="rId50" /><Relationship Type="http://schemas.openxmlformats.org/officeDocument/2006/relationships/image" Target="/ppt/media/image20.bin" Id="rId51" /><Relationship Type="http://schemas.openxmlformats.org/officeDocument/2006/relationships/image" Target="/ppt/media/image21.bin" Id="rId53" /><Relationship Type="http://schemas.openxmlformats.org/officeDocument/2006/relationships/image" Target="/ppt/media/image22.bin" Id="rId55" /><Relationship Type="http://schemas.openxmlformats.org/officeDocument/2006/relationships/image" Target="/ppt/media/image23.bin" Id="rId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8" /><Relationship Type="http://schemas.openxmlformats.org/officeDocument/2006/relationships/image" Target="/ppt/media/image24.bin" Id="rId60" /><Relationship Type="http://schemas.openxmlformats.org/officeDocument/2006/relationships/image" Target="/ppt/media/image25.bin" Id="rId62" /><Relationship Type="http://schemas.openxmlformats.org/officeDocument/2006/relationships/image" Target="/ppt/media/image26.bin" Id="rId64" /><Relationship Type="http://schemas.openxmlformats.org/officeDocument/2006/relationships/image" Target="/ppt/media/image27.bin" Id="rId66" /><Relationship Type="http://schemas.openxmlformats.org/officeDocument/2006/relationships/image" Target="/ppt/media/image28.bin" Id="rId68" /><Relationship Type="http://schemas.openxmlformats.org/officeDocument/2006/relationships/image" Target="/ppt/media/image29.bin" Id="rId70" /><Relationship Type="http://schemas.openxmlformats.org/officeDocument/2006/relationships/image" Target="/ppt/media/image30.bin" Id="rId72" /><Relationship Type="http://schemas.openxmlformats.org/officeDocument/2006/relationships/image" Target="/ppt/media/image31.bin" Id="rId74" /><Relationship Type="http://schemas.openxmlformats.org/officeDocument/2006/relationships/image" Target="/ppt/media/image32.bin" Id="rId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8" /><Relationship Type="http://schemas.openxmlformats.org/officeDocument/2006/relationships/image" Target="/ppt/media/image33.bin" Id="rId80" /><Relationship Type="http://schemas.openxmlformats.org/officeDocument/2006/relationships/image" Target="/ppt/media/image34.bin" Id="rId82" /><Relationship Type="http://schemas.openxmlformats.org/officeDocument/2006/relationships/image" Target="/ppt/media/image35.bin" Id="rId84" /><Relationship Type="http://schemas.openxmlformats.org/officeDocument/2006/relationships/image" Target="/ppt/media/image36.bin" Id="rId86" /><Relationship Type="http://schemas.openxmlformats.org/officeDocument/2006/relationships/image" Target="/ppt/media/image37.bin" Id="rId88" /><Relationship Type="http://schemas.openxmlformats.org/officeDocument/2006/relationships/image" Target="/ppt/media/image38.bin" Id="rId90" /><Relationship Type="http://schemas.openxmlformats.org/officeDocument/2006/relationships/image" Target="/ppt/media/image39.bin" Id="rId92" /><Relationship Type="http://schemas.openxmlformats.org/officeDocument/2006/relationships/image" Target="/ppt/media/image40.bin" Id="rId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96" /><Relationship Type="http://schemas.openxmlformats.org/officeDocument/2006/relationships/image" Target="/ppt/media/image41.bin" Id="rId98" /><Relationship Type="http://schemas.openxmlformats.org/officeDocument/2006/relationships/image" Target="/ppt/media/image42.bin" Id="rId100" /><Relationship Type="http://schemas.openxmlformats.org/officeDocument/2006/relationships/image" Target="/ppt/media/image43.bin" Id="rId102" /><Relationship Type="http://schemas.openxmlformats.org/officeDocument/2006/relationships/image" Target="/ppt/media/image44.bin" Id="rId1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6" /><Relationship Type="http://schemas.openxmlformats.org/officeDocument/2006/relationships/image" Target="/ppt/media/image45.bin" Id="rId108" /><Relationship Type="http://schemas.openxmlformats.org/officeDocument/2006/relationships/image" Target="/ppt/media/image46.bin" Id="rId110" /><Relationship Type="http://schemas.openxmlformats.org/officeDocument/2006/relationships/image" Target="/ppt/media/image47.bin" Id="rId112" /><Relationship Type="http://schemas.openxmlformats.org/officeDocument/2006/relationships/image" Target="/ppt/media/image48.bin" Id="rId114" /><Relationship Type="http://schemas.openxmlformats.org/officeDocument/2006/relationships/image" Target="/ppt/media/image49.bin" Id="rId116" /><Relationship Type="http://schemas.openxmlformats.org/officeDocument/2006/relationships/image" Target="/ppt/media/image50.bin" Id="rId118" /><Relationship Type="http://schemas.openxmlformats.org/officeDocument/2006/relationships/image" Target="/ppt/media/image51.bin" Id="rId120" /><Relationship Type="http://schemas.openxmlformats.org/officeDocument/2006/relationships/image" Target="/ppt/media/image52.bin" Id="rId122" /><Relationship Type="http://schemas.openxmlformats.org/officeDocument/2006/relationships/image" Target="/ppt/media/image53.bin" Id="rId1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26" /><Relationship Type="http://schemas.openxmlformats.org/officeDocument/2006/relationships/image" Target="/ppt/media/image54.bin" Id="rId128" /><Relationship Type="http://schemas.openxmlformats.org/officeDocument/2006/relationships/image" Target="/ppt/media/image55.bin" Id="rId130" /><Relationship Type="http://schemas.openxmlformats.org/officeDocument/2006/relationships/image" Target="/ppt/media/image56.bin" Id="rId132" /><Relationship Type="http://schemas.openxmlformats.org/officeDocument/2006/relationships/image" Target="/ppt/media/image57.bin" Id="rId134" /><Relationship Type="http://schemas.openxmlformats.org/officeDocument/2006/relationships/image" Target="/ppt/media/image58.bin" Id="rId136" /><Relationship Type="http://schemas.openxmlformats.org/officeDocument/2006/relationships/image" Target="/ppt/media/image59.bin" Id="rId138" /><Relationship Type="http://schemas.openxmlformats.org/officeDocument/2006/relationships/image" Target="/ppt/media/image60.bin" Id="rId140" /><Relationship Type="http://schemas.openxmlformats.org/officeDocument/2006/relationships/image" Target="/ppt/media/image61.bin" Id="rId142" /><Relationship Type="http://schemas.openxmlformats.org/officeDocument/2006/relationships/image" Target="/ppt/media/image62.bin" Id="rId144" /><Relationship Type="http://schemas.openxmlformats.org/officeDocument/2006/relationships/image" Target="/ppt/media/image63.bin" Id="rId146" /><Relationship Type="http://schemas.openxmlformats.org/officeDocument/2006/relationships/image" Target="/ppt/media/image64.bin" Id="rId148" /><Relationship Type="http://schemas.openxmlformats.org/officeDocument/2006/relationships/image" Target="/ppt/media/image65.bin" Id="rId150" /><Relationship Type="http://schemas.openxmlformats.org/officeDocument/2006/relationships/image" Target="/ppt/media/image66.bin" Id="rId152" /><Relationship Type="http://schemas.openxmlformats.org/officeDocument/2006/relationships/image" Target="/ppt/media/image67.bin" Id="rId154" /><Relationship Type="http://schemas.openxmlformats.org/officeDocument/2006/relationships/image" Target="/ppt/media/image68.bin" Id="rId156" /><Relationship Type="http://schemas.openxmlformats.org/officeDocument/2006/relationships/image" Target="/ppt/media/image69.bin" Id="rId158" /><Relationship Type="http://schemas.openxmlformats.org/officeDocument/2006/relationships/image" Target="/ppt/media/image70.bin" Id="rId160" /><Relationship Type="http://schemas.openxmlformats.org/officeDocument/2006/relationships/image" Target="/ppt/media/image71.bin" Id="rId162" /><Relationship Type="http://schemas.openxmlformats.org/officeDocument/2006/relationships/image" Target="/ppt/media/image72.bin" Id="rId164" /><Relationship Type="http://schemas.openxmlformats.org/officeDocument/2006/relationships/image" Target="/ppt/media/image73.bin" Id="rId166" /><Relationship Type="http://schemas.openxmlformats.org/officeDocument/2006/relationships/image" Target="/ppt/media/image74.bin" Id="rId168" /><Relationship Type="http://schemas.openxmlformats.org/officeDocument/2006/relationships/image" Target="/ppt/media/image75.bin" Id="rId170" /><Relationship Type="http://schemas.openxmlformats.org/officeDocument/2006/relationships/image" Target="/ppt/media/image76.bin" Id="rId172" /><Relationship Type="http://schemas.openxmlformats.org/officeDocument/2006/relationships/image" Target="/ppt/media/image77.bin" Id="rId174" /><Relationship Type="http://schemas.openxmlformats.org/officeDocument/2006/relationships/image" Target="/ppt/media/image78.bin" Id="rId176" /><Relationship Type="http://schemas.openxmlformats.org/officeDocument/2006/relationships/image" Target="/ppt/media/image79.bin" Id="rId178" /><Relationship Type="http://schemas.openxmlformats.org/officeDocument/2006/relationships/image" Target="/ppt/media/image80.bin" Id="rId180" /><Relationship Type="http://schemas.openxmlformats.org/officeDocument/2006/relationships/image" Target="/ppt/media/image81.bin" Id="rId182" /><Relationship Type="http://schemas.openxmlformats.org/officeDocument/2006/relationships/image" Target="/ppt/media/image82.bin" Id="rId184" /><Relationship Type="http://schemas.openxmlformats.org/officeDocument/2006/relationships/image" Target="/ppt/media/image83.bin" Id="rId186" /><Relationship Type="http://schemas.openxmlformats.org/officeDocument/2006/relationships/image" Target="/ppt/media/image84.bin" Id="rId188" /><Relationship Type="http://schemas.openxmlformats.org/officeDocument/2006/relationships/image" Target="/ppt/media/image85.bin" Id="rId190" /><Relationship Type="http://schemas.openxmlformats.org/officeDocument/2006/relationships/image" Target="/ppt/media/image86.bin" Id="rId192" /><Relationship Type="http://schemas.openxmlformats.org/officeDocument/2006/relationships/image" Target="/ppt/media/image87.bin" Id="rId194" /><Relationship Type="http://schemas.openxmlformats.org/officeDocument/2006/relationships/image" Target="/ppt/media/image88.bin" Id="rId196" /><Relationship Type="http://schemas.openxmlformats.org/officeDocument/2006/relationships/image" Target="/ppt/media/image89.bin" Id="rId198" /><Relationship Type="http://schemas.openxmlformats.org/officeDocument/2006/relationships/image" Target="/ppt/media/image90.bin" Id="rId200" /><Relationship Type="http://schemas.openxmlformats.org/officeDocument/2006/relationships/image" Target="/ppt/media/image91.bin" Id="rId202" /><Relationship Type="http://schemas.openxmlformats.org/officeDocument/2006/relationships/image" Target="/ppt/media/image92.bin" Id="rId204" /><Relationship Type="http://schemas.openxmlformats.org/officeDocument/2006/relationships/image" Target="/ppt/media/image93.bin" Id="rId206" /><Relationship Type="http://schemas.openxmlformats.org/officeDocument/2006/relationships/image" Target="/ppt/media/image94.bin" Id="rId208" /><Relationship Type="http://schemas.openxmlformats.org/officeDocument/2006/relationships/image" Target="/ppt/media/image95.bin" Id="rId210" /><Relationship Type="http://schemas.openxmlformats.org/officeDocument/2006/relationships/image" Target="/ppt/media/image96.bin" Id="rId212" /><Relationship Type="http://schemas.openxmlformats.org/officeDocument/2006/relationships/image" Target="/ppt/media/image97.bin" Id="rId214" /><Relationship Type="http://schemas.openxmlformats.org/officeDocument/2006/relationships/image" Target="/ppt/media/image98.bin" Id="rId216" /><Relationship Type="http://schemas.openxmlformats.org/officeDocument/2006/relationships/image" Target="/ppt/media/image99.bin" Id="rId218" /><Relationship Type="http://schemas.openxmlformats.org/officeDocument/2006/relationships/image" Target="/ppt/media/image100.bin" Id="rId220" /><Relationship Type="http://schemas.openxmlformats.org/officeDocument/2006/relationships/image" Target="/ppt/media/image101.bin" Id="rId222" /><Relationship Type="http://schemas.openxmlformats.org/officeDocument/2006/relationships/image" Target="/ppt/media/image102.bin" Id="rId224" /><Relationship Type="http://schemas.openxmlformats.org/officeDocument/2006/relationships/image" Target="/ppt/media/image103.bin" Id="rId226" /><Relationship Type="http://schemas.openxmlformats.org/officeDocument/2006/relationships/image" Target="/ppt/media/image104.bin" Id="rId228" /><Relationship Type="http://schemas.openxmlformats.org/officeDocument/2006/relationships/image" Target="/ppt/media/image105.bin" Id="rId2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32" /><Relationship Type="http://schemas.openxmlformats.org/officeDocument/2006/relationships/image" Target="/ppt/media/image106.bin" Id="rId234" /><Relationship Type="http://schemas.openxmlformats.org/officeDocument/2006/relationships/image" Target="/ppt/media/image107.bin" Id="rId236" /><Relationship Type="http://schemas.openxmlformats.org/officeDocument/2006/relationships/image" Target="/ppt/media/image108.bin" Id="rId238" /><Relationship Type="http://schemas.openxmlformats.org/officeDocument/2006/relationships/image" Target="/ppt/media/image109.bin" Id="rId240" /><Relationship Type="http://schemas.openxmlformats.org/officeDocument/2006/relationships/image" Target="/ppt/media/image110.bin" Id="rId242" /><Relationship Type="http://schemas.openxmlformats.org/officeDocument/2006/relationships/image" Target="/ppt/media/image111.bin" Id="rId244" /><Relationship Type="http://schemas.openxmlformats.org/officeDocument/2006/relationships/image" Target="/ppt/media/image112.bin" Id="rId246" /><Relationship Type="http://schemas.openxmlformats.org/officeDocument/2006/relationships/image" Target="/ppt/media/image113.bin" Id="rId248" /><Relationship Type="http://schemas.openxmlformats.org/officeDocument/2006/relationships/image" Target="/ppt/media/image114.bin" Id="rId2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52" /><Relationship Type="http://schemas.openxmlformats.org/officeDocument/2006/relationships/image" Target="/ppt/media/image115.bin" Id="rId254" /><Relationship Type="http://schemas.openxmlformats.org/officeDocument/2006/relationships/image" Target="/ppt/media/image116.bin" Id="rId256" /><Relationship Type="http://schemas.openxmlformats.org/officeDocument/2006/relationships/image" Target="/ppt/media/image117.bin" Id="rId258" /><Relationship Type="http://schemas.openxmlformats.org/officeDocument/2006/relationships/image" Target="/ppt/media/image118.bin" Id="rId260" /><Relationship Type="http://schemas.openxmlformats.org/officeDocument/2006/relationships/image" Target="/ppt/media/image119.bin" Id="rId262" /><Relationship Type="http://schemas.openxmlformats.org/officeDocument/2006/relationships/image" Target="/ppt/media/image120.bin" Id="rId264" /><Relationship Type="http://schemas.openxmlformats.org/officeDocument/2006/relationships/image" Target="/ppt/media/image121.bin" Id="rId266" /><Relationship Type="http://schemas.openxmlformats.org/officeDocument/2006/relationships/image" Target="/ppt/media/image122.bin" Id="rId268" /><Relationship Type="http://schemas.openxmlformats.org/officeDocument/2006/relationships/image" Target="/ppt/media/image123.bin" Id="rId270" /><Relationship Type="http://schemas.openxmlformats.org/officeDocument/2006/relationships/image" Target="/ppt/media/image124.bin" Id="rId272" /><Relationship Type="http://schemas.openxmlformats.org/officeDocument/2006/relationships/image" Target="/ppt/media/image125.bin" Id="rId274" /><Relationship Type="http://schemas.openxmlformats.org/officeDocument/2006/relationships/image" Target="/ppt/media/image126.bin" Id="rId276" /><Relationship Type="http://schemas.openxmlformats.org/officeDocument/2006/relationships/image" Target="/ppt/media/image127.bin" Id="rId278" /><Relationship Type="http://schemas.openxmlformats.org/officeDocument/2006/relationships/image" Target="/ppt/media/image128.bin" Id="rId280" /><Relationship Type="http://schemas.openxmlformats.org/officeDocument/2006/relationships/image" Target="/ppt/media/image129.bin" Id="rId282" /><Relationship Type="http://schemas.openxmlformats.org/officeDocument/2006/relationships/image" Target="/ppt/media/image130.bin" Id="rId284" /><Relationship Type="http://schemas.openxmlformats.org/officeDocument/2006/relationships/image" Target="/ppt/media/image131.bin" Id="rId286" /><Relationship Type="http://schemas.openxmlformats.org/officeDocument/2006/relationships/image" Target="/ppt/media/image132.bin" Id="rId288" /><Relationship Type="http://schemas.openxmlformats.org/officeDocument/2006/relationships/image" Target="/ppt/media/image133.bin" Id="rId290" /><Relationship Type="http://schemas.openxmlformats.org/officeDocument/2006/relationships/image" Target="/ppt/media/image134.bin" Id="rId292" /><Relationship Type="http://schemas.openxmlformats.org/officeDocument/2006/relationships/image" Target="/ppt/media/image135.bin" Id="rId294" /><Relationship Type="http://schemas.openxmlformats.org/officeDocument/2006/relationships/image" Target="/ppt/media/image136.bin" Id="rId296" /><Relationship Type="http://schemas.openxmlformats.org/officeDocument/2006/relationships/image" Target="/ppt/media/image137.bin" Id="rId298" /><Relationship Type="http://schemas.openxmlformats.org/officeDocument/2006/relationships/image" Target="/ppt/media/image138.bin" Id="rId300" /><Relationship Type="http://schemas.openxmlformats.org/officeDocument/2006/relationships/image" Target="/ppt/media/image139.bin" Id="rId302" /><Relationship Type="http://schemas.openxmlformats.org/officeDocument/2006/relationships/image" Target="/ppt/media/image140.bin" Id="rId304" /><Relationship Type="http://schemas.openxmlformats.org/officeDocument/2006/relationships/image" Target="/ppt/media/image141.bin" Id="rId306" /><Relationship Type="http://schemas.openxmlformats.org/officeDocument/2006/relationships/image" Target="/ppt/media/image142.bin" Id="rId308" /><Relationship Type="http://schemas.openxmlformats.org/officeDocument/2006/relationships/image" Target="/ppt/media/image143.bin" Id="rId310" /><Relationship Type="http://schemas.openxmlformats.org/officeDocument/2006/relationships/image" Target="/ppt/media/image144.bin" Id="rId312" /><Relationship Type="http://schemas.openxmlformats.org/officeDocument/2006/relationships/image" Target="/ppt/media/image145.bin" Id="rId314" /><Relationship Type="http://schemas.openxmlformats.org/officeDocument/2006/relationships/image" Target="/ppt/media/image146.bin" Id="rId316" /><Relationship Type="http://schemas.openxmlformats.org/officeDocument/2006/relationships/image" Target="/ppt/media/image147.bin" Id="rId318" /><Relationship Type="http://schemas.openxmlformats.org/officeDocument/2006/relationships/image" Target="/ppt/media/image148.bin" Id="rId320" /><Relationship Type="http://schemas.openxmlformats.org/officeDocument/2006/relationships/image" Target="/ppt/media/image149.bin" Id="rId322" /><Relationship Type="http://schemas.openxmlformats.org/officeDocument/2006/relationships/image" Target="/ppt/media/image150.bin" Id="rId324" /><Relationship Type="http://schemas.openxmlformats.org/officeDocument/2006/relationships/image" Target="/ppt/media/image151.bin" Id="rId326" /><Relationship Type="http://schemas.openxmlformats.org/officeDocument/2006/relationships/image" Target="/ppt/media/image152.bin" Id="rId328" /><Relationship Type="http://schemas.openxmlformats.org/officeDocument/2006/relationships/image" Target="/ppt/media/image153.bin" Id="rId330" /><Relationship Type="http://schemas.openxmlformats.org/officeDocument/2006/relationships/image" Target="/ppt/media/image154.bin" Id="rId332" /><Relationship Type="http://schemas.openxmlformats.org/officeDocument/2006/relationships/image" Target="/ppt/media/image155.bin" Id="rId334" /><Relationship Type="http://schemas.openxmlformats.org/officeDocument/2006/relationships/image" Target="/ppt/media/image156.bin" Id="rId336" /><Relationship Type="http://schemas.openxmlformats.org/officeDocument/2006/relationships/image" Target="/ppt/media/image157.bin" Id="rId338" /><Relationship Type="http://schemas.openxmlformats.org/officeDocument/2006/relationships/image" Target="/ppt/media/image158.bin" Id="rId340" /><Relationship Type="http://schemas.openxmlformats.org/officeDocument/2006/relationships/image" Target="/ppt/media/image159.bin" Id="rId342" /><Relationship Type="http://schemas.openxmlformats.org/officeDocument/2006/relationships/image" Target="/ppt/media/image160.bin" Id="rId344" /><Relationship Type="http://schemas.openxmlformats.org/officeDocument/2006/relationships/image" Target="/ppt/media/image161.bin" Id="rId346" /><Relationship Type="http://schemas.openxmlformats.org/officeDocument/2006/relationships/image" Target="/ppt/media/image162.bin" Id="rId348" /><Relationship Type="http://schemas.openxmlformats.org/officeDocument/2006/relationships/image" Target="/ppt/media/image163.bin" Id="rId350" /><Relationship Type="http://schemas.openxmlformats.org/officeDocument/2006/relationships/image" Target="/ppt/media/image164.bin" Id="rId352" /><Relationship Type="http://schemas.openxmlformats.org/officeDocument/2006/relationships/image" Target="/ppt/media/image165.bin" Id="rId354" /><Relationship Type="http://schemas.openxmlformats.org/officeDocument/2006/relationships/image" Target="/ppt/media/image166.bin" Id="rId356" /><Relationship Type="http://schemas.openxmlformats.org/officeDocument/2006/relationships/image" Target="/ppt/media/image167.bin" Id="rId358" /><Relationship Type="http://schemas.openxmlformats.org/officeDocument/2006/relationships/image" Target="/ppt/media/image168.bin" Id="rId3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62" /><Relationship Type="http://schemas.openxmlformats.org/officeDocument/2006/relationships/image" Target="/ppt/media/image169.bin" Id="rId364" /><Relationship Type="http://schemas.openxmlformats.org/officeDocument/2006/relationships/image" Target="/ppt/media/image170.bin" Id="rId366" /><Relationship Type="http://schemas.openxmlformats.org/officeDocument/2006/relationships/image" Target="/ppt/media/image171.bin" Id="rId368" /><Relationship Type="http://schemas.openxmlformats.org/officeDocument/2006/relationships/image" Target="/ppt/media/image172.bin" Id="rId370" /><Relationship Type="http://schemas.openxmlformats.org/officeDocument/2006/relationships/image" Target="/ppt/media/image173.bin" Id="rId372" /><Relationship Type="http://schemas.openxmlformats.org/officeDocument/2006/relationships/image" Target="/ppt/media/image174.bin" Id="rId374" /><Relationship Type="http://schemas.openxmlformats.org/officeDocument/2006/relationships/image" Target="/ppt/media/image175.bin" Id="rId376" /><Relationship Type="http://schemas.openxmlformats.org/officeDocument/2006/relationships/image" Target="/ppt/media/image176.bin" Id="rId378" /><Relationship Type="http://schemas.openxmlformats.org/officeDocument/2006/relationships/image" Target="/ppt/media/image177.bin" Id="rId380" /><Relationship Type="http://schemas.openxmlformats.org/officeDocument/2006/relationships/image" Target="/ppt/media/image178.bin" Id="rId3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84" /><Relationship Type="http://schemas.openxmlformats.org/officeDocument/2006/relationships/image" Target="/ppt/media/image179.bin" Id="rId386" /><Relationship Type="http://schemas.openxmlformats.org/officeDocument/2006/relationships/image" Target="/ppt/media/image180.bin" Id="rId388" /><Relationship Type="http://schemas.openxmlformats.org/officeDocument/2006/relationships/image" Target="/ppt/media/image181.bin" Id="rId390" /><Relationship Type="http://schemas.openxmlformats.org/officeDocument/2006/relationships/image" Target="/ppt/media/image182.bin" Id="rId392" /><Relationship Type="http://schemas.openxmlformats.org/officeDocument/2006/relationships/image" Target="/ppt/media/image183.bin" Id="rId394" /><Relationship Type="http://schemas.openxmlformats.org/officeDocument/2006/relationships/image" Target="/ppt/media/image184.bin" Id="rId396" /><Relationship Type="http://schemas.openxmlformats.org/officeDocument/2006/relationships/image" Target="/ppt/media/image185.bin" Id="rId398" /><Relationship Type="http://schemas.openxmlformats.org/officeDocument/2006/relationships/image" Target="/ppt/media/image186.bin" Id="rId400" /><Relationship Type="http://schemas.openxmlformats.org/officeDocument/2006/relationships/image" Target="/ppt/media/image187.bin" Id="rId402" /><Relationship Type="http://schemas.openxmlformats.org/officeDocument/2006/relationships/image" Target="/ppt/media/image188.bin" Id="rId4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406" /><Relationship Type="http://schemas.openxmlformats.org/officeDocument/2006/relationships/image" Target="/ppt/media/image189.bin" Id="rId408" /><Relationship Type="http://schemas.openxmlformats.org/officeDocument/2006/relationships/image" Target="/ppt/media/image190.bin" Id="rId410" /><Relationship Type="http://schemas.openxmlformats.org/officeDocument/2006/relationships/image" Target="/ppt/media/image191.bin" Id="rId412" /><Relationship Type="http://schemas.openxmlformats.org/officeDocument/2006/relationships/image" Target="/ppt/media/image192.bin" Id="rId414" /><Relationship Type="http://schemas.openxmlformats.org/officeDocument/2006/relationships/image" Target="/ppt/media/image193.bin" Id="rId416" /><Relationship Type="http://schemas.openxmlformats.org/officeDocument/2006/relationships/image" Target="/ppt/media/image194.bin" Id="rId417" /><Relationship Type="http://schemas.openxmlformats.org/officeDocument/2006/relationships/image" Target="/ppt/media/image195.bin" Id="rId419" /><Relationship Type="http://schemas.openxmlformats.org/officeDocument/2006/relationships/image" Target="/ppt/media/image196.bin" Id="rId421" /><Relationship Type="http://schemas.openxmlformats.org/officeDocument/2006/relationships/image" Target="/ppt/media/image197.bin" Id="rId422" /><Relationship Type="http://schemas.openxmlformats.org/officeDocument/2006/relationships/image" Target="/ppt/media/image198.bin" Id="rId424" /><Relationship Type="http://schemas.openxmlformats.org/officeDocument/2006/relationships/image" Target="/ppt/media/image199.bin" Id="rId426" /><Relationship Type="http://schemas.openxmlformats.org/officeDocument/2006/relationships/image" Target="/ppt/media/image200.bin" Id="rId4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429" /><Relationship Type="http://schemas.openxmlformats.org/officeDocument/2006/relationships/image" Target="/ppt/media/image201.bin" Id="rId431" /><Relationship Type="http://schemas.openxmlformats.org/officeDocument/2006/relationships/image" Target="/ppt/media/image202.bin" Id="rId433" /><Relationship Type="http://schemas.openxmlformats.org/officeDocument/2006/relationships/image" Target="/ppt/media/image203.bin" Id="rId435" /><Relationship Type="http://schemas.openxmlformats.org/officeDocument/2006/relationships/image" Target="/ppt/media/image204.bin" Id="rId437" /><Relationship Type="http://schemas.openxmlformats.org/officeDocument/2006/relationships/image" Target="/ppt/media/image205.bin" Id="rId439" /><Relationship Type="http://schemas.openxmlformats.org/officeDocument/2006/relationships/image" Target="/ppt/media/image206.bin" Id="rId441" /><Relationship Type="http://schemas.openxmlformats.org/officeDocument/2006/relationships/image" Target="/ppt/media/image207.bin" Id="rId443" /><Relationship Type="http://schemas.openxmlformats.org/officeDocument/2006/relationships/image" Target="/ppt/media/image208.bin" Id="rId4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447" /><Relationship Type="http://schemas.openxmlformats.org/officeDocument/2006/relationships/image" Target="/ppt/media/image209.bin" Id="rId449" /><Relationship Type="http://schemas.openxmlformats.org/officeDocument/2006/relationships/image" Target="/ppt/media/image210.bin" Id="rId451" /><Relationship Type="http://schemas.openxmlformats.org/officeDocument/2006/relationships/image" Target="/ppt/media/image211.bin" Id="rId453" /><Relationship Type="http://schemas.openxmlformats.org/officeDocument/2006/relationships/image" Target="/ppt/media/image212.bin" Id="rId455" /><Relationship Type="http://schemas.openxmlformats.org/officeDocument/2006/relationships/image" Target="/ppt/media/image213.bin" Id="rId457" /><Relationship Type="http://schemas.openxmlformats.org/officeDocument/2006/relationships/image" Target="/ppt/media/image214.bin" Id="rId459" /><Relationship Type="http://schemas.openxmlformats.org/officeDocument/2006/relationships/image" Target="/ppt/media/image215.bin" Id="rId461" /><Relationship Type="http://schemas.openxmlformats.org/officeDocument/2006/relationships/image" Target="/ppt/media/image216.bin" Id="rId4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465" /><Relationship Type="http://schemas.openxmlformats.org/officeDocument/2006/relationships/image" Target="/ppt/media/image217.bin" Id="rId467" /><Relationship Type="http://schemas.openxmlformats.org/officeDocument/2006/relationships/image" Target="/ppt/media/image218.bin" Id="rId469" /><Relationship Type="http://schemas.openxmlformats.org/officeDocument/2006/relationships/image" Target="/ppt/media/image219.bin" Id="rId471" /><Relationship Type="http://schemas.openxmlformats.org/officeDocument/2006/relationships/image" Target="/ppt/media/image220.bin" Id="rId473" /><Relationship Type="http://schemas.openxmlformats.org/officeDocument/2006/relationships/image" Target="/ppt/media/image221.bin" Id="rId475" /><Relationship Type="http://schemas.openxmlformats.org/officeDocument/2006/relationships/image" Target="/ppt/media/image222.bin" Id="rId477" /><Relationship Type="http://schemas.openxmlformats.org/officeDocument/2006/relationships/image" Target="/ppt/media/image223.bin" Id="rId479" /><Relationship Type="http://schemas.openxmlformats.org/officeDocument/2006/relationships/image" Target="/ppt/media/image224.bin" Id="rId4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483" /><Relationship Type="http://schemas.openxmlformats.org/officeDocument/2006/relationships/image" Target="/ppt/media/image225.bin" Id="rId485" /><Relationship Type="http://schemas.openxmlformats.org/officeDocument/2006/relationships/image" Target="/ppt/media/image226.bin" Id="rId487" /><Relationship Type="http://schemas.openxmlformats.org/officeDocument/2006/relationships/image" Target="/ppt/media/image227.bin" Id="rId489" /><Relationship Type="http://schemas.openxmlformats.org/officeDocument/2006/relationships/image" Target="/ppt/media/image228.bin" Id="rId491" /><Relationship Type="http://schemas.openxmlformats.org/officeDocument/2006/relationships/image" Target="/ppt/media/image229.bin" Id="rId493" /><Relationship Type="http://schemas.openxmlformats.org/officeDocument/2006/relationships/image" Target="/ppt/media/image230.bin" Id="rId495" /><Relationship Type="http://schemas.openxmlformats.org/officeDocument/2006/relationships/image" Target="/ppt/media/image231.bin" Id="rId497" /><Relationship Type="http://schemas.openxmlformats.org/officeDocument/2006/relationships/image" Target="/ppt/media/image232.bin" Id="rId499" /><Relationship Type="http://schemas.openxmlformats.org/officeDocument/2006/relationships/image" Target="/ppt/media/image233.bin" Id="rId501" /><Relationship Type="http://schemas.openxmlformats.org/officeDocument/2006/relationships/image" Target="/ppt/media/image234.bin" Id="rId503" /><Relationship Type="http://schemas.openxmlformats.org/officeDocument/2006/relationships/image" Target="/ppt/media/image235.bin" Id="rId505" /><Relationship Type="http://schemas.openxmlformats.org/officeDocument/2006/relationships/image" Target="/ppt/media/image236.bin" Id="rId507" /><Relationship Type="http://schemas.openxmlformats.org/officeDocument/2006/relationships/image" Target="/ppt/media/image237.bin" Id="rId509" /><Relationship Type="http://schemas.openxmlformats.org/officeDocument/2006/relationships/image" Target="/ppt/media/image238.bin" Id="rId511" /><Relationship Type="http://schemas.openxmlformats.org/officeDocument/2006/relationships/image" Target="/ppt/media/image239.bin" Id="rId5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15" /><Relationship Type="http://schemas.openxmlformats.org/officeDocument/2006/relationships/image" Target="/ppt/media/image240.bin" Id="rId517" /><Relationship Type="http://schemas.openxmlformats.org/officeDocument/2006/relationships/image" Target="/ppt/media/image241.bin" Id="rId519" /><Relationship Type="http://schemas.openxmlformats.org/officeDocument/2006/relationships/image" Target="/ppt/media/image242.bin" Id="rId521" /><Relationship Type="http://schemas.openxmlformats.org/officeDocument/2006/relationships/image" Target="/ppt/media/image243.bin" Id="rId523" /><Relationship Type="http://schemas.openxmlformats.org/officeDocument/2006/relationships/image" Target="/ppt/media/image244.bin" Id="rId525" /><Relationship Type="http://schemas.openxmlformats.org/officeDocument/2006/relationships/image" Target="/ppt/media/image245.bin" Id="rId527" /><Relationship Type="http://schemas.openxmlformats.org/officeDocument/2006/relationships/image" Target="/ppt/media/image246.bin" Id="rId529" /><Relationship Type="http://schemas.openxmlformats.org/officeDocument/2006/relationships/image" Target="/ppt/media/image247.bin" Id="rId531" /><Relationship Type="http://schemas.openxmlformats.org/officeDocument/2006/relationships/image" Target="/ppt/media/image248.bin" Id="rId533" /><Relationship Type="http://schemas.openxmlformats.org/officeDocument/2006/relationships/image" Target="/ppt/media/image249.bin" Id="rId53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37" /><Relationship Type="http://schemas.openxmlformats.org/officeDocument/2006/relationships/image" Target="/ppt/media/image250.bin" Id="rId539" /><Relationship Type="http://schemas.openxmlformats.org/officeDocument/2006/relationships/image" Target="/ppt/media/image251.bin" Id="rId541" /><Relationship Type="http://schemas.openxmlformats.org/officeDocument/2006/relationships/image" Target="/ppt/media/image252.bin" Id="rId543" /><Relationship Type="http://schemas.openxmlformats.org/officeDocument/2006/relationships/image" Target="/ppt/media/image253.bin" Id="rId545" /><Relationship Type="http://schemas.openxmlformats.org/officeDocument/2006/relationships/image" Target="/ppt/media/image254.bin" Id="rId547" /><Relationship Type="http://schemas.openxmlformats.org/officeDocument/2006/relationships/image" Target="/ppt/media/image255.bin" Id="rId549" /><Relationship Type="http://schemas.openxmlformats.org/officeDocument/2006/relationships/image" Target="/ppt/media/image256.bin" Id="rId551" /><Relationship Type="http://schemas.openxmlformats.org/officeDocument/2006/relationships/image" Target="/ppt/media/image257.bin" Id="rId553" /><Relationship Type="http://schemas.openxmlformats.org/officeDocument/2006/relationships/image" Target="/ppt/media/image258.bin" Id="rId555" /><Relationship Type="http://schemas.openxmlformats.org/officeDocument/2006/relationships/image" Target="/ppt/media/image259.bin" Id="rId5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59" /><Relationship Type="http://schemas.openxmlformats.org/officeDocument/2006/relationships/image" Target="/ppt/media/image260.bin" Id="rId561" /><Relationship Type="http://schemas.openxmlformats.org/officeDocument/2006/relationships/image" Target="/ppt/media/image261.bin" Id="rId563" /><Relationship Type="http://schemas.openxmlformats.org/officeDocument/2006/relationships/image" Target="/ppt/media/image262.bin" Id="rId565" /><Relationship Type="http://schemas.openxmlformats.org/officeDocument/2006/relationships/image" Target="/ppt/media/image263.bin" Id="rId567" /><Relationship Type="http://schemas.openxmlformats.org/officeDocument/2006/relationships/image" Target="/ppt/media/image264.bin" Id="rId569" /><Relationship Type="http://schemas.openxmlformats.org/officeDocument/2006/relationships/image" Target="/ppt/media/image265.bin" Id="rId571" /><Relationship Type="http://schemas.openxmlformats.org/officeDocument/2006/relationships/image" Target="/ppt/media/image266.bin" Id="rId573" /><Relationship Type="http://schemas.openxmlformats.org/officeDocument/2006/relationships/image" Target="/ppt/media/image267.bin" Id="rId575" /><Relationship Type="http://schemas.openxmlformats.org/officeDocument/2006/relationships/image" Target="/ppt/media/image268.bin" Id="rId577" /><Relationship Type="http://schemas.openxmlformats.org/officeDocument/2006/relationships/image" Target="/ppt/media/image269.bin" Id="rId5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81" /><Relationship Type="http://schemas.openxmlformats.org/officeDocument/2006/relationships/image" Target="/ppt/media/image270.bin" Id="rId583" /><Relationship Type="http://schemas.openxmlformats.org/officeDocument/2006/relationships/image" Target="/ppt/media/image271.bin" Id="rId585" /><Relationship Type="http://schemas.openxmlformats.org/officeDocument/2006/relationships/image" Target="/ppt/media/image272.bin" Id="rId587" /><Relationship Type="http://schemas.openxmlformats.org/officeDocument/2006/relationships/image" Target="/ppt/media/image273.bin" Id="rId589" /><Relationship Type="http://schemas.openxmlformats.org/officeDocument/2006/relationships/image" Target="/ppt/media/image274.bin" Id="rId591" /><Relationship Type="http://schemas.openxmlformats.org/officeDocument/2006/relationships/image" Target="/ppt/media/image275.bin" Id="rId593" /><Relationship Type="http://schemas.openxmlformats.org/officeDocument/2006/relationships/image" Target="/ppt/media/image276.bin" Id="rId595" /><Relationship Type="http://schemas.openxmlformats.org/officeDocument/2006/relationships/image" Target="/ppt/media/image277.bin" Id="rId597" /><Relationship Type="http://schemas.openxmlformats.org/officeDocument/2006/relationships/image" Target="/ppt/media/image278.bin" Id="rId599" /><Relationship Type="http://schemas.openxmlformats.org/officeDocument/2006/relationships/image" Target="/ppt/media/image279.bin" Id="rId60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603" /><Relationship Type="http://schemas.openxmlformats.org/officeDocument/2006/relationships/image" Target="/ppt/media/image280.bin" Id="rId605" /><Relationship Type="http://schemas.openxmlformats.org/officeDocument/2006/relationships/image" Target="/ppt/media/image281.bin" Id="rId607" /><Relationship Type="http://schemas.openxmlformats.org/officeDocument/2006/relationships/image" Target="/ppt/media/image282.bin" Id="rId609" /><Relationship Type="http://schemas.openxmlformats.org/officeDocument/2006/relationships/image" Target="/ppt/media/image283.bin" Id="rId611" /><Relationship Type="http://schemas.openxmlformats.org/officeDocument/2006/relationships/image" Target="/ppt/media/image284.bin" Id="rId613" /><Relationship Type="http://schemas.openxmlformats.org/officeDocument/2006/relationships/image" Target="/ppt/media/image285.bin" Id="rId615" /><Relationship Type="http://schemas.openxmlformats.org/officeDocument/2006/relationships/image" Target="/ppt/media/image286.bin" Id="rId617" /><Relationship Type="http://schemas.openxmlformats.org/officeDocument/2006/relationships/image" Target="/ppt/media/image287.bin" Id="rId619" /><Relationship Type="http://schemas.openxmlformats.org/officeDocument/2006/relationships/image" Target="/ppt/media/image288.bin" Id="rId621" /><Relationship Type="http://schemas.openxmlformats.org/officeDocument/2006/relationships/image" Target="/ppt/media/image289.bin" Id="rId6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625" /><Relationship Type="http://schemas.openxmlformats.org/officeDocument/2006/relationships/image" Target="/ppt/media/image290.bin" Id="rId627" /><Relationship Type="http://schemas.openxmlformats.org/officeDocument/2006/relationships/image" Target="/ppt/media/image291.bin" Id="rId629" /><Relationship Type="http://schemas.openxmlformats.org/officeDocument/2006/relationships/image" Target="/ppt/media/image292.bin" Id="rId631" /><Relationship Type="http://schemas.openxmlformats.org/officeDocument/2006/relationships/image" Target="/ppt/media/image293.bin" Id="rId633" /><Relationship Type="http://schemas.openxmlformats.org/officeDocument/2006/relationships/image" Target="/ppt/media/image294.bin" Id="rId635" /><Relationship Type="http://schemas.openxmlformats.org/officeDocument/2006/relationships/image" Target="/ppt/media/image295.bin" Id="rId637" /><Relationship Type="http://schemas.openxmlformats.org/officeDocument/2006/relationships/image" Target="/ppt/media/image296.bin" Id="rId639" /><Relationship Type="http://schemas.openxmlformats.org/officeDocument/2006/relationships/image" Target="/ppt/media/image297.bin" Id="rId641" /><Relationship Type="http://schemas.openxmlformats.org/officeDocument/2006/relationships/image" Target="/ppt/media/image298.bin" Id="rId643" /><Relationship Type="http://schemas.openxmlformats.org/officeDocument/2006/relationships/image" Target="/ppt/media/image299.bin" Id="rId64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647" /><Relationship Type="http://schemas.openxmlformats.org/officeDocument/2006/relationships/image" Target="/ppt/media/image300.bin" Id="rId649" /><Relationship Type="http://schemas.openxmlformats.org/officeDocument/2006/relationships/image" Target="/ppt/media/image301.bin" Id="rId651" /><Relationship Type="http://schemas.openxmlformats.org/officeDocument/2006/relationships/image" Target="/ppt/media/image302.bin" Id="rId653" /><Relationship Type="http://schemas.openxmlformats.org/officeDocument/2006/relationships/image" Target="/ppt/media/image303.bin" Id="rId655" /><Relationship Type="http://schemas.openxmlformats.org/officeDocument/2006/relationships/image" Target="/ppt/media/image304.bin" Id="rId657" /><Relationship Type="http://schemas.openxmlformats.org/officeDocument/2006/relationships/image" Target="/ppt/media/image305.bin" Id="rId659" /><Relationship Type="http://schemas.openxmlformats.org/officeDocument/2006/relationships/image" Target="/ppt/media/image306.bin" Id="rId661" /><Relationship Type="http://schemas.openxmlformats.org/officeDocument/2006/relationships/image" Target="/ppt/media/image307.bin" Id="rId663" /><Relationship Type="http://schemas.openxmlformats.org/officeDocument/2006/relationships/image" Target="/ppt/media/image308.bin" Id="rId665" /><Relationship Type="http://schemas.openxmlformats.org/officeDocument/2006/relationships/image" Target="/ppt/media/image309.bin" Id="rId667" /><Relationship Type="http://schemas.openxmlformats.org/officeDocument/2006/relationships/image" Target="/ppt/media/image310.bin" Id="rId669" /><Relationship Type="http://schemas.openxmlformats.org/officeDocument/2006/relationships/image" Target="/ppt/media/image311.bin" Id="rId670" /><Relationship Type="http://schemas.openxmlformats.org/officeDocument/2006/relationships/image" Target="/ppt/media/image312.bin" Id="rId672" /><Relationship Type="http://schemas.openxmlformats.org/officeDocument/2006/relationships/image" Target="/ppt/media/image313.bin" Id="rId674" /><Relationship Type="http://schemas.openxmlformats.org/officeDocument/2006/relationships/image" Target="/ppt/media/image314.bin" Id="rId676" /><Relationship Type="http://schemas.openxmlformats.org/officeDocument/2006/relationships/image" Target="/ppt/media/image315.bin" Id="rId677" /><Relationship Type="http://schemas.openxmlformats.org/officeDocument/2006/relationships/image" Target="/ppt/media/image316.bin" Id="rId679" /><Relationship Type="http://schemas.openxmlformats.org/officeDocument/2006/relationships/image" Target="/ppt/media/image317.bin" Id="rId681" /><Relationship Type="http://schemas.openxmlformats.org/officeDocument/2006/relationships/image" Target="/ppt/media/image318.bin" Id="rId683" /><Relationship Type="http://schemas.openxmlformats.org/officeDocument/2006/relationships/image" Target="/ppt/media/image319.bin" Id="rId684" /><Relationship Type="http://schemas.openxmlformats.org/officeDocument/2006/relationships/image" Target="/ppt/media/image320.bin" Id="rId686" /><Relationship Type="http://schemas.openxmlformats.org/officeDocument/2006/relationships/image" Target="/ppt/media/image321.bin" Id="rId688" /><Relationship Type="http://schemas.openxmlformats.org/officeDocument/2006/relationships/image" Target="/ppt/media/image322.bin" Id="rId690" /><Relationship Type="http://schemas.openxmlformats.org/officeDocument/2006/relationships/image" Target="/ppt/media/image323.bin" Id="rId691" /><Relationship Type="http://schemas.openxmlformats.org/officeDocument/2006/relationships/image" Target="/ppt/media/image324.bin" Id="rId693" /><Relationship Type="http://schemas.openxmlformats.org/officeDocument/2006/relationships/image" Target="/ppt/media/image325.bin" Id="rId695" /><Relationship Type="http://schemas.openxmlformats.org/officeDocument/2006/relationships/image" Target="/ppt/media/image326.bin" Id="rId697" /><Relationship Type="http://schemas.openxmlformats.org/officeDocument/2006/relationships/image" Target="/ppt/media/image327.bin" Id="rId698" /><Relationship Type="http://schemas.openxmlformats.org/officeDocument/2006/relationships/image" Target="/ppt/media/image328.bin" Id="rId7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02" /><Relationship Type="http://schemas.openxmlformats.org/officeDocument/2006/relationships/image" Target="/ppt/media/image329.bin" Id="rId704" /><Relationship Type="http://schemas.openxmlformats.org/officeDocument/2006/relationships/image" Target="/ppt/media/image330.bin" Id="rId706" /><Relationship Type="http://schemas.openxmlformats.org/officeDocument/2006/relationships/image" Target="/ppt/media/image331.bin" Id="rId708" /><Relationship Type="http://schemas.openxmlformats.org/officeDocument/2006/relationships/image" Target="/ppt/media/image332.bin" Id="rId710" /><Relationship Type="http://schemas.openxmlformats.org/officeDocument/2006/relationships/image" Target="/ppt/media/image333.bin" Id="rId712" /><Relationship Type="http://schemas.openxmlformats.org/officeDocument/2006/relationships/image" Target="/ppt/media/image334.bin" Id="rId714" /><Relationship Type="http://schemas.openxmlformats.org/officeDocument/2006/relationships/image" Target="/ppt/media/image335.bin" Id="rId716" /><Relationship Type="http://schemas.openxmlformats.org/officeDocument/2006/relationships/image" Target="/ppt/media/image336.bin" Id="rId718" /><Relationship Type="http://schemas.openxmlformats.org/officeDocument/2006/relationships/image" Target="/ppt/media/image337.bin" Id="rId720" /><Relationship Type="http://schemas.openxmlformats.org/officeDocument/2006/relationships/image" Target="/ppt/media/image338.bin" Id="rId72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24" /><Relationship Type="http://schemas.openxmlformats.org/officeDocument/2006/relationships/image" Target="/ppt/media/image339.bin" Id="rId726" /><Relationship Type="http://schemas.openxmlformats.org/officeDocument/2006/relationships/image" Target="/ppt/media/image340.bin" Id="rId728" /><Relationship Type="http://schemas.openxmlformats.org/officeDocument/2006/relationships/image" Target="/ppt/media/image341.bin" Id="rId730" /><Relationship Type="http://schemas.openxmlformats.org/officeDocument/2006/relationships/image" Target="/ppt/media/image342.bin" Id="rId732" /><Relationship Type="http://schemas.openxmlformats.org/officeDocument/2006/relationships/image" Target="/ppt/media/image343.bin" Id="rId734" /><Relationship Type="http://schemas.openxmlformats.org/officeDocument/2006/relationships/image" Target="/ppt/media/image344.bin" Id="rId736" /><Relationship Type="http://schemas.openxmlformats.org/officeDocument/2006/relationships/image" Target="/ppt/media/image345.bin" Id="rId738" /><Relationship Type="http://schemas.openxmlformats.org/officeDocument/2006/relationships/image" Target="/ppt/media/image346.bin" Id="rId740" /><Relationship Type="http://schemas.openxmlformats.org/officeDocument/2006/relationships/image" Target="/ppt/media/image347.bin" Id="rId742" /><Relationship Type="http://schemas.openxmlformats.org/officeDocument/2006/relationships/image" Target="/ppt/media/image348.bin" Id="rId74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46" /><Relationship Type="http://schemas.openxmlformats.org/officeDocument/2006/relationships/image" Target="/ppt/media/image349.bin" Id="rId748" /><Relationship Type="http://schemas.openxmlformats.org/officeDocument/2006/relationships/image" Target="/ppt/media/image350.bin" Id="rId750" /><Relationship Type="http://schemas.openxmlformats.org/officeDocument/2006/relationships/image" Target="/ppt/media/image351.bin" Id="rId752" /><Relationship Type="http://schemas.openxmlformats.org/officeDocument/2006/relationships/image" Target="/ppt/media/image352.bin" Id="rId754" /><Relationship Type="http://schemas.openxmlformats.org/officeDocument/2006/relationships/image" Target="/ppt/media/image353.bin" Id="rId756" /><Relationship Type="http://schemas.openxmlformats.org/officeDocument/2006/relationships/image" Target="/ppt/media/image354.bin" Id="rId758" /><Relationship Type="http://schemas.openxmlformats.org/officeDocument/2006/relationships/image" Target="/ppt/media/image355.bin" Id="rId760" /><Relationship Type="http://schemas.openxmlformats.org/officeDocument/2006/relationships/image" Target="/ppt/media/image356.bin" Id="rId762" /><Relationship Type="http://schemas.openxmlformats.org/officeDocument/2006/relationships/image" Target="/ppt/media/image357.bin" Id="rId764" /><Relationship Type="http://schemas.openxmlformats.org/officeDocument/2006/relationships/image" Target="/ppt/media/image358.bin" Id="rId76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68" /><Relationship Type="http://schemas.openxmlformats.org/officeDocument/2006/relationships/image" Target="/ppt/media/image359.bin" Id="rId770" /><Relationship Type="http://schemas.openxmlformats.org/officeDocument/2006/relationships/image" Target="/ppt/media/image360.bin" Id="rId772" /><Relationship Type="http://schemas.openxmlformats.org/officeDocument/2006/relationships/image" Target="/ppt/media/image361.bin" Id="rId774" /><Relationship Type="http://schemas.openxmlformats.org/officeDocument/2006/relationships/image" Target="/ppt/media/image362.bin" Id="rId776" /><Relationship Type="http://schemas.openxmlformats.org/officeDocument/2006/relationships/image" Target="/ppt/media/image363.bin" Id="rId778" /><Relationship Type="http://schemas.openxmlformats.org/officeDocument/2006/relationships/image" Target="/ppt/media/image364.bin" Id="rId780" /><Relationship Type="http://schemas.openxmlformats.org/officeDocument/2006/relationships/image" Target="/ppt/media/image365.bin" Id="rId782" /><Relationship Type="http://schemas.openxmlformats.org/officeDocument/2006/relationships/image" Target="/ppt/media/image366.bin" Id="rId784" /><Relationship Type="http://schemas.openxmlformats.org/officeDocument/2006/relationships/image" Target="/ppt/media/image367.bin" Id="rId786" /><Relationship Type="http://schemas.openxmlformats.org/officeDocument/2006/relationships/image" Target="/ppt/media/image368.bin" Id="rId78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90" /><Relationship Type="http://schemas.openxmlformats.org/officeDocument/2006/relationships/image" Target="/ppt/media/image369.bin" Id="rId792" /><Relationship Type="http://schemas.openxmlformats.org/officeDocument/2006/relationships/image" Target="/ppt/media/image370.bin" Id="rId794" /><Relationship Type="http://schemas.openxmlformats.org/officeDocument/2006/relationships/image" Target="/ppt/media/image371.bin" Id="rId796" /><Relationship Type="http://schemas.openxmlformats.org/officeDocument/2006/relationships/image" Target="/ppt/media/image372.bin" Id="rId798" /><Relationship Type="http://schemas.openxmlformats.org/officeDocument/2006/relationships/image" Target="/ppt/media/image373.bin" Id="rId800" /><Relationship Type="http://schemas.openxmlformats.org/officeDocument/2006/relationships/image" Target="/ppt/media/image374.bin" Id="rId802" /><Relationship Type="http://schemas.openxmlformats.org/officeDocument/2006/relationships/image" Target="/ppt/media/image375.bin" Id="rId804" /><Relationship Type="http://schemas.openxmlformats.org/officeDocument/2006/relationships/image" Target="/ppt/media/image376.bin" Id="rId806" /><Relationship Type="http://schemas.openxmlformats.org/officeDocument/2006/relationships/image" Target="/ppt/media/image377.bin" Id="rId808" /><Relationship Type="http://schemas.openxmlformats.org/officeDocument/2006/relationships/image" Target="/ppt/media/image378.bin" Id="rId81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812" /><Relationship Type="http://schemas.openxmlformats.org/officeDocument/2006/relationships/image" Target="/ppt/media/image379.bin" Id="rId814" /><Relationship Type="http://schemas.openxmlformats.org/officeDocument/2006/relationships/image" Target="/ppt/media/image380.bin" Id="rId816" /><Relationship Type="http://schemas.openxmlformats.org/officeDocument/2006/relationships/image" Target="/ppt/media/image381.bin" Id="rId818" /><Relationship Type="http://schemas.openxmlformats.org/officeDocument/2006/relationships/image" Target="/ppt/media/image382.bin" Id="rId820" /><Relationship Type="http://schemas.openxmlformats.org/officeDocument/2006/relationships/image" Target="/ppt/media/image383.bin" Id="rId822" /><Relationship Type="http://schemas.openxmlformats.org/officeDocument/2006/relationships/image" Target="/ppt/media/image384.bin" Id="rId824" /><Relationship Type="http://schemas.openxmlformats.org/officeDocument/2006/relationships/image" Target="/ppt/media/image385.bin" Id="rId826" /><Relationship Type="http://schemas.openxmlformats.org/officeDocument/2006/relationships/image" Target="/ppt/media/image386.bin" Id="rId828" /><Relationship Type="http://schemas.openxmlformats.org/officeDocument/2006/relationships/image" Target="/ppt/media/image387.bin" Id="rId830" /><Relationship Type="http://schemas.openxmlformats.org/officeDocument/2006/relationships/image" Target="/ppt/media/image388.bin" Id="rId832" /><Relationship Type="http://schemas.openxmlformats.org/officeDocument/2006/relationships/image" Target="/ppt/media/image389.bin" Id="rId83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835" /><Relationship Type="http://schemas.openxmlformats.org/officeDocument/2006/relationships/image" Target="/ppt/media/image390.bin" Id="rId837" /><Relationship Type="http://schemas.openxmlformats.org/officeDocument/2006/relationships/image" Target="/ppt/media/image391.bin" Id="rId839" /><Relationship Type="http://schemas.openxmlformats.org/officeDocument/2006/relationships/image" Target="/ppt/media/image392.bin" Id="rId841" /><Relationship Type="http://schemas.openxmlformats.org/officeDocument/2006/relationships/image" Target="/ppt/media/image393.bin" Id="rId843" /><Relationship Type="http://schemas.openxmlformats.org/officeDocument/2006/relationships/image" Target="/ppt/media/image394.bin" Id="rId845" /><Relationship Type="http://schemas.openxmlformats.org/officeDocument/2006/relationships/image" Target="/ppt/media/image395.bin" Id="rId847" /><Relationship Type="http://schemas.openxmlformats.org/officeDocument/2006/relationships/image" Target="/ppt/media/image396.bin" Id="rId849" /><Relationship Type="http://schemas.openxmlformats.org/officeDocument/2006/relationships/image" Target="/ppt/media/image397.bin" Id="rId851" /><Relationship Type="http://schemas.openxmlformats.org/officeDocument/2006/relationships/image" Target="/ppt/media/image398.bin" Id="rId85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855" /><Relationship Type="http://schemas.openxmlformats.org/officeDocument/2006/relationships/image" Target="/ppt/media/image399.bin" Id="rId857" /><Relationship Type="http://schemas.openxmlformats.org/officeDocument/2006/relationships/image" Target="/ppt/media/image400.bin" Id="rId859" /><Relationship Type="http://schemas.openxmlformats.org/officeDocument/2006/relationships/image" Target="/ppt/media/image401.bin" Id="rId861" /><Relationship Type="http://schemas.openxmlformats.org/officeDocument/2006/relationships/image" Target="/ppt/media/image402.bin" Id="rId863" /><Relationship Type="http://schemas.openxmlformats.org/officeDocument/2006/relationships/image" Target="/ppt/media/image403.bin" Id="rId865" /><Relationship Type="http://schemas.openxmlformats.org/officeDocument/2006/relationships/image" Target="/ppt/media/image404.bin" Id="rId867" /><Relationship Type="http://schemas.openxmlformats.org/officeDocument/2006/relationships/image" Target="/ppt/media/image405.bin" Id="rId869" /><Relationship Type="http://schemas.openxmlformats.org/officeDocument/2006/relationships/image" Target="/ppt/media/image406.bin" Id="rId871" /><Relationship Type="http://schemas.openxmlformats.org/officeDocument/2006/relationships/image" Target="/ppt/media/image407.bin" Id="rId873" /><Relationship Type="http://schemas.openxmlformats.org/officeDocument/2006/relationships/image" Target="/ppt/media/image408.bin" Id="rId875" /><Relationship Type="http://schemas.openxmlformats.org/officeDocument/2006/relationships/image" Target="/ppt/media/image409.bin" Id="rId876" /><Relationship Type="http://schemas.openxmlformats.org/officeDocument/2006/relationships/image" Target="/ppt/media/image410.bin" Id="rId878" /><Relationship Type="http://schemas.openxmlformats.org/officeDocument/2006/relationships/image" Target="/ppt/media/image411.bin" Id="rId879" /><Relationship Type="http://schemas.openxmlformats.org/officeDocument/2006/relationships/image" Target="/ppt/media/image412.bin" Id="rId880" /><Relationship Type="http://schemas.openxmlformats.org/officeDocument/2006/relationships/image" Target="/ppt/media/image413.bin" Id="rId882" /><Relationship Type="http://schemas.openxmlformats.org/officeDocument/2006/relationships/image" Target="/ppt/media/image414.bin" Id="rId884" /><Relationship Type="http://schemas.openxmlformats.org/officeDocument/2006/relationships/image" Target="/ppt/media/image415.bin" Id="rId886" /><Relationship Type="http://schemas.openxmlformats.org/officeDocument/2006/relationships/image" Target="/ppt/media/image416.bin" Id="rId888" /><Relationship Type="http://schemas.openxmlformats.org/officeDocument/2006/relationships/image" Target="/ppt/media/image417.bin" Id="rId890" /><Relationship Type="http://schemas.openxmlformats.org/officeDocument/2006/relationships/image" Target="/ppt/media/image418.bin" Id="rId892" /><Relationship Type="http://schemas.openxmlformats.org/officeDocument/2006/relationships/image" Target="/ppt/media/image419.bin" Id="rId894" /><Relationship Type="http://schemas.openxmlformats.org/officeDocument/2006/relationships/image" Target="/ppt/media/image420.bin" Id="rId896" /><Relationship Type="http://schemas.openxmlformats.org/officeDocument/2006/relationships/image" Target="/ppt/media/image421.bin" Id="rId898" /><Relationship Type="http://schemas.openxmlformats.org/officeDocument/2006/relationships/image" Target="/ppt/media/image422.bin" Id="rId900" /><Relationship Type="http://schemas.openxmlformats.org/officeDocument/2006/relationships/image" Target="/ppt/media/image423.bin" Id="rId902" /><Relationship Type="http://schemas.openxmlformats.org/officeDocument/2006/relationships/image" Target="/ppt/media/image424.bin" Id="rId904" /><Relationship Type="http://schemas.openxmlformats.org/officeDocument/2006/relationships/image" Target="/ppt/media/image425.bin" Id="rId906" /><Relationship Type="http://schemas.openxmlformats.org/officeDocument/2006/relationships/image" Target="/ppt/media/image426.bin" Id="rId908" /><Relationship Type="http://schemas.openxmlformats.org/officeDocument/2006/relationships/image" Target="/ppt/media/image427.bin" Id="rId910" /><Relationship Type="http://schemas.openxmlformats.org/officeDocument/2006/relationships/image" Target="/ppt/media/image428.bin" Id="rId912" /><Relationship Type="http://schemas.openxmlformats.org/officeDocument/2006/relationships/image" Target="/ppt/media/image429.bin" Id="rId914" /><Relationship Type="http://schemas.openxmlformats.org/officeDocument/2006/relationships/image" Target="/ppt/media/image430.bin" Id="rId916" /><Relationship Type="http://schemas.openxmlformats.org/officeDocument/2006/relationships/image" Target="/ppt/media/image431.bin" Id="rId918" /><Relationship Type="http://schemas.openxmlformats.org/officeDocument/2006/relationships/image" Target="/ppt/media/image432.bin" Id="rId920" /><Relationship Type="http://schemas.openxmlformats.org/officeDocument/2006/relationships/image" Target="/ppt/media/image433.bin" Id="rId922" /><Relationship Type="http://schemas.openxmlformats.org/officeDocument/2006/relationships/image" Target="/ppt/media/image434.bin" Id="rId924" /><Relationship Type="http://schemas.openxmlformats.org/officeDocument/2006/relationships/image" Target="/ppt/media/image435.bin" Id="rId926" /><Relationship Type="http://schemas.openxmlformats.org/officeDocument/2006/relationships/image" Target="/ppt/media/image436.bin" Id="rId928" /><Relationship Type="http://schemas.openxmlformats.org/officeDocument/2006/relationships/image" Target="/ppt/media/image437.bin" Id="rId93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932" /><Relationship Type="http://schemas.openxmlformats.org/officeDocument/2006/relationships/image" Target="/ppt/media/image438.bin" Id="rId934" /><Relationship Type="http://schemas.openxmlformats.org/officeDocument/2006/relationships/image" Target="/ppt/media/image439.bin" Id="rId936" /><Relationship Type="http://schemas.openxmlformats.org/officeDocument/2006/relationships/image" Target="/ppt/media/image440.bin" Id="rId938" /><Relationship Type="http://schemas.openxmlformats.org/officeDocument/2006/relationships/image" Target="/ppt/media/image441.bin" Id="rId940" /><Relationship Type="http://schemas.openxmlformats.org/officeDocument/2006/relationships/image" Target="/ppt/media/image442.bin" Id="rId942" /><Relationship Type="http://schemas.openxmlformats.org/officeDocument/2006/relationships/image" Target="/ppt/media/image443.bin" Id="rId944" /><Relationship Type="http://schemas.openxmlformats.org/officeDocument/2006/relationships/image" Target="/ppt/media/image444.bin" Id="rId946" /><Relationship Type="http://schemas.openxmlformats.org/officeDocument/2006/relationships/image" Target="/ppt/media/image445.bin" Id="rId948" /><Relationship Type="http://schemas.openxmlformats.org/officeDocument/2006/relationships/image" Target="/ppt/media/image446.bin" Id="rId95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952" /><Relationship Type="http://schemas.openxmlformats.org/officeDocument/2006/relationships/image" Target="/ppt/media/image447.bin" Id="rId954" /><Relationship Type="http://schemas.openxmlformats.org/officeDocument/2006/relationships/image" Target="/ppt/media/image448.bin" Id="rId956" /><Relationship Type="http://schemas.openxmlformats.org/officeDocument/2006/relationships/image" Target="/ppt/media/image449.bin" Id="rId958" /><Relationship Type="http://schemas.openxmlformats.org/officeDocument/2006/relationships/image" Target="/ppt/media/image450.bin" Id="rId960" /><Relationship Type="http://schemas.openxmlformats.org/officeDocument/2006/relationships/image" Target="/ppt/media/image451.bin" Id="rId96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964" /><Relationship Type="http://schemas.openxmlformats.org/officeDocument/2006/relationships/image" Target="/ppt/media/image452.bin" Id="rId966" /><Relationship Type="http://schemas.openxmlformats.org/officeDocument/2006/relationships/image" Target="/ppt/media/image453.bin" Id="rId968" /><Relationship Type="http://schemas.openxmlformats.org/officeDocument/2006/relationships/image" Target="/ppt/media/image454.bin" Id="rId970" /><Relationship Type="http://schemas.openxmlformats.org/officeDocument/2006/relationships/image" Target="/ppt/media/image455.bin" Id="rId972" /><Relationship Type="http://schemas.openxmlformats.org/officeDocument/2006/relationships/image" Target="/ppt/media/image456.bin" Id="rId974" /><Relationship Type="http://schemas.openxmlformats.org/officeDocument/2006/relationships/image" Target="/ppt/media/image457.bin" Id="rId976" /><Relationship Type="http://schemas.openxmlformats.org/officeDocument/2006/relationships/image" Target="/ppt/media/image458.bin" Id="rId978" /><Relationship Type="http://schemas.openxmlformats.org/officeDocument/2006/relationships/image" Target="/ppt/media/image459.bin" Id="rId980" /><Relationship Type="http://schemas.openxmlformats.org/officeDocument/2006/relationships/image" Target="/ppt/media/image460.bin" Id="rId98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984" /><Relationship Type="http://schemas.openxmlformats.org/officeDocument/2006/relationships/image" Target="/ppt/media/image461.bin" Id="rId986" /><Relationship Type="http://schemas.openxmlformats.org/officeDocument/2006/relationships/image" Target="/ppt/media/image462.bin" Id="rId988" /><Relationship Type="http://schemas.openxmlformats.org/officeDocument/2006/relationships/image" Target="/ppt/media/image463.bin" Id="rId990" /><Relationship Type="http://schemas.openxmlformats.org/officeDocument/2006/relationships/image" Target="/ppt/media/image464.bin" Id="rId992" /><Relationship Type="http://schemas.openxmlformats.org/officeDocument/2006/relationships/image" Target="/ppt/media/image465.bin" Id="rId994" /><Relationship Type="http://schemas.openxmlformats.org/officeDocument/2006/relationships/image" Target="/ppt/media/image466.bin" Id="rId996" /><Relationship Type="http://schemas.openxmlformats.org/officeDocument/2006/relationships/image" Target="/ppt/media/image467.bin" Id="rId998" /><Relationship Type="http://schemas.openxmlformats.org/officeDocument/2006/relationships/image" Target="/ppt/media/image468.bin" Id="rId1000" /><Relationship Type="http://schemas.openxmlformats.org/officeDocument/2006/relationships/image" Target="/ppt/media/image469.bin" Id="rId1002" /><Relationship Type="http://schemas.openxmlformats.org/officeDocument/2006/relationships/image" Target="/ppt/media/image470.bin" Id="rId100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06" /><Relationship Type="http://schemas.openxmlformats.org/officeDocument/2006/relationships/image" Target="/ppt/media/image471.bin" Id="rId1008" /><Relationship Type="http://schemas.openxmlformats.org/officeDocument/2006/relationships/image" Target="/ppt/media/image472.bin" Id="rId1010" /><Relationship Type="http://schemas.openxmlformats.org/officeDocument/2006/relationships/image" Target="/ppt/media/image473.bin" Id="rId1012" /><Relationship Type="http://schemas.openxmlformats.org/officeDocument/2006/relationships/image" Target="/ppt/media/image474.bin" Id="rId1014" /><Relationship Type="http://schemas.openxmlformats.org/officeDocument/2006/relationships/image" Target="/ppt/media/image475.bin" Id="rId101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18" /><Relationship Type="http://schemas.openxmlformats.org/officeDocument/2006/relationships/image" Target="/ppt/media/image476.bin" Id="rId1020" /><Relationship Type="http://schemas.openxmlformats.org/officeDocument/2006/relationships/image" Target="/ppt/media/image477.bin" Id="rId1022" /><Relationship Type="http://schemas.openxmlformats.org/officeDocument/2006/relationships/image" Target="/ppt/media/image478.bin" Id="rId1024" /><Relationship Type="http://schemas.openxmlformats.org/officeDocument/2006/relationships/image" Target="/ppt/media/image479.bin" Id="rId1026" /><Relationship Type="http://schemas.openxmlformats.org/officeDocument/2006/relationships/image" Target="/ppt/media/image480.bin" Id="rId102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30" /><Relationship Type="http://schemas.openxmlformats.org/officeDocument/2006/relationships/image" Target="/ppt/media/image481.bin" Id="rId1032" /><Relationship Type="http://schemas.openxmlformats.org/officeDocument/2006/relationships/image" Target="/ppt/media/image482.bin" Id="rId1034" /><Relationship Type="http://schemas.openxmlformats.org/officeDocument/2006/relationships/image" Target="/ppt/media/image483.bin" Id="rId1036" /><Relationship Type="http://schemas.openxmlformats.org/officeDocument/2006/relationships/image" Target="/ppt/media/image484.bin" Id="rId1038" /><Relationship Type="http://schemas.openxmlformats.org/officeDocument/2006/relationships/image" Target="/ppt/media/image485.bin" Id="rId104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42" /><Relationship Type="http://schemas.openxmlformats.org/officeDocument/2006/relationships/image" Target="/ppt/media/image486.bin" Id="rId1044" /><Relationship Type="http://schemas.openxmlformats.org/officeDocument/2006/relationships/image" Target="/ppt/media/image487.bin" Id="rId1046" /><Relationship Type="http://schemas.openxmlformats.org/officeDocument/2006/relationships/image" Target="/ppt/media/image488.bin" Id="rId1048" /><Relationship Type="http://schemas.openxmlformats.org/officeDocument/2006/relationships/image" Target="/ppt/media/image489.bin" Id="rId1050" /><Relationship Type="http://schemas.openxmlformats.org/officeDocument/2006/relationships/image" Target="/ppt/media/image490.bin" Id="rId1052" /><Relationship Type="http://schemas.openxmlformats.org/officeDocument/2006/relationships/image" Target="/ppt/media/image491.bin" Id="rId105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56" /><Relationship Type="http://schemas.openxmlformats.org/officeDocument/2006/relationships/image" Target="/ppt/media/image492.bin" Id="rId1058" /><Relationship Type="http://schemas.openxmlformats.org/officeDocument/2006/relationships/image" Target="/ppt/media/image493.bin" Id="rId1060" /><Relationship Type="http://schemas.openxmlformats.org/officeDocument/2006/relationships/image" Target="/ppt/media/image494.bin" Id="rId1062" /><Relationship Type="http://schemas.openxmlformats.org/officeDocument/2006/relationships/image" Target="/ppt/media/image495.bin" Id="rId1064" /><Relationship Type="http://schemas.openxmlformats.org/officeDocument/2006/relationships/image" Target="/ppt/media/image496.bin" Id="rId1066" /><Relationship Type="http://schemas.openxmlformats.org/officeDocument/2006/relationships/image" Target="/ppt/media/image497.bin" Id="rId1068" /><Relationship Type="http://schemas.openxmlformats.org/officeDocument/2006/relationships/image" Target="/ppt/media/image498.bin" Id="rId1070" /><Relationship Type="http://schemas.openxmlformats.org/officeDocument/2006/relationships/image" Target="/ppt/media/image499.bin" Id="rId1072" /><Relationship Type="http://schemas.openxmlformats.org/officeDocument/2006/relationships/image" Target="/ppt/media/image500.bin" Id="rId107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76" /><Relationship Type="http://schemas.openxmlformats.org/officeDocument/2006/relationships/image" Target="/ppt/media/image501.bin" Id="rId1078" /><Relationship Type="http://schemas.openxmlformats.org/officeDocument/2006/relationships/image" Target="/ppt/media/image502.bin" Id="rId1080" /><Relationship Type="http://schemas.openxmlformats.org/officeDocument/2006/relationships/image" Target="/ppt/media/image503.bin" Id="rId1082" /><Relationship Type="http://schemas.openxmlformats.org/officeDocument/2006/relationships/image" Target="/ppt/media/image504.bin" Id="rId1084" /><Relationship Type="http://schemas.openxmlformats.org/officeDocument/2006/relationships/image" Target="/ppt/media/image505.bin" Id="rId1086" /><Relationship Type="http://schemas.openxmlformats.org/officeDocument/2006/relationships/image" Target="/ppt/media/image506.bin" Id="rId1088" /><Relationship Type="http://schemas.openxmlformats.org/officeDocument/2006/relationships/image" Target="/ppt/media/image507.bin" Id="rId1090" /><Relationship Type="http://schemas.openxmlformats.org/officeDocument/2006/relationships/image" Target="/ppt/media/image508.bin" Id="rId1092" /><Relationship Type="http://schemas.openxmlformats.org/officeDocument/2006/relationships/image" Target="/ppt/media/image509.bin" Id="rId109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96" /><Relationship Type="http://schemas.openxmlformats.org/officeDocument/2006/relationships/image" Target="/ppt/media/image510.bin" Id="rId1098" /><Relationship Type="http://schemas.openxmlformats.org/officeDocument/2006/relationships/image" Target="/ppt/media/image511.bin" Id="rId1100" /><Relationship Type="http://schemas.openxmlformats.org/officeDocument/2006/relationships/image" Target="/ppt/media/image512.bin" Id="rId1102" /><Relationship Type="http://schemas.openxmlformats.org/officeDocument/2006/relationships/image" Target="/ppt/media/image513.bin" Id="rId1104" /><Relationship Type="http://schemas.openxmlformats.org/officeDocument/2006/relationships/image" Target="/ppt/media/image514.bin" Id="rId1106" /><Relationship Type="http://schemas.openxmlformats.org/officeDocument/2006/relationships/image" Target="/ppt/media/image515.bin" Id="rId1108" /><Relationship Type="http://schemas.openxmlformats.org/officeDocument/2006/relationships/image" Target="/ppt/media/image516.bin" Id="rId1110" /><Relationship Type="http://schemas.openxmlformats.org/officeDocument/2006/relationships/image" Target="/ppt/media/image517.bin" Id="rId1112" /><Relationship Type="http://schemas.openxmlformats.org/officeDocument/2006/relationships/image" Target="/ppt/media/image518.bin" Id="rId111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116" /><Relationship Type="http://schemas.openxmlformats.org/officeDocument/2006/relationships/image" Target="/ppt/media/image519.bin" Id="rId1118" /><Relationship Type="http://schemas.openxmlformats.org/officeDocument/2006/relationships/image" Target="/ppt/media/image520.bin" Id="rId1120" /><Relationship Type="http://schemas.openxmlformats.org/officeDocument/2006/relationships/image" Target="/ppt/media/image521.bin" Id="rId1122" /><Relationship Type="http://schemas.openxmlformats.org/officeDocument/2006/relationships/image" Target="/ppt/media/image522.bin" Id="rId1124" /><Relationship Type="http://schemas.openxmlformats.org/officeDocument/2006/relationships/image" Target="/ppt/media/image523.bin" Id="rId1126" /><Relationship Type="http://schemas.openxmlformats.org/officeDocument/2006/relationships/image" Target="/ppt/media/image524.bin" Id="rId1128" /><Relationship Type="http://schemas.openxmlformats.org/officeDocument/2006/relationships/image" Target="/ppt/media/image525.bin" Id="rId1130" /><Relationship Type="http://schemas.openxmlformats.org/officeDocument/2006/relationships/image" Target="/ppt/media/image526.bin" Id="rId1132" /><Relationship Type="http://schemas.openxmlformats.org/officeDocument/2006/relationships/image" Target="/ppt/media/image527.bin" Id="rId113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136" /><Relationship Type="http://schemas.openxmlformats.org/officeDocument/2006/relationships/image" Target="/ppt/media/image528.bin" Id="rId1138" /><Relationship Type="http://schemas.openxmlformats.org/officeDocument/2006/relationships/image" Target="/ppt/media/image529.bin" Id="rId1140" /><Relationship Type="http://schemas.openxmlformats.org/officeDocument/2006/relationships/image" Target="/ppt/media/image530.bin" Id="rId1142" /><Relationship Type="http://schemas.openxmlformats.org/officeDocument/2006/relationships/image" Target="/ppt/media/image531.bin" Id="rId1144" /><Relationship Type="http://schemas.openxmlformats.org/officeDocument/2006/relationships/image" Target="/ppt/media/image532.bin" Id="rId1146" /><Relationship Type="http://schemas.openxmlformats.org/officeDocument/2006/relationships/image" Target="/ppt/media/image533.bin" Id="rId1148" /><Relationship Type="http://schemas.openxmlformats.org/officeDocument/2006/relationships/image" Target="/ppt/media/image534.bin" Id="rId1150" /><Relationship Type="http://schemas.openxmlformats.org/officeDocument/2006/relationships/image" Target="/ppt/media/image535.bin" Id="rId1152" /><Relationship Type="http://schemas.openxmlformats.org/officeDocument/2006/relationships/image" Target="/ppt/media/image536.bin" Id="rId115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156" /><Relationship Type="http://schemas.openxmlformats.org/officeDocument/2006/relationships/image" Target="/ppt/media/image537.bin" Id="rId1158" /><Relationship Type="http://schemas.openxmlformats.org/officeDocument/2006/relationships/image" Target="/ppt/media/image538.bin" Id="rId1160" /><Relationship Type="http://schemas.openxmlformats.org/officeDocument/2006/relationships/image" Target="/ppt/media/image539.bin" Id="rId1162" /><Relationship Type="http://schemas.openxmlformats.org/officeDocument/2006/relationships/image" Target="/ppt/media/image540.bin" Id="rId1164" /><Relationship Type="http://schemas.openxmlformats.org/officeDocument/2006/relationships/image" Target="/ppt/media/image541.bin" Id="rId1166" /><Relationship Type="http://schemas.openxmlformats.org/officeDocument/2006/relationships/image" Target="/ppt/media/image542.bin" Id="rId1168" /><Relationship Type="http://schemas.openxmlformats.org/officeDocument/2006/relationships/image" Target="/ppt/media/image543.bin" Id="rId1170" /><Relationship Type="http://schemas.openxmlformats.org/officeDocument/2006/relationships/image" Target="/ppt/media/image544.bin" Id="rId1172" /><Relationship Type="http://schemas.openxmlformats.org/officeDocument/2006/relationships/image" Target="/ppt/media/image545.bin" Id="rId117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176" /><Relationship Type="http://schemas.openxmlformats.org/officeDocument/2006/relationships/image" Target="/ppt/media/image546.bin" Id="rId1178" /><Relationship Type="http://schemas.openxmlformats.org/officeDocument/2006/relationships/image" Target="/ppt/media/image547.bin" Id="rId1180" /><Relationship Type="http://schemas.openxmlformats.org/officeDocument/2006/relationships/image" Target="/ppt/media/image548.bin" Id="rId1182" /><Relationship Type="http://schemas.openxmlformats.org/officeDocument/2006/relationships/image" Target="/ppt/media/image549.bin" Id="rId1184" /><Relationship Type="http://schemas.openxmlformats.org/officeDocument/2006/relationships/image" Target="/ppt/media/image550.bin" Id="rId1186" /><Relationship Type="http://schemas.openxmlformats.org/officeDocument/2006/relationships/image" Target="/ppt/media/image551.bin" Id="rId1188" /><Relationship Type="http://schemas.openxmlformats.org/officeDocument/2006/relationships/image" Target="/ppt/media/image552.bin" Id="rId1190" /><Relationship Type="http://schemas.openxmlformats.org/officeDocument/2006/relationships/image" Target="/ppt/media/image553.bin" Id="rId1192" /><Relationship Type="http://schemas.openxmlformats.org/officeDocument/2006/relationships/image" Target="/ppt/media/image554.bin" Id="rId119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196" /><Relationship Type="http://schemas.openxmlformats.org/officeDocument/2006/relationships/image" Target="/ppt/media/image555.bin" Id="rId1198" /><Relationship Type="http://schemas.openxmlformats.org/officeDocument/2006/relationships/image" Target="/ppt/media/image556.bin" Id="rId1200" /><Relationship Type="http://schemas.openxmlformats.org/officeDocument/2006/relationships/image" Target="/ppt/media/image557.bin" Id="rId1202" /><Relationship Type="http://schemas.openxmlformats.org/officeDocument/2006/relationships/image" Target="/ppt/media/image558.bin" Id="rId1204" /><Relationship Type="http://schemas.openxmlformats.org/officeDocument/2006/relationships/image" Target="/ppt/media/image559.bin" Id="rId1206" /><Relationship Type="http://schemas.openxmlformats.org/officeDocument/2006/relationships/image" Target="/ppt/media/image560.bin" Id="rId1208" /><Relationship Type="http://schemas.openxmlformats.org/officeDocument/2006/relationships/image" Target="/ppt/media/image561.bin" Id="rId1210" /><Relationship Type="http://schemas.openxmlformats.org/officeDocument/2006/relationships/image" Target="/ppt/media/image562.bin" Id="rId1212" /><Relationship Type="http://schemas.openxmlformats.org/officeDocument/2006/relationships/image" Target="/ppt/media/image563.bin" Id="rId121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216" /><Relationship Type="http://schemas.openxmlformats.org/officeDocument/2006/relationships/image" Target="/ppt/media/image564.bin" Id="rId1218" /><Relationship Type="http://schemas.openxmlformats.org/officeDocument/2006/relationships/image" Target="/ppt/media/image565.bin" Id="rId1220" /><Relationship Type="http://schemas.openxmlformats.org/officeDocument/2006/relationships/image" Target="/ppt/media/image566.bin" Id="rId1222" /><Relationship Type="http://schemas.openxmlformats.org/officeDocument/2006/relationships/image" Target="/ppt/media/image567.bin" Id="rId1224" /><Relationship Type="http://schemas.openxmlformats.org/officeDocument/2006/relationships/image" Target="/ppt/media/image568.bin" Id="rId1226" /><Relationship Type="http://schemas.openxmlformats.org/officeDocument/2006/relationships/image" Target="/ppt/media/image569.bin" Id="rId1228" /><Relationship Type="http://schemas.openxmlformats.org/officeDocument/2006/relationships/image" Target="/ppt/media/image570.bin" Id="rId1230" /><Relationship Type="http://schemas.openxmlformats.org/officeDocument/2006/relationships/image" Target="/ppt/media/image571.bin" Id="rId1232" /><Relationship Type="http://schemas.openxmlformats.org/officeDocument/2006/relationships/image" Target="/ppt/media/image572.bin" Id="rId123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236" /><Relationship Type="http://schemas.openxmlformats.org/officeDocument/2006/relationships/image" Target="/ppt/media/image573.bin" Id="rId1238" /><Relationship Type="http://schemas.openxmlformats.org/officeDocument/2006/relationships/image" Target="/ppt/media/image574.bin" Id="rId1240" /><Relationship Type="http://schemas.openxmlformats.org/officeDocument/2006/relationships/image" Target="/ppt/media/image575.bin" Id="rId1242" /><Relationship Type="http://schemas.openxmlformats.org/officeDocument/2006/relationships/image" Target="/ppt/media/image576.bin" Id="rId1244" /><Relationship Type="http://schemas.openxmlformats.org/officeDocument/2006/relationships/image" Target="/ppt/media/image577.bin" Id="rId1246" /><Relationship Type="http://schemas.openxmlformats.org/officeDocument/2006/relationships/image" Target="/ppt/media/image578.bin" Id="rId1248" /><Relationship Type="http://schemas.openxmlformats.org/officeDocument/2006/relationships/image" Target="/ppt/media/image579.bin" Id="rId1250" /><Relationship Type="http://schemas.openxmlformats.org/officeDocument/2006/relationships/image" Target="/ppt/media/image580.bin" Id="rId1252" /><Relationship Type="http://schemas.openxmlformats.org/officeDocument/2006/relationships/image" Target="/ppt/media/image581.bin" Id="rId125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256" /><Relationship Type="http://schemas.openxmlformats.org/officeDocument/2006/relationships/image" Target="/ppt/media/image582.bin" Id="rId1258" /><Relationship Type="http://schemas.openxmlformats.org/officeDocument/2006/relationships/image" Target="/ppt/media/image583.bin" Id="rId1260" /><Relationship Type="http://schemas.openxmlformats.org/officeDocument/2006/relationships/image" Target="/ppt/media/image584.bin" Id="rId1262" /><Relationship Type="http://schemas.openxmlformats.org/officeDocument/2006/relationships/image" Target="/ppt/media/image585.bin" Id="rId1264" /><Relationship Type="http://schemas.openxmlformats.org/officeDocument/2006/relationships/image" Target="/ppt/media/image586.bin" Id="rId1266" /><Relationship Type="http://schemas.openxmlformats.org/officeDocument/2006/relationships/image" Target="/ppt/media/image587.bin" Id="rId1268" /><Relationship Type="http://schemas.openxmlformats.org/officeDocument/2006/relationships/image" Target="/ppt/media/image588.bin" Id="rId1270" /><Relationship Type="http://schemas.openxmlformats.org/officeDocument/2006/relationships/image" Target="/ppt/media/image589.bin" Id="rId1272" /><Relationship Type="http://schemas.openxmlformats.org/officeDocument/2006/relationships/image" Target="/ppt/media/image590.bin" Id="rId127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276" /><Relationship Type="http://schemas.openxmlformats.org/officeDocument/2006/relationships/image" Target="/ppt/media/image591.bin" Id="rId1278" /><Relationship Type="http://schemas.openxmlformats.org/officeDocument/2006/relationships/image" Target="/ppt/media/image592.bin" Id="rId1280" /><Relationship Type="http://schemas.openxmlformats.org/officeDocument/2006/relationships/image" Target="/ppt/media/image593.bin" Id="rId1282" /><Relationship Type="http://schemas.openxmlformats.org/officeDocument/2006/relationships/image" Target="/ppt/media/image594.bin" Id="rId1284" /><Relationship Type="http://schemas.openxmlformats.org/officeDocument/2006/relationships/image" Target="/ppt/media/image595.bin" Id="rId1286" /><Relationship Type="http://schemas.openxmlformats.org/officeDocument/2006/relationships/image" Target="/ppt/media/image596.bin" Id="rId1288" /><Relationship Type="http://schemas.openxmlformats.org/officeDocument/2006/relationships/image" Target="/ppt/media/image597.bin" Id="rId1290" /><Relationship Type="http://schemas.openxmlformats.org/officeDocument/2006/relationships/image" Target="/ppt/media/image598.bin" Id="rId1292" /><Relationship Type="http://schemas.openxmlformats.org/officeDocument/2006/relationships/image" Target="/ppt/media/image599.bin" Id="rId1294" /><Relationship Type="http://schemas.openxmlformats.org/officeDocument/2006/relationships/image" Target="/ppt/media/image600.bin" Id="rId1296" /><Relationship Type="http://schemas.openxmlformats.org/officeDocument/2006/relationships/image" Target="/ppt/media/image601.bin" Id="rId129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299" /><Relationship Type="http://schemas.openxmlformats.org/officeDocument/2006/relationships/image" Target="/ppt/media/image602.bin" Id="rId1301" /><Relationship Type="http://schemas.openxmlformats.org/officeDocument/2006/relationships/image" Target="/ppt/media/image603.bin" Id="rId1303" /><Relationship Type="http://schemas.openxmlformats.org/officeDocument/2006/relationships/image" Target="/ppt/media/image604.bin" Id="rId1305" /><Relationship Type="http://schemas.openxmlformats.org/officeDocument/2006/relationships/image" Target="/ppt/media/image605.bin" Id="rId1307" /><Relationship Type="http://schemas.openxmlformats.org/officeDocument/2006/relationships/image" Target="/ppt/media/image606.bin" Id="rId1309" /><Relationship Type="http://schemas.openxmlformats.org/officeDocument/2006/relationships/image" Target="/ppt/media/image607.bin" Id="rId1311" /><Relationship Type="http://schemas.openxmlformats.org/officeDocument/2006/relationships/image" Target="/ppt/media/image608.bin" Id="rId1313" /><Relationship Type="http://schemas.openxmlformats.org/officeDocument/2006/relationships/image" Target="/ppt/media/image609.bin" Id="rId1315" /><Relationship Type="http://schemas.openxmlformats.org/officeDocument/2006/relationships/image" Target="/ppt/media/image610.bin" Id="rId131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319" /><Relationship Type="http://schemas.openxmlformats.org/officeDocument/2006/relationships/image" Target="/ppt/media/image611.bin" Id="rId1321" /><Relationship Type="http://schemas.openxmlformats.org/officeDocument/2006/relationships/image" Target="/ppt/media/image612.bin" Id="rId1323" /><Relationship Type="http://schemas.openxmlformats.org/officeDocument/2006/relationships/image" Target="/ppt/media/image613.bin" Id="rId1325" /><Relationship Type="http://schemas.openxmlformats.org/officeDocument/2006/relationships/image" Target="/ppt/media/image614.bin" Id="rId1327" /><Relationship Type="http://schemas.openxmlformats.org/officeDocument/2006/relationships/image" Target="/ppt/media/image615.bin" Id="rId1329" /><Relationship Type="http://schemas.openxmlformats.org/officeDocument/2006/relationships/image" Target="/ppt/media/image616.bin" Id="rId1331" /><Relationship Type="http://schemas.openxmlformats.org/officeDocument/2006/relationships/image" Target="/ppt/media/image617.bin" Id="rId1333" /><Relationship Type="http://schemas.openxmlformats.org/officeDocument/2006/relationships/image" Target="/ppt/media/image618.bin" Id="rId1335" /><Relationship Type="http://schemas.openxmlformats.org/officeDocument/2006/relationships/image" Target="/ppt/media/image619.bin" Id="rId133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339" /><Relationship Type="http://schemas.openxmlformats.org/officeDocument/2006/relationships/image" Target="/ppt/media/image620.bin" Id="rId1341" /><Relationship Type="http://schemas.openxmlformats.org/officeDocument/2006/relationships/image" Target="/ppt/media/image621.bin" Id="rId1343" /><Relationship Type="http://schemas.openxmlformats.org/officeDocument/2006/relationships/image" Target="/ppt/media/image622.bin" Id="rId1345" /><Relationship Type="http://schemas.openxmlformats.org/officeDocument/2006/relationships/image" Target="/ppt/media/image623.bin" Id="rId1347" /><Relationship Type="http://schemas.openxmlformats.org/officeDocument/2006/relationships/image" Target="/ppt/media/image624.bin" Id="rId134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350" /><Relationship Type="http://schemas.openxmlformats.org/officeDocument/2006/relationships/image" Target="/ppt/media/image625.bin" Id="rId1352" /><Relationship Type="http://schemas.openxmlformats.org/officeDocument/2006/relationships/image" Target="/ppt/media/image626.bin" Id="rId1354" /><Relationship Type="http://schemas.openxmlformats.org/officeDocument/2006/relationships/image" Target="/ppt/media/image627.bin" Id="rId1356" /><Relationship Type="http://schemas.openxmlformats.org/officeDocument/2006/relationships/image" Target="/ppt/media/image628.bin" Id="rId135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360" /><Relationship Type="http://schemas.openxmlformats.org/officeDocument/2006/relationships/image" Target="/ppt/media/image629.bin" Id="rId1362" /><Relationship Type="http://schemas.openxmlformats.org/officeDocument/2006/relationships/image" Target="/ppt/media/image630.bin" Id="rId1364" /><Relationship Type="http://schemas.openxmlformats.org/officeDocument/2006/relationships/image" Target="/ppt/media/image631.bin" Id="rId1366" /><Relationship Type="http://schemas.openxmlformats.org/officeDocument/2006/relationships/image" Target="/ppt/media/image632.bin" Id="rId136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370" /><Relationship Type="http://schemas.openxmlformats.org/officeDocument/2006/relationships/image" Target="/ppt/media/image633.bin" Id="rId1372" /><Relationship Type="http://schemas.openxmlformats.org/officeDocument/2006/relationships/image" Target="/ppt/media/image634.bin" Id="rId1374" /><Relationship Type="http://schemas.openxmlformats.org/officeDocument/2006/relationships/image" Target="/ppt/media/image635.bin" Id="rId1376" /><Relationship Type="http://schemas.openxmlformats.org/officeDocument/2006/relationships/image" Target="/ppt/media/image636.bin" Id="rId1378" /><Relationship Type="http://schemas.openxmlformats.org/officeDocument/2006/relationships/image" Target="/ppt/media/image637.bin" Id="rId1380" /><Relationship Type="http://schemas.openxmlformats.org/officeDocument/2006/relationships/image" Target="/ppt/media/image638.bin" Id="rId1382" /><Relationship Type="http://schemas.openxmlformats.org/officeDocument/2006/relationships/image" Target="/ppt/media/image639.bin" Id="rId1384" /><Relationship Type="http://schemas.openxmlformats.org/officeDocument/2006/relationships/image" Target="/ppt/media/image640.bin" Id="rId1386" /><Relationship Type="http://schemas.openxmlformats.org/officeDocument/2006/relationships/image" Target="/ppt/media/image641.bin" Id="rId1388" /><Relationship Type="http://schemas.openxmlformats.org/officeDocument/2006/relationships/image" Target="/ppt/media/image642.bin" Id="rId1390" /><Relationship Type="http://schemas.openxmlformats.org/officeDocument/2006/relationships/image" Target="/ppt/media/image643.bin" Id="rId1392" /><Relationship Type="http://schemas.openxmlformats.org/officeDocument/2006/relationships/image" Target="/ppt/media/image644.bin" Id="rId1394" /><Relationship Type="http://schemas.openxmlformats.org/officeDocument/2006/relationships/image" Target="/ppt/media/image645.bin" Id="rId1396" /><Relationship Type="http://schemas.openxmlformats.org/officeDocument/2006/relationships/image" Target="/ppt/media/image646.bin" Id="rId1398" /><Relationship Type="http://schemas.openxmlformats.org/officeDocument/2006/relationships/image" Target="/ppt/media/image647.bin" Id="rId1400" /><Relationship Type="http://schemas.openxmlformats.org/officeDocument/2006/relationships/image" Target="/ppt/media/image648.bin" Id="rId1402" /><Relationship Type="http://schemas.openxmlformats.org/officeDocument/2006/relationships/image" Target="/ppt/media/image649.bin" Id="rId1404" /><Relationship Type="http://schemas.openxmlformats.org/officeDocument/2006/relationships/image" Target="/ppt/media/image650.bin" Id="rId1406" /><Relationship Type="http://schemas.openxmlformats.org/officeDocument/2006/relationships/image" Target="/ppt/media/image651.bin" Id="rId1408" /><Relationship Type="http://schemas.openxmlformats.org/officeDocument/2006/relationships/image" Target="/ppt/media/image652.bin" Id="rId1410" /><Relationship Type="http://schemas.openxmlformats.org/officeDocument/2006/relationships/image" Target="/ppt/media/image653.bin" Id="rId1412" /><Relationship Type="http://schemas.openxmlformats.org/officeDocument/2006/relationships/image" Target="/ppt/media/image654.bin" Id="rId1414" /><Relationship Type="http://schemas.openxmlformats.org/officeDocument/2006/relationships/image" Target="/ppt/media/image655.bin" Id="rId1416" /><Relationship Type="http://schemas.openxmlformats.org/officeDocument/2006/relationships/image" Target="/ppt/media/image656.bin" Id="rId1418" /><Relationship Type="http://schemas.openxmlformats.org/officeDocument/2006/relationships/image" Target="/ppt/media/image657.bin" Id="rId1420" /><Relationship Type="http://schemas.openxmlformats.org/officeDocument/2006/relationships/image" Target="/ppt/media/image658.bin" Id="rId1422" /><Relationship Type="http://schemas.openxmlformats.org/officeDocument/2006/relationships/image" Target="/ppt/media/image659.bin" Id="rId1424" /><Relationship Type="http://schemas.openxmlformats.org/officeDocument/2006/relationships/image" Target="/ppt/media/image660.bin" Id="rId142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428" /><Relationship Type="http://schemas.openxmlformats.org/officeDocument/2006/relationships/image" Target="/ppt/media/image661.bin" Id="rId1430" /><Relationship Type="http://schemas.openxmlformats.org/officeDocument/2006/relationships/image" Target="/ppt/media/image662.bin" Id="rId1432" /><Relationship Type="http://schemas.openxmlformats.org/officeDocument/2006/relationships/image" Target="/ppt/media/image663.bin" Id="rId1434" /><Relationship Type="http://schemas.openxmlformats.org/officeDocument/2006/relationships/image" Target="/ppt/media/image664.bin" Id="rId1436" /><Relationship Type="http://schemas.openxmlformats.org/officeDocument/2006/relationships/image" Target="/ppt/media/image665.bin" Id="rId1438" /><Relationship Type="http://schemas.openxmlformats.org/officeDocument/2006/relationships/image" Target="/ppt/media/image666.bin" Id="rId1439" /><Relationship Type="http://schemas.openxmlformats.org/officeDocument/2006/relationships/image" Target="/ppt/media/image667.bin" Id="rId1441" /><Relationship Type="http://schemas.openxmlformats.org/officeDocument/2006/relationships/image" Target="/ppt/media/image668.bin" Id="rId1443" /><Relationship Type="http://schemas.openxmlformats.org/officeDocument/2006/relationships/image" Target="/ppt/media/image669.bin" Id="rId1445" /><Relationship Type="http://schemas.openxmlformats.org/officeDocument/2006/relationships/image" Target="/ppt/media/image670.bin" Id="rId1446" /><Relationship Type="http://schemas.openxmlformats.org/officeDocument/2006/relationships/image" Target="/ppt/media/image671.bin" Id="rId1448" /><Relationship Type="http://schemas.openxmlformats.org/officeDocument/2006/relationships/image" Target="/ppt/media/image672.bin" Id="rId1450" /><Relationship Type="http://schemas.openxmlformats.org/officeDocument/2006/relationships/image" Target="/ppt/media/image673.bin" Id="rId1452" /><Relationship Type="http://schemas.openxmlformats.org/officeDocument/2006/relationships/image" Target="/ppt/media/image674.bin" Id="rId1453" /><Relationship Type="http://schemas.openxmlformats.org/officeDocument/2006/relationships/image" Target="/ppt/media/image675.bin" Id="rId1455" /><Relationship Type="http://schemas.openxmlformats.org/officeDocument/2006/relationships/image" Target="/ppt/media/image676.bin" Id="rId1457" /><Relationship Type="http://schemas.openxmlformats.org/officeDocument/2006/relationships/image" Target="/ppt/media/image677.bin" Id="rId145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461" /><Relationship Type="http://schemas.openxmlformats.org/officeDocument/2006/relationships/image" Target="/ppt/media/image678.bin" Id="rId1463" /><Relationship Type="http://schemas.openxmlformats.org/officeDocument/2006/relationships/image" Target="/ppt/media/image679.bin" Id="rId1465" /><Relationship Type="http://schemas.openxmlformats.org/officeDocument/2006/relationships/image" Target="/ppt/media/image680.bin" Id="rId1467" /><Relationship Type="http://schemas.openxmlformats.org/officeDocument/2006/relationships/image" Target="/ppt/media/image681.bin" Id="rId1469" /><Relationship Type="http://schemas.openxmlformats.org/officeDocument/2006/relationships/image" Target="/ppt/media/image682.bin" Id="rId1471" /><Relationship Type="http://schemas.openxmlformats.org/officeDocument/2006/relationships/image" Target="/ppt/media/image683.bin" Id="rId1472" /><Relationship Type="http://schemas.openxmlformats.org/officeDocument/2006/relationships/image" Target="/ppt/media/image684.bin" Id="rId1474" /><Relationship Type="http://schemas.openxmlformats.org/officeDocument/2006/relationships/image" Target="/ppt/media/image685.bin" Id="rId1476" /><Relationship Type="http://schemas.openxmlformats.org/officeDocument/2006/relationships/image" Target="/ppt/media/image686.bin" Id="rId147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480" /><Relationship Type="http://schemas.openxmlformats.org/officeDocument/2006/relationships/image" Target="/ppt/media/image687.bin" Id="rId1482" /><Relationship Type="http://schemas.openxmlformats.org/officeDocument/2006/relationships/image" Target="/ppt/media/image688.bin" Id="rId1484" /><Relationship Type="http://schemas.openxmlformats.org/officeDocument/2006/relationships/image" Target="/ppt/media/image689.bin" Id="rId1486" /><Relationship Type="http://schemas.openxmlformats.org/officeDocument/2006/relationships/image" Target="/ppt/media/image690.bin" Id="rId1488" /><Relationship Type="http://schemas.openxmlformats.org/officeDocument/2006/relationships/image" Target="/ppt/media/image691.bin" Id="rId1490" /><Relationship Type="http://schemas.openxmlformats.org/officeDocument/2006/relationships/image" Target="/ppt/media/image692.bin" Id="rId1491" /><Relationship Type="http://schemas.openxmlformats.org/officeDocument/2006/relationships/image" Target="/ppt/media/image693.bin" Id="rId1493" /><Relationship Type="http://schemas.openxmlformats.org/officeDocument/2006/relationships/image" Target="/ppt/media/image694.bin" Id="rId1495" /><Relationship Type="http://schemas.openxmlformats.org/officeDocument/2006/relationships/image" Target="/ppt/media/image695.bin" Id="rId1497" /><Relationship Type="http://schemas.openxmlformats.org/officeDocument/2006/relationships/image" Target="/ppt/media/image696.bin" Id="rId1498" /><Relationship Type="http://schemas.openxmlformats.org/officeDocument/2006/relationships/image" Target="/ppt/media/image697.bin" Id="rId1500" /><Relationship Type="http://schemas.openxmlformats.org/officeDocument/2006/relationships/image" Target="/ppt/media/image698.bin" Id="rId1502" /><Relationship Type="http://schemas.openxmlformats.org/officeDocument/2006/relationships/image" Target="/ppt/media/image699.bin" Id="rId1504" /><Relationship Type="http://schemas.openxmlformats.org/officeDocument/2006/relationships/image" Target="/ppt/media/image700.bin" Id="rId1505" /><Relationship Type="http://schemas.openxmlformats.org/officeDocument/2006/relationships/image" Target="/ppt/media/image701.bin" Id="rId1507" /><Relationship Type="http://schemas.openxmlformats.org/officeDocument/2006/relationships/image" Target="/ppt/media/image702.bin" Id="rId1509" /><Relationship Type="http://schemas.openxmlformats.org/officeDocument/2006/relationships/image" Target="/ppt/media/image703.bin" Id="rId151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513" /><Relationship Type="http://schemas.openxmlformats.org/officeDocument/2006/relationships/image" Target="/ppt/media/image704.bin" Id="rId1515" /><Relationship Type="http://schemas.openxmlformats.org/officeDocument/2006/relationships/image" Target="/ppt/media/image705.bin" Id="rId1517" /><Relationship Type="http://schemas.openxmlformats.org/officeDocument/2006/relationships/image" Target="/ppt/media/image706.bin" Id="rId1519" /><Relationship Type="http://schemas.openxmlformats.org/officeDocument/2006/relationships/image" Target="/ppt/media/image707.bin" Id="rId1521" /><Relationship Type="http://schemas.openxmlformats.org/officeDocument/2006/relationships/image" Target="/ppt/media/image708.bin" Id="rId1523" /><Relationship Type="http://schemas.openxmlformats.org/officeDocument/2006/relationships/image" Target="/ppt/media/image709.bin" Id="rId1524" /><Relationship Type="http://schemas.openxmlformats.org/officeDocument/2006/relationships/image" Target="/ppt/media/image710.bin" Id="rId1526" /><Relationship Type="http://schemas.openxmlformats.org/officeDocument/2006/relationships/image" Target="/ppt/media/image711.bin" Id="rId1528" /><Relationship Type="http://schemas.openxmlformats.org/officeDocument/2006/relationships/image" Target="/ppt/media/image712.bin" Id="rId1530" /><Relationship Type="http://schemas.openxmlformats.org/officeDocument/2006/relationships/image" Target="/ppt/media/image713.bin" Id="rId1531" /><Relationship Type="http://schemas.openxmlformats.org/officeDocument/2006/relationships/image" Target="/ppt/media/image714.bin" Id="rId1533" /><Relationship Type="http://schemas.openxmlformats.org/officeDocument/2006/relationships/image" Target="/ppt/media/image715.bin" Id="rId1535" /><Relationship Type="http://schemas.openxmlformats.org/officeDocument/2006/relationships/image" Target="/ppt/media/image716.bin" Id="rId1537" /><Relationship Type="http://schemas.openxmlformats.org/officeDocument/2006/relationships/image" Target="/ppt/media/image717.bin" Id="rId1539" /><Relationship Type="http://schemas.openxmlformats.org/officeDocument/2006/relationships/image" Target="/ppt/media/image718.bin" Id="rId1541" /><Relationship Type="http://schemas.openxmlformats.org/officeDocument/2006/relationships/image" Target="/ppt/media/image719.bin" Id="rId1543" /><Relationship Type="http://schemas.openxmlformats.org/officeDocument/2006/relationships/image" Target="/ppt/media/image720.bin" Id="rId1545" /><Relationship Type="http://schemas.openxmlformats.org/officeDocument/2006/relationships/image" Target="/ppt/media/image721.bin" Id="rId1546" /><Relationship Type="http://schemas.openxmlformats.org/officeDocument/2006/relationships/image" Target="/ppt/media/image722.bin" Id="rId1548" /><Relationship Type="http://schemas.openxmlformats.org/officeDocument/2006/relationships/image" Target="/ppt/media/image723.bin" Id="rId1550" /><Relationship Type="http://schemas.openxmlformats.org/officeDocument/2006/relationships/image" Target="/ppt/media/image724.bin" Id="rId1552" /><Relationship Type="http://schemas.openxmlformats.org/officeDocument/2006/relationships/image" Target="/ppt/media/image725.bin" Id="rId1554" /><Relationship Type="http://schemas.openxmlformats.org/officeDocument/2006/relationships/image" Target="/ppt/media/image726.bin" Id="rId155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558" /><Relationship Type="http://schemas.openxmlformats.org/officeDocument/2006/relationships/image" Target="/ppt/media/image727.bin" Id="rId1560" /><Relationship Type="http://schemas.openxmlformats.org/officeDocument/2006/relationships/image" Target="/ppt/media/image728.bin" Id="rId1562" /><Relationship Type="http://schemas.openxmlformats.org/officeDocument/2006/relationships/image" Target="/ppt/media/image729.bin" Id="rId1564" /><Relationship Type="http://schemas.openxmlformats.org/officeDocument/2006/relationships/image" Target="/ppt/media/image730.bin" Id="rId1566" /><Relationship Type="http://schemas.openxmlformats.org/officeDocument/2006/relationships/image" Target="/ppt/media/image731.bin" Id="rId1568" /><Relationship Type="http://schemas.openxmlformats.org/officeDocument/2006/relationships/image" Target="/ppt/media/image732.bin" Id="rId1570" /><Relationship Type="http://schemas.openxmlformats.org/officeDocument/2006/relationships/image" Target="/ppt/media/image733.bin" Id="rId1572" /><Relationship Type="http://schemas.openxmlformats.org/officeDocument/2006/relationships/image" Target="/ppt/media/image734.bin" Id="rId1574" /><Relationship Type="http://schemas.openxmlformats.org/officeDocument/2006/relationships/image" Target="/ppt/media/image735.bin" Id="rId1576" /><Relationship Type="http://schemas.openxmlformats.org/officeDocument/2006/relationships/image" Target="/ppt/media/image736.bin" Id="rId1578" /><Relationship Type="http://schemas.openxmlformats.org/officeDocument/2006/relationships/image" Target="/ppt/media/image737.bin" Id="rId1580" /><Relationship Type="http://schemas.openxmlformats.org/officeDocument/2006/relationships/image" Target="/ppt/media/image738.bin" Id="rId1582" /><Relationship Type="http://schemas.openxmlformats.org/officeDocument/2006/relationships/image" Target="/ppt/media/image739.bin" Id="rId1584" /><Relationship Type="http://schemas.openxmlformats.org/officeDocument/2006/relationships/image" Target="/ppt/media/image740.bin" Id="rId1586" /><Relationship Type="http://schemas.openxmlformats.org/officeDocument/2006/relationships/image" Target="/ppt/media/image741.bin" Id="rId1588" /><Relationship Type="http://schemas.openxmlformats.org/officeDocument/2006/relationships/image" Target="/ppt/media/image742.bin" Id="rId1590" /><Relationship Type="http://schemas.openxmlformats.org/officeDocument/2006/relationships/image" Target="/ppt/media/image743.bin" Id="rId1592" /><Relationship Type="http://schemas.openxmlformats.org/officeDocument/2006/relationships/image" Target="/ppt/media/image744.bin" Id="rId1594" /><Relationship Type="http://schemas.openxmlformats.org/officeDocument/2006/relationships/image" Target="/ppt/media/image745.bin" Id="rId1596" /><Relationship Type="http://schemas.openxmlformats.org/officeDocument/2006/relationships/image" Target="/ppt/media/image746.bin" Id="rId1598" /><Relationship Type="http://schemas.openxmlformats.org/officeDocument/2006/relationships/image" Target="/ppt/media/image747.bin" Id="rId1600" /><Relationship Type="http://schemas.openxmlformats.org/officeDocument/2006/relationships/image" Target="/ppt/media/image748.bin" Id="rId1602" /><Relationship Type="http://schemas.openxmlformats.org/officeDocument/2006/relationships/image" Target="/ppt/media/image749.bin" Id="rId1604" /><Relationship Type="http://schemas.openxmlformats.org/officeDocument/2006/relationships/image" Target="/ppt/media/image750.bin" Id="rId1606" /><Relationship Type="http://schemas.openxmlformats.org/officeDocument/2006/relationships/image" Target="/ppt/media/image751.bin" Id="rId1608" /><Relationship Type="http://schemas.openxmlformats.org/officeDocument/2006/relationships/image" Target="/ppt/media/image752.bin" Id="rId1610" /><Relationship Type="http://schemas.openxmlformats.org/officeDocument/2006/relationships/image" Target="/ppt/media/image753.bin" Id="rId1612" /><Relationship Type="http://schemas.openxmlformats.org/officeDocument/2006/relationships/image" Target="/ppt/media/image754.bin" Id="rId1614" /><Relationship Type="http://schemas.openxmlformats.org/officeDocument/2006/relationships/image" Target="/ppt/media/image755.bin" Id="rId1616" /><Relationship Type="http://schemas.openxmlformats.org/officeDocument/2006/relationships/image" Target="/ppt/media/image756.bin" Id="rId1618" /><Relationship Type="http://schemas.openxmlformats.org/officeDocument/2006/relationships/image" Target="/ppt/media/image757.bin" Id="rId1620" /><Relationship Type="http://schemas.openxmlformats.org/officeDocument/2006/relationships/image" Target="/ppt/media/image758.bin" Id="rId1622" /><Relationship Type="http://schemas.openxmlformats.org/officeDocument/2006/relationships/image" Target="/ppt/media/image759.bin" Id="rId1624" /><Relationship Type="http://schemas.openxmlformats.org/officeDocument/2006/relationships/image" Target="/ppt/media/image760.bin" Id="rId1626" /><Relationship Type="http://schemas.openxmlformats.org/officeDocument/2006/relationships/image" Target="/ppt/media/image761.bin" Id="rId1628" /><Relationship Type="http://schemas.openxmlformats.org/officeDocument/2006/relationships/image" Target="/ppt/media/image762.bin" Id="rId1630" /><Relationship Type="http://schemas.openxmlformats.org/officeDocument/2006/relationships/image" Target="/ppt/media/image763.bin" Id="rId1632" /><Relationship Type="http://schemas.openxmlformats.org/officeDocument/2006/relationships/image" Target="/ppt/media/image764.bin" Id="rId1634" /><Relationship Type="http://schemas.openxmlformats.org/officeDocument/2006/relationships/image" Target="/ppt/media/image765.bin" Id="rId1636" /><Relationship Type="http://schemas.openxmlformats.org/officeDocument/2006/relationships/image" Target="/ppt/media/image766.bin" Id="rId163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640" /><Relationship Type="http://schemas.openxmlformats.org/officeDocument/2006/relationships/image" Target="/ppt/media/image767.bin" Id="rId1642" /><Relationship Type="http://schemas.openxmlformats.org/officeDocument/2006/relationships/image" Target="/ppt/media/image768.bin" Id="rId1644" /><Relationship Type="http://schemas.openxmlformats.org/officeDocument/2006/relationships/image" Target="/ppt/media/image769.bin" Id="rId1646" /><Relationship Type="http://schemas.openxmlformats.org/officeDocument/2006/relationships/image" Target="/ppt/media/image770.bin" Id="rId1648" /><Relationship Type="http://schemas.openxmlformats.org/officeDocument/2006/relationships/image" Target="/ppt/media/image771.bin" Id="rId1650" /><Relationship Type="http://schemas.openxmlformats.org/officeDocument/2006/relationships/image" Target="/ppt/media/image772.bin" Id="rId1652" /><Relationship Type="http://schemas.openxmlformats.org/officeDocument/2006/relationships/image" Target="/ppt/media/image773.bin" Id="rId1654" /><Relationship Type="http://schemas.openxmlformats.org/officeDocument/2006/relationships/image" Target="/ppt/media/image774.bin" Id="rId1656" /><Relationship Type="http://schemas.openxmlformats.org/officeDocument/2006/relationships/image" Target="/ppt/media/image775.bin" Id="rId1658" /><Relationship Type="http://schemas.openxmlformats.org/officeDocument/2006/relationships/image" Target="/ppt/media/image776.bin" Id="rId1660" /><Relationship Type="http://schemas.openxmlformats.org/officeDocument/2006/relationships/image" Target="/ppt/media/image777.bin" Id="rId1662" /><Relationship Type="http://schemas.openxmlformats.org/officeDocument/2006/relationships/image" Target="/ppt/media/image778.bin" Id="rId1664" /><Relationship Type="http://schemas.openxmlformats.org/officeDocument/2006/relationships/image" Target="/ppt/media/image779.bin" Id="rId1666" /><Relationship Type="http://schemas.openxmlformats.org/officeDocument/2006/relationships/image" Target="/ppt/media/image780.bin" Id="rId1668" /><Relationship Type="http://schemas.openxmlformats.org/officeDocument/2006/relationships/image" Target="/ppt/media/image781.bin" Id="rId1670" /><Relationship Type="http://schemas.openxmlformats.org/officeDocument/2006/relationships/image" Target="/ppt/media/image782.bin" Id="rId1672" /><Relationship Type="http://schemas.openxmlformats.org/officeDocument/2006/relationships/image" Target="/ppt/media/image783.bin" Id="rId1674" /><Relationship Type="http://schemas.openxmlformats.org/officeDocument/2006/relationships/image" Target="/ppt/media/image784.bin" Id="rId1676" /><Relationship Type="http://schemas.openxmlformats.org/officeDocument/2006/relationships/image" Target="/ppt/media/image785.bin" Id="rId1678" /><Relationship Type="http://schemas.openxmlformats.org/officeDocument/2006/relationships/image" Target="/ppt/media/image786.bin" Id="rId1680" /><Relationship Type="http://schemas.openxmlformats.org/officeDocument/2006/relationships/image" Target="/ppt/media/image787.bin" Id="rId1682" /><Relationship Type="http://schemas.openxmlformats.org/officeDocument/2006/relationships/image" Target="/ppt/media/image788.bin" Id="rId1684" /><Relationship Type="http://schemas.openxmlformats.org/officeDocument/2006/relationships/image" Target="/ppt/media/image789.bin" Id="rId1686" /><Relationship Type="http://schemas.openxmlformats.org/officeDocument/2006/relationships/image" Target="/ppt/media/image790.bin" Id="rId1688" /><Relationship Type="http://schemas.openxmlformats.org/officeDocument/2006/relationships/image" Target="/ppt/media/image791.bin" Id="rId1690" /><Relationship Type="http://schemas.openxmlformats.org/officeDocument/2006/relationships/image" Target="/ppt/media/image792.bin" Id="rId1692" /><Relationship Type="http://schemas.openxmlformats.org/officeDocument/2006/relationships/image" Target="/ppt/media/image793.bin" Id="rId1694" /><Relationship Type="http://schemas.openxmlformats.org/officeDocument/2006/relationships/image" Target="/ppt/media/image794.bin" Id="rId1696" /><Relationship Type="http://schemas.openxmlformats.org/officeDocument/2006/relationships/image" Target="/ppt/media/image795.bin" Id="rId1698" /><Relationship Type="http://schemas.openxmlformats.org/officeDocument/2006/relationships/image" Target="/ppt/media/image796.bin" Id="rId1700" /><Relationship Type="http://schemas.openxmlformats.org/officeDocument/2006/relationships/image" Target="/ppt/media/image797.bin" Id="rId1702" /><Relationship Type="http://schemas.openxmlformats.org/officeDocument/2006/relationships/image" Target="/ppt/media/image798.bin" Id="rId1704" /><Relationship Type="http://schemas.openxmlformats.org/officeDocument/2006/relationships/image" Target="/ppt/media/image799.bin" Id="rId1706" /><Relationship Type="http://schemas.openxmlformats.org/officeDocument/2006/relationships/image" Target="/ppt/media/image800.bin" Id="rId1708" /><Relationship Type="http://schemas.openxmlformats.org/officeDocument/2006/relationships/image" Target="/ppt/media/image801.bin" Id="rId1710" /><Relationship Type="http://schemas.openxmlformats.org/officeDocument/2006/relationships/image" Target="/ppt/media/image802.bin" Id="rId1712" /><Relationship Type="http://schemas.openxmlformats.org/officeDocument/2006/relationships/image" Target="/ppt/media/image803.bin" Id="rId1713" /><Relationship Type="http://schemas.openxmlformats.org/officeDocument/2006/relationships/image" Target="/ppt/media/image804.bin" Id="rId1715" /><Relationship Type="http://schemas.openxmlformats.org/officeDocument/2006/relationships/image" Target="/ppt/media/image805.bin" Id="rId1717" /><Relationship Type="http://schemas.openxmlformats.org/officeDocument/2006/relationships/image" Target="/ppt/media/image806.bin" Id="rId1719" /><Relationship Type="http://schemas.openxmlformats.org/officeDocument/2006/relationships/image" Target="/ppt/media/image807.bin" Id="rId1721" /><Relationship Type="http://schemas.openxmlformats.org/officeDocument/2006/relationships/image" Target="/ppt/media/image808.bin" Id="rId1723" /><Relationship Type="http://schemas.openxmlformats.org/officeDocument/2006/relationships/image" Target="/ppt/media/image809.bin" Id="rId1725" /><Relationship Type="http://schemas.openxmlformats.org/officeDocument/2006/relationships/image" Target="/ppt/media/image810.bin" Id="rId1727" /><Relationship Type="http://schemas.openxmlformats.org/officeDocument/2006/relationships/image" Target="/ppt/media/image811.bin" Id="rId1729" /><Relationship Type="http://schemas.openxmlformats.org/officeDocument/2006/relationships/image" Target="/ppt/media/image812.bin" Id="rId1731" /><Relationship Type="http://schemas.openxmlformats.org/officeDocument/2006/relationships/image" Target="/ppt/media/image813.bin" Id="rId1732" /><Relationship Type="http://schemas.openxmlformats.org/officeDocument/2006/relationships/image" Target="/ppt/media/image814.bin" Id="rId1734" /><Relationship Type="http://schemas.openxmlformats.org/officeDocument/2006/relationships/image" Target="/ppt/media/image815.bin" Id="rId1736" /><Relationship Type="http://schemas.openxmlformats.org/officeDocument/2006/relationships/image" Target="/ppt/media/image816.bin" Id="rId1738" /><Relationship Type="http://schemas.openxmlformats.org/officeDocument/2006/relationships/image" Target="/ppt/media/image817.bin" Id="rId1740" /><Relationship Type="http://schemas.openxmlformats.org/officeDocument/2006/relationships/image" Target="/ppt/media/image818.bin" Id="rId1742" /><Relationship Type="http://schemas.openxmlformats.org/officeDocument/2006/relationships/image" Target="/ppt/media/image819.bin" Id="rId1744" /><Relationship Type="http://schemas.openxmlformats.org/officeDocument/2006/relationships/image" Target="/ppt/media/image820.bin" Id="rId1746" /><Relationship Type="http://schemas.openxmlformats.org/officeDocument/2006/relationships/image" Target="/ppt/media/image821.bin" Id="rId1748" /><Relationship Type="http://schemas.openxmlformats.org/officeDocument/2006/relationships/image" Target="/ppt/media/image822.bin" Id="rId1750" /><Relationship Type="http://schemas.openxmlformats.org/officeDocument/2006/relationships/image" Target="/ppt/media/image823.bin" Id="rId1751" /><Relationship Type="http://schemas.openxmlformats.org/officeDocument/2006/relationships/image" Target="/ppt/media/image824.bin" Id="rId1753" /><Relationship Type="http://schemas.openxmlformats.org/officeDocument/2006/relationships/image" Target="/ppt/media/image825.bin" Id="rId1755" /><Relationship Type="http://schemas.openxmlformats.org/officeDocument/2006/relationships/image" Target="/ppt/media/image826.bin" Id="rId1757" /><Relationship Type="http://schemas.openxmlformats.org/officeDocument/2006/relationships/image" Target="/ppt/media/image827.bin" Id="rId1759" /><Relationship Type="http://schemas.openxmlformats.org/officeDocument/2006/relationships/image" Target="/ppt/media/image828.bin" Id="rId1761" /><Relationship Type="http://schemas.openxmlformats.org/officeDocument/2006/relationships/image" Target="/ppt/media/image829.bin" Id="rId1763" /><Relationship Type="http://schemas.openxmlformats.org/officeDocument/2006/relationships/image" Target="/ppt/media/image830.bin" Id="rId1765" /><Relationship Type="http://schemas.openxmlformats.org/officeDocument/2006/relationships/image" Target="/ppt/media/image831.bin" Id="rId1767" /><Relationship Type="http://schemas.openxmlformats.org/officeDocument/2006/relationships/image" Target="/ppt/media/image832.bin" Id="rId1769" /><Relationship Type="http://schemas.openxmlformats.org/officeDocument/2006/relationships/image" Target="/ppt/media/image833.bin" Id="rId1770" /><Relationship Type="http://schemas.openxmlformats.org/officeDocument/2006/relationships/image" Target="/ppt/media/image834.bin" Id="rId1772" /><Relationship Type="http://schemas.openxmlformats.org/officeDocument/2006/relationships/image" Target="/ppt/media/image835.bin" Id="rId1774" /><Relationship Type="http://schemas.openxmlformats.org/officeDocument/2006/relationships/image" Target="/ppt/media/image836.bin" Id="rId1776" /><Relationship Type="http://schemas.openxmlformats.org/officeDocument/2006/relationships/image" Target="/ppt/media/image837.bin" Id="rId1778" /><Relationship Type="http://schemas.openxmlformats.org/officeDocument/2006/relationships/image" Target="/ppt/media/image838.bin" Id="rId1780" /><Relationship Type="http://schemas.openxmlformats.org/officeDocument/2006/relationships/image" Target="/ppt/media/image839.bin" Id="rId1782" /><Relationship Type="http://schemas.openxmlformats.org/officeDocument/2006/relationships/image" Target="/ppt/media/image840.bin" Id="rId1784" /><Relationship Type="http://schemas.openxmlformats.org/officeDocument/2006/relationships/image" Target="/ppt/media/image841.bin" Id="rId1786" /><Relationship Type="http://schemas.openxmlformats.org/officeDocument/2006/relationships/image" Target="/ppt/media/image842.bin" Id="rId1788" /><Relationship Type="http://schemas.openxmlformats.org/officeDocument/2006/relationships/image" Target="/ppt/media/image843.bin" Id="rId1789" /><Relationship Type="http://schemas.openxmlformats.org/officeDocument/2006/relationships/image" Target="/ppt/media/image844.bin" Id="rId1791" /><Relationship Type="http://schemas.openxmlformats.org/officeDocument/2006/relationships/image" Target="/ppt/media/image845.bin" Id="rId1793" /><Relationship Type="http://schemas.openxmlformats.org/officeDocument/2006/relationships/image" Target="/ppt/media/image846.bin" Id="rId1795" /><Relationship Type="http://schemas.openxmlformats.org/officeDocument/2006/relationships/image" Target="/ppt/media/image847.bin" Id="rId1797" /><Relationship Type="http://schemas.openxmlformats.org/officeDocument/2006/relationships/image" Target="/ppt/media/image848.bin" Id="rId1799" /><Relationship Type="http://schemas.openxmlformats.org/officeDocument/2006/relationships/image" Target="/ppt/media/image849.bin" Id="rId1801" /><Relationship Type="http://schemas.openxmlformats.org/officeDocument/2006/relationships/image" Target="/ppt/media/image850.bin" Id="rId1803" /><Relationship Type="http://schemas.openxmlformats.org/officeDocument/2006/relationships/image" Target="/ppt/media/image851.bin" Id="rId1805" /><Relationship Type="http://schemas.openxmlformats.org/officeDocument/2006/relationships/image" Target="/ppt/media/image852.bin" Id="rId1807" /><Relationship Type="http://schemas.openxmlformats.org/officeDocument/2006/relationships/image" Target="/ppt/media/image853.bin" Id="rId1808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810" /><Relationship Type="http://schemas.openxmlformats.org/officeDocument/2006/relationships/image" Target="/ppt/media/image854.bin" Id="rId1812" /><Relationship Type="http://schemas.openxmlformats.org/officeDocument/2006/relationships/image" Target="/ppt/media/image855.bin" Id="rId1814" /><Relationship Type="http://schemas.openxmlformats.org/officeDocument/2006/relationships/image" Target="/ppt/media/image856.bin" Id="rId1816" /><Relationship Type="http://schemas.openxmlformats.org/officeDocument/2006/relationships/image" Target="/ppt/media/image857.bin" Id="rId1818" /><Relationship Type="http://schemas.openxmlformats.org/officeDocument/2006/relationships/image" Target="/ppt/media/image858.bin" Id="rId1820" /><Relationship Type="http://schemas.openxmlformats.org/officeDocument/2006/relationships/image" Target="/ppt/media/image859.bin" Id="rId1822" /><Relationship Type="http://schemas.openxmlformats.org/officeDocument/2006/relationships/image" Target="/ppt/media/image860.bin" Id="rId1824" /><Relationship Type="http://schemas.openxmlformats.org/officeDocument/2006/relationships/image" Target="/ppt/media/image861.bin" Id="rId1826" /><Relationship Type="http://schemas.openxmlformats.org/officeDocument/2006/relationships/image" Target="/ppt/media/image862.bin" Id="rId1828" /><Relationship Type="http://schemas.openxmlformats.org/officeDocument/2006/relationships/image" Target="/ppt/media/image863.bin" Id="rId1830" /><Relationship Type="http://schemas.openxmlformats.org/officeDocument/2006/relationships/image" Target="/ppt/media/image864.bin" Id="rId183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833" /><Relationship Type="http://schemas.openxmlformats.org/officeDocument/2006/relationships/image" Target="/ppt/media/image865.bin" Id="rId1835" /><Relationship Type="http://schemas.openxmlformats.org/officeDocument/2006/relationships/image" Target="/ppt/media/image866.bin" Id="rId1837" /><Relationship Type="http://schemas.openxmlformats.org/officeDocument/2006/relationships/image" Target="/ppt/media/image867.bin" Id="rId1839" /><Relationship Type="http://schemas.openxmlformats.org/officeDocument/2006/relationships/image" Target="/ppt/media/image868.bin" Id="rId1841" /><Relationship Type="http://schemas.openxmlformats.org/officeDocument/2006/relationships/image" Target="/ppt/media/image869.bin" Id="rId184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844" /><Relationship Type="http://schemas.openxmlformats.org/officeDocument/2006/relationships/image" Target="/ppt/media/image870.bin" Id="rId1846" /><Relationship Type="http://schemas.openxmlformats.org/officeDocument/2006/relationships/image" Target="/ppt/media/image871.bin" Id="rId1848" /><Relationship Type="http://schemas.openxmlformats.org/officeDocument/2006/relationships/image" Target="/ppt/media/image872.bin" Id="rId1850" /><Relationship Type="http://schemas.openxmlformats.org/officeDocument/2006/relationships/image" Target="/ppt/media/image873.bin" Id="rId1852" /><Relationship Type="http://schemas.openxmlformats.org/officeDocument/2006/relationships/image" Target="/ppt/media/image874.bin" Id="rId1854" /><Relationship Type="http://schemas.openxmlformats.org/officeDocument/2006/relationships/image" Target="/ppt/media/image875.bin" Id="rId1856" /><Relationship Type="http://schemas.openxmlformats.org/officeDocument/2006/relationships/image" Target="/ppt/media/image876.bin" Id="rId185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860" /><Relationship Type="http://schemas.openxmlformats.org/officeDocument/2006/relationships/image" Target="/ppt/media/image877.bin" Id="rId1862" /><Relationship Type="http://schemas.openxmlformats.org/officeDocument/2006/relationships/image" Target="/ppt/media/image878.bin" Id="rId1864" /><Relationship Type="http://schemas.openxmlformats.org/officeDocument/2006/relationships/image" Target="/ppt/media/image879.bin" Id="rId1866" /><Relationship Type="http://schemas.openxmlformats.org/officeDocument/2006/relationships/image" Target="/ppt/media/image880.bin" Id="rId1868" /><Relationship Type="http://schemas.openxmlformats.org/officeDocument/2006/relationships/image" Target="/ppt/media/image881.bin" Id="rId1870" /><Relationship Type="http://schemas.openxmlformats.org/officeDocument/2006/relationships/image" Target="/ppt/media/image882.bin" Id="rId1872" /><Relationship Type="http://schemas.openxmlformats.org/officeDocument/2006/relationships/image" Target="/ppt/media/image883.bin" Id="rId187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876" /><Relationship Type="http://schemas.openxmlformats.org/officeDocument/2006/relationships/image" Target="/ppt/media/image884.bin" Id="rId1878" /><Relationship Type="http://schemas.openxmlformats.org/officeDocument/2006/relationships/image" Target="/ppt/media/image885.bin" Id="rId1880" /><Relationship Type="http://schemas.openxmlformats.org/officeDocument/2006/relationships/image" Target="/ppt/media/image886.bin" Id="rId1882" /><Relationship Type="http://schemas.openxmlformats.org/officeDocument/2006/relationships/image" Target="/ppt/media/image887.bin" Id="rId1884" /><Relationship Type="http://schemas.openxmlformats.org/officeDocument/2006/relationships/image" Target="/ppt/media/image888.bin" Id="rId1886" /><Relationship Type="http://schemas.openxmlformats.org/officeDocument/2006/relationships/image" Target="/ppt/media/image889.bin" Id="rId1888" /><Relationship Type="http://schemas.openxmlformats.org/officeDocument/2006/relationships/image" Target="/ppt/media/image890.bin" Id="rId1890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892" /><Relationship Type="http://schemas.openxmlformats.org/officeDocument/2006/relationships/image" Target="/ppt/media/image891.bin" Id="rId1894" /><Relationship Type="http://schemas.openxmlformats.org/officeDocument/2006/relationships/image" Target="/ppt/media/image892.bin" Id="rId1896" /><Relationship Type="http://schemas.openxmlformats.org/officeDocument/2006/relationships/image" Target="/ppt/media/image893.bin" Id="rId1898" /><Relationship Type="http://schemas.openxmlformats.org/officeDocument/2006/relationships/image" Target="/ppt/media/image894.bin" Id="rId1900" /><Relationship Type="http://schemas.openxmlformats.org/officeDocument/2006/relationships/image" Target="/ppt/media/image895.bin" Id="rId1902" /><Relationship Type="http://schemas.openxmlformats.org/officeDocument/2006/relationships/image" Target="/ppt/media/image896.bin" Id="rId1904" /><Relationship Type="http://schemas.openxmlformats.org/officeDocument/2006/relationships/image" Target="/ppt/media/image897.bin" Id="rId1906" /><Relationship Type="http://schemas.openxmlformats.org/officeDocument/2006/relationships/image" Target="/ppt/media/image898.bin" Id="rId1908" /><Relationship Type="http://schemas.openxmlformats.org/officeDocument/2006/relationships/image" Target="/ppt/media/image899.bin" Id="rId1910" /><Relationship Type="http://schemas.openxmlformats.org/officeDocument/2006/relationships/image" Target="/ppt/media/image900.bin" Id="rId1912" /><Relationship Type="http://schemas.openxmlformats.org/officeDocument/2006/relationships/image" Target="/ppt/media/image901.bin" Id="rId1914" /><Relationship Type="http://schemas.openxmlformats.org/officeDocument/2006/relationships/image" Target="/ppt/media/image902.bin" Id="rId1915" /><Relationship Type="http://schemas.openxmlformats.org/officeDocument/2006/relationships/image" Target="/ppt/media/image903.bin" Id="rId1917" /><Relationship Type="http://schemas.openxmlformats.org/officeDocument/2006/relationships/image" Target="/ppt/media/image904.bin" Id="rId1919" /><Relationship Type="http://schemas.openxmlformats.org/officeDocument/2006/relationships/image" Target="/ppt/media/image905.bin" Id="rId1921" /><Relationship Type="http://schemas.openxmlformats.org/officeDocument/2006/relationships/image" Target="/ppt/media/image906.bin" Id="rId1923" /><Relationship Type="http://schemas.openxmlformats.org/officeDocument/2006/relationships/image" Target="/ppt/media/image907.bin" Id="rId1925" /><Relationship Type="http://schemas.openxmlformats.org/officeDocument/2006/relationships/image" Target="/ppt/media/image908.bin" Id="rId1927" /><Relationship Type="http://schemas.openxmlformats.org/officeDocument/2006/relationships/image" Target="/ppt/media/image909.bin" Id="rId1929" /><Relationship Type="http://schemas.openxmlformats.org/officeDocument/2006/relationships/image" Target="/ppt/media/image910.bin" Id="rId1930" /><Relationship Type="http://schemas.openxmlformats.org/officeDocument/2006/relationships/image" Target="/ppt/media/image911.bin" Id="rId1932" /><Relationship Type="http://schemas.openxmlformats.org/officeDocument/2006/relationships/image" Target="/ppt/media/image912.bin" Id="rId1934" /><Relationship Type="http://schemas.openxmlformats.org/officeDocument/2006/relationships/image" Target="/ppt/media/image913.bin" Id="rId1936" /><Relationship Type="http://schemas.openxmlformats.org/officeDocument/2006/relationships/image" Target="/ppt/media/image914.bin" Id="rId1938" /><Relationship Type="http://schemas.openxmlformats.org/officeDocument/2006/relationships/image" Target="/ppt/media/image915.bin" Id="rId1940" /><Relationship Type="http://schemas.openxmlformats.org/officeDocument/2006/relationships/image" Target="/ppt/media/image916.bin" Id="rId1942" /><Relationship Type="http://schemas.openxmlformats.org/officeDocument/2006/relationships/image" Target="/ppt/media/image917.bin" Id="rId1944" /><Relationship Type="http://schemas.openxmlformats.org/officeDocument/2006/relationships/image" Target="/ppt/media/image918.bin" Id="rId1945" /><Relationship Type="http://schemas.openxmlformats.org/officeDocument/2006/relationships/image" Target="/ppt/media/image919.bin" Id="rId1947" /><Relationship Type="http://schemas.openxmlformats.org/officeDocument/2006/relationships/image" Target="/ppt/media/image920.bin" Id="rId1949" /><Relationship Type="http://schemas.openxmlformats.org/officeDocument/2006/relationships/image" Target="/ppt/media/image921.bin" Id="rId1951" /><Relationship Type="http://schemas.openxmlformats.org/officeDocument/2006/relationships/image" Target="/ppt/media/image922.bin" Id="rId1953" /><Relationship Type="http://schemas.openxmlformats.org/officeDocument/2006/relationships/image" Target="/ppt/media/image923.bin" Id="rId1955" /><Relationship Type="http://schemas.openxmlformats.org/officeDocument/2006/relationships/image" Target="/ppt/media/image924.bin" Id="rId1957" /><Relationship Type="http://schemas.openxmlformats.org/officeDocument/2006/relationships/image" Target="/ppt/media/image925.bin" Id="rId1959" /><Relationship Type="http://schemas.openxmlformats.org/officeDocument/2006/relationships/image" Target="/ppt/media/image926.bin" Id="rId1960" /><Relationship Type="http://schemas.openxmlformats.org/officeDocument/2006/relationships/image" Target="/ppt/media/image927.bin" Id="rId1962" /><Relationship Type="http://schemas.openxmlformats.org/officeDocument/2006/relationships/image" Target="/ppt/media/image928.bin" Id="rId1964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966" /><Relationship Type="http://schemas.openxmlformats.org/officeDocument/2006/relationships/image" Target="/ppt/media/image929.bin" Id="rId1968" /><Relationship Type="http://schemas.openxmlformats.org/officeDocument/2006/relationships/image" Target="/ppt/media/image930.bin" Id="rId1970" /><Relationship Type="http://schemas.openxmlformats.org/officeDocument/2006/relationships/image" Target="/ppt/media/image931.bin" Id="rId1972" /><Relationship Type="http://schemas.openxmlformats.org/officeDocument/2006/relationships/image" Target="/ppt/media/image932.bin" Id="rId1974" /><Relationship Type="http://schemas.openxmlformats.org/officeDocument/2006/relationships/image" Target="/ppt/media/image933.bin" Id="rId1976" /><Relationship Type="http://schemas.openxmlformats.org/officeDocument/2006/relationships/image" Target="/ppt/media/image934.bin" Id="rId1978" /><Relationship Type="http://schemas.openxmlformats.org/officeDocument/2006/relationships/image" Target="/ppt/media/image935.bin" Id="rId1980" /><Relationship Type="http://schemas.openxmlformats.org/officeDocument/2006/relationships/image" Target="/ppt/media/image936.bin" Id="rId1982" /><Relationship Type="http://schemas.openxmlformats.org/officeDocument/2006/relationships/image" Target="/ppt/media/image937.bin" Id="rId1984" /><Relationship Type="http://schemas.openxmlformats.org/officeDocument/2006/relationships/image" Target="/ppt/media/image938.bin" Id="rId1986" /><Relationship Type="http://schemas.openxmlformats.org/officeDocument/2006/relationships/image" Target="/ppt/media/image939.bin" Id="rId1988" /><Relationship Type="http://schemas.openxmlformats.org/officeDocument/2006/relationships/image" Target="/ppt/media/image940.bin" Id="rId1990" /><Relationship Type="http://schemas.openxmlformats.org/officeDocument/2006/relationships/image" Target="/ppt/media/image941.bin" Id="rId1992" /><Relationship Type="http://schemas.openxmlformats.org/officeDocument/2006/relationships/image" Target="/ppt/media/image942.bin" Id="rId1994" /><Relationship Type="http://schemas.openxmlformats.org/officeDocument/2006/relationships/image" Target="/ppt/media/image943.bin" Id="rId1996" /><Relationship Type="http://schemas.openxmlformats.org/officeDocument/2006/relationships/image" Target="/ppt/media/image944.bin" Id="rId1998" /><Relationship Type="http://schemas.openxmlformats.org/officeDocument/2006/relationships/image" Target="/ppt/media/image945.bin" Id="rId2000" /><Relationship Type="http://schemas.openxmlformats.org/officeDocument/2006/relationships/image" Target="/ppt/media/image946.bin" Id="rId2002" /><Relationship Type="http://schemas.openxmlformats.org/officeDocument/2006/relationships/image" Target="/ppt/media/image947.bin" Id="rId2004" /><Relationship Type="http://schemas.openxmlformats.org/officeDocument/2006/relationships/image" Target="/ppt/media/image948.bin" Id="rId2006" /><Relationship Type="http://schemas.openxmlformats.org/officeDocument/2006/relationships/image" Target="/ppt/media/image949.bin" Id="rId2008" /><Relationship Type="http://schemas.openxmlformats.org/officeDocument/2006/relationships/image" Target="/ppt/media/image950.bin" Id="rId2010" /><Relationship Type="http://schemas.openxmlformats.org/officeDocument/2006/relationships/image" Target="/ppt/media/image951.bin" Id="rId2012" /><Relationship Type="http://schemas.openxmlformats.org/officeDocument/2006/relationships/image" Target="/ppt/media/image952.bin" Id="rId2014" /><Relationship Type="http://schemas.openxmlformats.org/officeDocument/2006/relationships/image" Target="/ppt/media/image953.bin" Id="rId2016" /><Relationship Type="http://schemas.openxmlformats.org/officeDocument/2006/relationships/image" Target="/ppt/media/image954.bin" Id="rId2018" /><Relationship Type="http://schemas.openxmlformats.org/officeDocument/2006/relationships/image" Target="/ppt/media/image955.bin" Id="rId2020" /><Relationship Type="http://schemas.openxmlformats.org/officeDocument/2006/relationships/image" Target="/ppt/media/image956.bin" Id="rId2022" /><Relationship Type="http://schemas.openxmlformats.org/officeDocument/2006/relationships/image" Target="/ppt/media/image957.bin" Id="rId2024" /><Relationship Type="http://schemas.openxmlformats.org/officeDocument/2006/relationships/image" Target="/ppt/media/image958.bin" Id="rId2026" /><Relationship Type="http://schemas.openxmlformats.org/officeDocument/2006/relationships/image" Target="/ppt/media/image959.bin" Id="rId2028" /><Relationship Type="http://schemas.openxmlformats.org/officeDocument/2006/relationships/image" Target="/ppt/media/image960.bin" Id="rId2030" /><Relationship Type="http://schemas.openxmlformats.org/officeDocument/2006/relationships/image" Target="/ppt/media/image961.bin" Id="rId2032" /><Relationship Type="http://schemas.openxmlformats.org/officeDocument/2006/relationships/image" Target="/ppt/media/image962.bin" Id="rId2034" /><Relationship Type="http://schemas.openxmlformats.org/officeDocument/2006/relationships/image" Target="/ppt/media/image963.bin" Id="rId2036" /><Relationship Type="http://schemas.openxmlformats.org/officeDocument/2006/relationships/image" Target="/ppt/media/image964.bin" Id="rId2038" /><Relationship Type="http://schemas.openxmlformats.org/officeDocument/2006/relationships/image" Target="/ppt/media/image965.bin" Id="rId2040" /><Relationship Type="http://schemas.openxmlformats.org/officeDocument/2006/relationships/image" Target="/ppt/media/image966.bin" Id="rId2042" /><Relationship Type="http://schemas.openxmlformats.org/officeDocument/2006/relationships/image" Target="/ppt/media/image967.bin" Id="rId2044" /><Relationship Type="http://schemas.openxmlformats.org/officeDocument/2006/relationships/image" Target="/ppt/media/image968.bin" Id="rId2046" /><Relationship Type="http://schemas.openxmlformats.org/officeDocument/2006/relationships/image" Target="/ppt/media/image969.bin" Id="rId2048" /><Relationship Type="http://schemas.openxmlformats.org/officeDocument/2006/relationships/image" Target="/ppt/media/image970.bin" Id="rId2050" /><Relationship Type="http://schemas.openxmlformats.org/officeDocument/2006/relationships/image" Target="/ppt/media/image971.bin" Id="rId2052" /><Relationship Type="http://schemas.openxmlformats.org/officeDocument/2006/relationships/image" Target="/ppt/media/image972.bin" Id="rId2054" /><Relationship Type="http://schemas.openxmlformats.org/officeDocument/2006/relationships/image" Target="/ppt/media/image973.bin" Id="rId2056" /><Relationship Type="http://schemas.openxmlformats.org/officeDocument/2006/relationships/image" Target="/ppt/media/image974.bin" Id="rId2058" /><Relationship Type="http://schemas.openxmlformats.org/officeDocument/2006/relationships/image" Target="/ppt/media/image975.bin" Id="rId2060" /><Relationship Type="http://schemas.openxmlformats.org/officeDocument/2006/relationships/image" Target="/ppt/media/image976.bin" Id="rId2062" /><Relationship Type="http://schemas.openxmlformats.org/officeDocument/2006/relationships/image" Target="/ppt/media/image977.bin" Id="rId2064" /><Relationship Type="http://schemas.openxmlformats.org/officeDocument/2006/relationships/image" Target="/ppt/media/image978.bin" Id="rId2066" /><Relationship Type="http://schemas.openxmlformats.org/officeDocument/2006/relationships/image" Target="/ppt/media/image979.bin" Id="rId2068" /><Relationship Type="http://schemas.openxmlformats.org/officeDocument/2006/relationships/image" Target="/ppt/media/image980.bin" Id="rId2070" /><Relationship Type="http://schemas.openxmlformats.org/officeDocument/2006/relationships/image" Target="/ppt/media/image981.bin" Id="rId2072" /><Relationship Type="http://schemas.openxmlformats.org/officeDocument/2006/relationships/image" Target="/ppt/media/image982.bin" Id="rId2074" /><Relationship Type="http://schemas.openxmlformats.org/officeDocument/2006/relationships/image" Target="/ppt/media/image983.bin" Id="rId2076" /><Relationship Type="http://schemas.openxmlformats.org/officeDocument/2006/relationships/image" Target="/ppt/media/image984.bin" Id="rId2078" /><Relationship Type="http://schemas.openxmlformats.org/officeDocument/2006/relationships/image" Target="/ppt/media/image985.bin" Id="rId2080" /><Relationship Type="http://schemas.openxmlformats.org/officeDocument/2006/relationships/image" Target="/ppt/media/image986.bin" Id="rId2082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084" /><Relationship Type="http://schemas.openxmlformats.org/officeDocument/2006/relationships/image" Target="/ppt/media/image987.bin" Id="rId2086" /><Relationship Type="http://schemas.openxmlformats.org/officeDocument/2006/relationships/image" Target="/ppt/media/image988.bin" Id="rId2088" /><Relationship Type="http://schemas.openxmlformats.org/officeDocument/2006/relationships/image" Target="/ppt/media/image989.bin" Id="rId2090" /><Relationship Type="http://schemas.openxmlformats.org/officeDocument/2006/relationships/image" Target="/ppt/media/image990.bin" Id="rId2092" /><Relationship Type="http://schemas.openxmlformats.org/officeDocument/2006/relationships/image" Target="/ppt/media/image991.bin" Id="rId2094" /><Relationship Type="http://schemas.openxmlformats.org/officeDocument/2006/relationships/image" Target="/ppt/media/image992.bin" Id="rId2096" /><Relationship Type="http://schemas.openxmlformats.org/officeDocument/2006/relationships/image" Target="/ppt/media/image993.bin" Id="rId2098" /><Relationship Type="http://schemas.openxmlformats.org/officeDocument/2006/relationships/image" Target="/ppt/media/image994.bin" Id="rId2100" /><Relationship Type="http://schemas.openxmlformats.org/officeDocument/2006/relationships/image" Target="/ppt/media/image995.bin" Id="rId2102" /><Relationship Type="http://schemas.openxmlformats.org/officeDocument/2006/relationships/image" Target="/ppt/media/image996.bin" Id="rId2104" /><Relationship Type="http://schemas.openxmlformats.org/officeDocument/2006/relationships/image" Target="/ppt/media/image997.bin" Id="rId2106" /><Relationship Type="http://schemas.openxmlformats.org/officeDocument/2006/relationships/image" Target="/ppt/media/image998.bin" Id="rId2108" /><Relationship Type="http://schemas.openxmlformats.org/officeDocument/2006/relationships/image" Target="/ppt/media/image999.bin" Id="rId2110" /><Relationship Type="http://schemas.openxmlformats.org/officeDocument/2006/relationships/image" Target="/ppt/media/image1000.bin" Id="rId2112" /><Relationship Type="http://schemas.openxmlformats.org/officeDocument/2006/relationships/image" Target="/ppt/media/image1001.bin" Id="rId2114" /><Relationship Type="http://schemas.openxmlformats.org/officeDocument/2006/relationships/image" Target="/ppt/media/image1002.bin" Id="rId2116" /><Relationship Type="http://schemas.openxmlformats.org/officeDocument/2006/relationships/image" Target="/ppt/media/image1003.bin" Id="rId2118" /><Relationship Type="http://schemas.openxmlformats.org/officeDocument/2006/relationships/image" Target="/ppt/media/image1004.bin" Id="rId2120" /><Relationship Type="http://schemas.openxmlformats.org/officeDocument/2006/relationships/image" Target="/ppt/media/image1005.bin" Id="rId2122" /><Relationship Type="http://schemas.openxmlformats.org/officeDocument/2006/relationships/image" Target="/ppt/media/image1006.bin" Id="rId2124" /><Relationship Type="http://schemas.openxmlformats.org/officeDocument/2006/relationships/image" Target="/ppt/media/image1007.bin" Id="rId2126" /><Relationship Type="http://schemas.openxmlformats.org/officeDocument/2006/relationships/image" Target="/ppt/media/image1008.bin" Id="rId2128" /><Relationship Type="http://schemas.openxmlformats.org/officeDocument/2006/relationships/image" Target="/ppt/media/image1009.bin" Id="rId2130" /><Relationship Type="http://schemas.openxmlformats.org/officeDocument/2006/relationships/image" Target="/ppt/media/image1010.bin" Id="rId2132" /><Relationship Type="http://schemas.openxmlformats.org/officeDocument/2006/relationships/image" Target="/ppt/media/image1011.bin" Id="rId2134" /><Relationship Type="http://schemas.openxmlformats.org/officeDocument/2006/relationships/image" Target="/ppt/media/image1012.bin" Id="rId2136" /><Relationship Type="http://schemas.openxmlformats.org/officeDocument/2006/relationships/image" Target="/ppt/media/image1013.bin" Id="rId2138" /><Relationship Type="http://schemas.openxmlformats.org/officeDocument/2006/relationships/image" Target="/ppt/media/image1014.bin" Id="rId2140" /><Relationship Type="http://schemas.openxmlformats.org/officeDocument/2006/relationships/image" Target="/ppt/media/image1015.bin" Id="rId2142" /><Relationship Type="http://schemas.openxmlformats.org/officeDocument/2006/relationships/image" Target="/ppt/media/image1016.bin" Id="rId2144" /><Relationship Type="http://schemas.openxmlformats.org/officeDocument/2006/relationships/image" Target="/ppt/media/image1017.bin" Id="rId2146" /><Relationship Type="http://schemas.openxmlformats.org/officeDocument/2006/relationships/image" Target="/ppt/media/image1018.bin" Id="rId2148" /><Relationship Type="http://schemas.openxmlformats.org/officeDocument/2006/relationships/image" Target="/ppt/media/image1019.bin" Id="rId2150" /><Relationship Type="http://schemas.openxmlformats.org/officeDocument/2006/relationships/image" Target="/ppt/media/image1020.bin" Id="rId2152" /><Relationship Type="http://schemas.openxmlformats.org/officeDocument/2006/relationships/image" Target="/ppt/media/image1021.bin" Id="rId2154" /><Relationship Type="http://schemas.openxmlformats.org/officeDocument/2006/relationships/image" Target="/ppt/media/image1022.bin" Id="rId2156" /><Relationship Type="http://schemas.openxmlformats.org/officeDocument/2006/relationships/image" Target="/ppt/media/image1023.bin" Id="rId2158" /><Relationship Type="http://schemas.openxmlformats.org/officeDocument/2006/relationships/image" Target="/ppt/media/image1024.bin" Id="rId2160" /><Relationship Type="http://schemas.openxmlformats.org/officeDocument/2006/relationships/image" Target="/ppt/media/image1025.bin" Id="rId2162" /><Relationship Type="http://schemas.openxmlformats.org/officeDocument/2006/relationships/image" Target="/ppt/media/image1026.bin" Id="rId2164" /><Relationship Type="http://schemas.openxmlformats.org/officeDocument/2006/relationships/image" Target="/ppt/media/image1027.bin" Id="rId2166" /><Relationship Type="http://schemas.openxmlformats.org/officeDocument/2006/relationships/image" Target="/ppt/media/image1028.bin" Id="rId2168" /><Relationship Type="http://schemas.openxmlformats.org/officeDocument/2006/relationships/image" Target="/ppt/media/image1029.bin" Id="rId2170" /><Relationship Type="http://schemas.openxmlformats.org/officeDocument/2006/relationships/image" Target="/ppt/media/image1030.bin" Id="rId2172" /><Relationship Type="http://schemas.openxmlformats.org/officeDocument/2006/relationships/image" Target="/ppt/media/image1031.bin" Id="rId2174" /><Relationship Type="http://schemas.openxmlformats.org/officeDocument/2006/relationships/image" Target="/ppt/media/image1032.bin" Id="rId2176" /><Relationship Type="http://schemas.openxmlformats.org/officeDocument/2006/relationships/image" Target="/ppt/media/image1033.bin" Id="rId2178" /><Relationship Type="http://schemas.openxmlformats.org/officeDocument/2006/relationships/image" Target="/ppt/media/image1034.bin" Id="rId2180" /><Relationship Type="http://schemas.openxmlformats.org/officeDocument/2006/relationships/image" Target="/ppt/media/image1035.bin" Id="rId2182" /><Relationship Type="http://schemas.openxmlformats.org/officeDocument/2006/relationships/image" Target="/ppt/media/image1036.bin" Id="rId2184" /><Relationship Type="http://schemas.openxmlformats.org/officeDocument/2006/relationships/image" Target="/ppt/media/image1037.bin" Id="rId2186" /><Relationship Type="http://schemas.openxmlformats.org/officeDocument/2006/relationships/image" Target="/ppt/media/image1038.bin" Id="rId2188" /><Relationship Type="http://schemas.openxmlformats.org/officeDocument/2006/relationships/image" Target="/ppt/media/image1039.bin" Id="rId2190" /><Relationship Type="http://schemas.openxmlformats.org/officeDocument/2006/relationships/image" Target="/ppt/media/image1040.bin" Id="rId2192" /><Relationship Type="http://schemas.openxmlformats.org/officeDocument/2006/relationships/image" Target="/ppt/media/image1041.bin" Id="rId2194" /><Relationship Type="http://schemas.openxmlformats.org/officeDocument/2006/relationships/image" Target="/ppt/media/image1042.bin" Id="rId2196" /><Relationship Type="http://schemas.openxmlformats.org/officeDocument/2006/relationships/image" Target="/ppt/media/image1043.bin" Id="rId2198" /><Relationship Type="http://schemas.openxmlformats.org/officeDocument/2006/relationships/image" Target="/ppt/media/image1044.bin" Id="rId2200" /><Relationship Type="http://schemas.openxmlformats.org/officeDocument/2006/relationships/image" Target="/ppt/media/image1045.bin" Id="rId2202" /><Relationship Type="http://schemas.openxmlformats.org/officeDocument/2006/relationships/image" Target="/ppt/media/image1046.bin" Id="rId2204" /><Relationship Type="http://schemas.openxmlformats.org/officeDocument/2006/relationships/image" Target="/ppt/media/image1047.bin" Id="rId2206" /><Relationship Type="http://schemas.openxmlformats.org/officeDocument/2006/relationships/image" Target="/ppt/media/image1048.bin" Id="rId2208" /><Relationship Type="http://schemas.openxmlformats.org/officeDocument/2006/relationships/image" Target="/ppt/media/image1049.bin" Id="rId2210" /><Relationship Type="http://schemas.openxmlformats.org/officeDocument/2006/relationships/image" Target="/ppt/media/image1050.bin" Id="rId2212" /><Relationship Type="http://schemas.openxmlformats.org/officeDocument/2006/relationships/image" Target="/ppt/media/image1051.bin" Id="rId2213" /><Relationship Type="http://schemas.openxmlformats.org/officeDocument/2006/relationships/image" Target="/ppt/media/image1052.bin" Id="rId2215" /><Relationship Type="http://schemas.openxmlformats.org/officeDocument/2006/relationships/image" Target="/ppt/media/image1053.bin" Id="rId2217" /><Relationship Type="http://schemas.openxmlformats.org/officeDocument/2006/relationships/image" Target="/ppt/media/image1054.bin" Id="rId2219" /><Relationship Type="http://schemas.openxmlformats.org/officeDocument/2006/relationships/image" Target="/ppt/media/image1055.bin" Id="rId2221" /><Relationship Type="http://schemas.openxmlformats.org/officeDocument/2006/relationships/image" Target="/ppt/media/image1056.bin" Id="rId2223" /><Relationship Type="http://schemas.openxmlformats.org/officeDocument/2006/relationships/image" Target="/ppt/media/image1057.bin" Id="rId2225" /><Relationship Type="http://schemas.openxmlformats.org/officeDocument/2006/relationships/image" Target="/ppt/media/image1058.bin" Id="rId2227" /><Relationship Type="http://schemas.openxmlformats.org/officeDocument/2006/relationships/image" Target="/ppt/media/image1059.bin" Id="rId2229" /><Relationship Type="http://schemas.openxmlformats.org/officeDocument/2006/relationships/image" Target="/ppt/media/image1060.bin" Id="rId2231" /><Relationship Type="http://schemas.openxmlformats.org/officeDocument/2006/relationships/image" Target="/ppt/media/image1061.bin" Id="rId2233" /><Relationship Type="http://schemas.openxmlformats.org/officeDocument/2006/relationships/image" Target="/ppt/media/image1062.bin" Id="rId2235" /><Relationship Type="http://schemas.openxmlformats.org/officeDocument/2006/relationships/image" Target="/ppt/media/image1063.bin" Id="rId2236" /><Relationship Type="http://schemas.openxmlformats.org/officeDocument/2006/relationships/image" Target="/ppt/media/image1064.bin" Id="rId2238" /><Relationship Type="http://schemas.openxmlformats.org/officeDocument/2006/relationships/image" Target="/ppt/media/image1065.bin" Id="rId2240" /><Relationship Type="http://schemas.openxmlformats.org/officeDocument/2006/relationships/image" Target="/ppt/media/image1066.bin" Id="rId2242" /><Relationship Type="http://schemas.openxmlformats.org/officeDocument/2006/relationships/image" Target="/ppt/media/image1067.bin" Id="rId2244" /><Relationship Type="http://schemas.openxmlformats.org/officeDocument/2006/relationships/image" Target="/ppt/media/image1068.bin" Id="rId2246" /><Relationship Type="http://schemas.openxmlformats.org/officeDocument/2006/relationships/image" Target="/ppt/media/image1069.bin" Id="rId2248" /><Relationship Type="http://schemas.openxmlformats.org/officeDocument/2006/relationships/image" Target="/ppt/media/image1070.bin" Id="rId2250" /><Relationship Type="http://schemas.openxmlformats.org/officeDocument/2006/relationships/image" Target="/ppt/media/image1071.bin" Id="rId2252" /><Relationship Type="http://schemas.openxmlformats.org/officeDocument/2006/relationships/image" Target="/ppt/media/image1072.bin" Id="rId2254" /><Relationship Type="http://schemas.openxmlformats.org/officeDocument/2006/relationships/image" Target="/ppt/media/image1073.bin" Id="rId2256" /><Relationship Type="http://schemas.openxmlformats.org/officeDocument/2006/relationships/image" Target="/ppt/media/image1074.bin" Id="rId2258" /><Relationship Type="http://schemas.openxmlformats.org/officeDocument/2006/relationships/image" Target="/ppt/media/image1075.bin" Id="rId2259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261" /><Relationship Type="http://schemas.openxmlformats.org/officeDocument/2006/relationships/image" Target="/ppt/media/image1076.bin" Id="rId2263" /><Relationship Type="http://schemas.openxmlformats.org/officeDocument/2006/relationships/image" Target="/ppt/media/image1077.bin" Id="rId2265" /><Relationship Type="http://schemas.openxmlformats.org/officeDocument/2006/relationships/image" Target="/ppt/media/image1078.bin" Id="rId2267" /><Relationship Type="http://schemas.openxmlformats.org/officeDocument/2006/relationships/image" Target="/ppt/media/image1079.bin" Id="rId2269" /><Relationship Type="http://schemas.openxmlformats.org/officeDocument/2006/relationships/image" Target="/ppt/media/image1080.bin" Id="rId2271" /><Relationship Type="http://schemas.openxmlformats.org/officeDocument/2006/relationships/image" Target="/ppt/media/image1081.bin" Id="rId2273" /><Relationship Type="http://schemas.openxmlformats.org/officeDocument/2006/relationships/image" Target="/ppt/media/image1082.bin" Id="rId2275" /><Relationship Type="http://schemas.openxmlformats.org/officeDocument/2006/relationships/image" Target="/ppt/media/image1083.bin" Id="rId2277" /><Relationship Type="http://schemas.openxmlformats.org/officeDocument/2006/relationships/image" Target="/ppt/media/image1084.bin" Id="rId227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281" /><Relationship Type="http://schemas.openxmlformats.org/officeDocument/2006/relationships/image" Target="/ppt/media/image1085.bin" Id="rId2283" /><Relationship Type="http://schemas.openxmlformats.org/officeDocument/2006/relationships/image" Target="/ppt/media/image1086.bin" Id="rId2285" /><Relationship Type="http://schemas.openxmlformats.org/officeDocument/2006/relationships/image" Target="/ppt/media/image1087.bin" Id="rId2287" /><Relationship Type="http://schemas.openxmlformats.org/officeDocument/2006/relationships/image" Target="/ppt/media/image1088.bin" Id="rId2289" /><Relationship Type="http://schemas.openxmlformats.org/officeDocument/2006/relationships/image" Target="/ppt/media/image1089.bin" Id="rId2291" /><Relationship Type="http://schemas.openxmlformats.org/officeDocument/2006/relationships/image" Target="/ppt/media/image1090.bin" Id="rId2293" /><Relationship Type="http://schemas.openxmlformats.org/officeDocument/2006/relationships/image" Target="/ppt/media/image1091.bin" Id="rId2295" /><Relationship Type="http://schemas.openxmlformats.org/officeDocument/2006/relationships/image" Target="/ppt/media/image1092.bin" Id="rId2297" /><Relationship Type="http://schemas.openxmlformats.org/officeDocument/2006/relationships/image" Target="/ppt/media/image1093.bin" Id="rId2299" /><Relationship Type="http://schemas.openxmlformats.org/officeDocument/2006/relationships/image" Target="/ppt/media/image1094.bin" Id="rId2301" /><Relationship Type="http://schemas.openxmlformats.org/officeDocument/2006/relationships/image" Target="/ppt/media/image1095.bin" Id="rId2303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5">
            <a:alphaModFix amt="100000"/>
          </a:blip>
          <a:stretch/>
        </p:blipFill>
        <p:spPr>
          <a:xfrm>
            <a:off x="0" y="0"/>
            <a:ext cx="6248400" cy="10287000"/>
          </a:xfrm>
          <a:prstGeom prst="rect">
            <a:avLst/>
          </a:prstGeom>
        </p:spPr>
      </p:pic>
      <p:pic>
        <p:nvPicPr>
          <p:cNvPr id="30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alphaModFix amt="100000"/>
          </a:blip>
          <a:stretch/>
        </p:blipFill>
        <p:spPr>
          <a:xfrm>
            <a:off x="4422458" y="1828800"/>
            <a:ext cx="914400" cy="914400"/>
          </a:xfrm>
          <a:prstGeom prst="rect">
            <a:avLst/>
          </a:prstGeom>
        </p:spPr>
      </p:pic>
      <p:pic>
        <p:nvPicPr>
          <p:cNvPr id="30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alphaModFix amt="100000"/>
          </a:blip>
          <a:stretch/>
        </p:blipFill>
        <p:spPr>
          <a:xfrm>
            <a:off x="5336858" y="2743200"/>
            <a:ext cx="914400" cy="914400"/>
          </a:xfrm>
          <a:prstGeom prst="rect">
            <a:avLst/>
          </a:prstGeom>
        </p:spPr>
      </p:pic>
      <p:pic>
        <p:nvPicPr>
          <p:cNvPr id="30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">
            <a:alphaModFix amt="100000"/>
          </a:blip>
          <a:stretch/>
        </p:blipFill>
        <p:spPr>
          <a:xfrm>
            <a:off x="6251258" y="1828800"/>
            <a:ext cx="1828800" cy="914400"/>
          </a:xfrm>
          <a:prstGeom prst="rect">
            <a:avLst/>
          </a:prstGeom>
        </p:spPr>
      </p:pic>
      <p:pic>
        <p:nvPicPr>
          <p:cNvPr id="31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alphaModFix amt="100000"/>
          </a:blip>
          <a:stretch/>
        </p:blipFill>
        <p:spPr>
          <a:xfrm>
            <a:off x="6251258" y="0"/>
            <a:ext cx="914400" cy="1828800"/>
          </a:xfrm>
          <a:prstGeom prst="rect">
            <a:avLst/>
          </a:prstGeom>
        </p:spPr>
      </p:pic>
      <p:sp>
        <p:nvSpPr>
          <p:cNvPr id="31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537258" y="914400"/>
            <a:ext cx="8872538" cy="2676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Concevoir et analyser une base de données </a:t>
            </a:r>
            <a:r>
              <a:rPr lang="en-US" sz="5400" b="1" spc="-119" dirty="0">
                <a:solidFill>
                  <a:srgbClr val="000000"/>
                </a:solidFill>
                <a:latin typeface="Poppins SemiBold" panose="00000700000000000000" pitchFamily="2" charset="0"/>
              </a:rPr>
              <a:t>NoSQL</a:t>
            </a:r>
          </a:p>
        </p:txBody>
      </p:sp>
      <p:sp>
        <p:nvSpPr>
          <p:cNvPr id="31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537258" y="3697224"/>
            <a:ext cx="8872538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100" spc="-10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 </a:t>
            </a:r>
          </a:p>
        </p:txBody>
      </p:sp>
      <p:sp>
        <p:nvSpPr>
          <p:cNvPr id="317" name="Presenter Name-40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04058" y="8996362"/>
            <a:ext cx="78057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Pascal DUVAL</a:t>
            </a:r>
          </a:p>
        </p:txBody>
      </p:sp>
      <p:sp>
        <p:nvSpPr>
          <p:cNvPr id="319" name="Presenter Designation-41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04058" y="9396412"/>
            <a:ext cx="78057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AI/ML Engineer</a:t>
            </a:r>
          </a:p>
        </p:txBody>
      </p:sp>
      <p:pic>
        <p:nvPicPr>
          <p:cNvPr id="3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alphaModFix amt="100000"/>
          </a:blip>
          <a:stretch/>
        </p:blipFill>
        <p:spPr>
          <a:xfrm>
            <a:off x="8537258" y="8934450"/>
            <a:ext cx="876300" cy="876300"/>
          </a:xfrm>
          <a:prstGeom prst="rect">
            <a:avLst/>
          </a:prstGeom>
        </p:spPr>
      </p:pic>
      <p:pic>
        <p:nvPicPr>
          <p:cNvPr id="323" name="sgPresentorImageNod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7">
            <a:alphaModFix amt="100000"/>
          </a:blip>
          <a:stretch/>
        </p:blipFill>
        <p:spPr>
          <a:xfrm>
            <a:off x="8537258" y="8934450"/>
            <a:ext cx="876300" cy="876300"/>
          </a:xfrm>
          <a:prstGeom prst="rect">
            <a:avLst/>
          </a:prstGeom>
        </p:spPr>
      </p:pic>
      <p:pic>
        <p:nvPicPr>
          <p:cNvPr id="3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3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3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alphaModFix amt="100000"/>
          </a:blip>
          <a:stretch/>
        </p:blipFill>
        <p:spPr>
          <a:xfrm>
            <a:off x="762572" y="8763476"/>
            <a:ext cx="1524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34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">
            <a:alphaModFix amt="100000"/>
          </a:blip>
          <a:stretch/>
        </p:blipFill>
        <p:spPr>
          <a:xfrm>
            <a:off x="6610350" y="0"/>
            <a:ext cx="476250" cy="6789390"/>
          </a:xfrm>
          <a:prstGeom prst="rect">
            <a:avLst/>
          </a:prstGeom>
        </p:spPr>
      </p:pic>
      <p:pic>
        <p:nvPicPr>
          <p:cNvPr id="33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">
            <a:alphaModFix amt="100000"/>
          </a:blip>
          <a:stretch/>
        </p:blipFill>
        <p:spPr>
          <a:xfrm>
            <a:off x="6610350" y="7830502"/>
            <a:ext cx="476250" cy="2456408"/>
          </a:xfrm>
          <a:prstGeom prst="rect">
            <a:avLst/>
          </a:prstGeom>
        </p:spPr>
      </p:pic>
      <p:pic>
        <p:nvPicPr>
          <p:cNvPr id="3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alphaModFix amt="100000"/>
          </a:blip>
          <a:stretch/>
        </p:blipFill>
        <p:spPr>
          <a:xfrm>
            <a:off x="8077200" y="2667000"/>
            <a:ext cx="2967931" cy="4956720"/>
          </a:xfrm>
          <a:prstGeom prst="rect">
            <a:avLst/>
          </a:prstGeom>
        </p:spPr>
      </p:pic>
      <p:pic>
        <p:nvPicPr>
          <p:cNvPr id="340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alphaModFix amt="100000"/>
            <a:extLst>
              <a:ext uri="{CCCC4B39-1E10-4B4F-B3B0-E661E861B90D}">
                <asvg:svgBlip xmlns:r="http://schemas.openxmlformats.org/officeDocument/2006/relationships" xmlns:asvg="http://schemas.microsoft.com/office/drawing/2016/SVG/main" r:embed="rId4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243060" y="3067050"/>
            <a:ext cx="640080" cy="640080"/>
          </a:xfrm>
          <a:prstGeom prst="rect">
            <a:avLst/>
          </a:prstGeom>
        </p:spPr>
      </p:pic>
      <p:sp>
        <p:nvSpPr>
          <p:cNvPr id="342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82000" y="4107180"/>
            <a:ext cx="2395538" cy="1609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Restauration d'une base de données sur MongoDB </a:t>
            </a:r>
          </a:p>
        </p:txBody>
      </p:sp>
      <p:sp>
        <p:nvSpPr>
          <p:cNvPr id="34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82000" y="5821680"/>
            <a:ext cx="23955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Nous partirons d'une sauvegarde csv que nous importerons dans MongoDB Compass</a:t>
            </a:r>
          </a:p>
        </p:txBody>
      </p:sp>
      <p:pic>
        <p:nvPicPr>
          <p:cNvPr id="3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">
            <a:alphaModFix amt="100000"/>
          </a:blip>
          <a:stretch/>
        </p:blipFill>
        <p:spPr>
          <a:xfrm>
            <a:off x="11239500" y="2667000"/>
            <a:ext cx="2967931" cy="4956720"/>
          </a:xfrm>
          <a:prstGeom prst="rect">
            <a:avLst/>
          </a:prstGeom>
        </p:spPr>
      </p:pic>
      <p:pic>
        <p:nvPicPr>
          <p:cNvPr id="348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">
            <a:alphaModFix amt="100000"/>
            <a:extLst>
              <a:ext uri="{24DBB5CF-8B9E-4559-9926-2C31BD87600B}">
                <asvg:svgBlip xmlns:r="http://schemas.openxmlformats.org/officeDocument/2006/relationships" xmlns:asvg="http://schemas.microsoft.com/office/drawing/2016/SVG/main" r:embed="rId5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405360" y="3067050"/>
            <a:ext cx="640080" cy="640080"/>
          </a:xfrm>
          <a:prstGeom prst="rect">
            <a:avLst/>
          </a:prstGeom>
        </p:spPr>
      </p:pic>
      <p:sp>
        <p:nvSpPr>
          <p:cNvPr id="35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544300" y="4107180"/>
            <a:ext cx="2395538" cy="2009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Observation de la structure des documents et des types de données</a:t>
            </a:r>
          </a:p>
        </p:txBody>
      </p:sp>
      <p:sp>
        <p:nvSpPr>
          <p:cNvPr id="35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544300" y="6221730"/>
            <a:ext cx="239553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Analyse de schéma et types présents dans les documents.</a:t>
            </a:r>
          </a:p>
        </p:txBody>
      </p:sp>
      <p:pic>
        <p:nvPicPr>
          <p:cNvPr id="3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">
            <a:alphaModFix amt="100000"/>
          </a:blip>
          <a:stretch/>
        </p:blipFill>
        <p:spPr>
          <a:xfrm>
            <a:off x="14401800" y="2667000"/>
            <a:ext cx="2967931" cy="4956720"/>
          </a:xfrm>
          <a:prstGeom prst="rect">
            <a:avLst/>
          </a:prstGeom>
        </p:spPr>
      </p:pic>
      <p:pic>
        <p:nvPicPr>
          <p:cNvPr id="356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">
            <a:alphaModFix amt="100000"/>
            <a:extLst>
              <a:ext uri="{58987E05-2E72-446F-BF19-A69534F65362}">
                <asvg:svgBlip xmlns:r="http://schemas.openxmlformats.org/officeDocument/2006/relationships" xmlns:asvg="http://schemas.microsoft.com/office/drawing/2016/SVG/main" r:embed="rId5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5567660" y="3067050"/>
            <a:ext cx="640080" cy="640080"/>
          </a:xfrm>
          <a:prstGeom prst="rect">
            <a:avLst/>
          </a:prstGeom>
        </p:spPr>
      </p:pic>
      <p:sp>
        <p:nvSpPr>
          <p:cNvPr id="358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06600" y="4107180"/>
            <a:ext cx="2395538" cy="2009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Explication des avantages du NoSQL dans ce contexte de données.</a:t>
            </a:r>
          </a:p>
        </p:txBody>
      </p:sp>
      <p:sp>
        <p:nvSpPr>
          <p:cNvPr id="360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06600" y="6221730"/>
            <a:ext cx="239553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Points forts de NoSQL pour ce jeux de données.</a:t>
            </a:r>
          </a:p>
        </p:txBody>
      </p:sp>
      <p:sp>
        <p:nvSpPr>
          <p:cNvPr id="36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3276600"/>
            <a:ext cx="5253038" cy="2914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Restauration et inspection d'une </a:t>
            </a:r>
            <a:r>
              <a:rPr lang="en-US" sz="4200" b="1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base MongoDB</a:t>
            </a:r>
          </a:p>
        </p:txBody>
      </p:sp>
      <p:sp>
        <p:nvSpPr>
          <p:cNvPr id="36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6286500"/>
            <a:ext cx="52530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Processus, structure des documents et avantages NoSQL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2">
            <a:alphaModFix amt="100000"/>
          </a:blip>
          <a:stretch/>
        </p:blipFill>
        <p:spPr>
          <a:xfrm>
            <a:off x="16764572" y="4076700"/>
            <a:ext cx="1524000" cy="762000"/>
          </a:xfrm>
          <a:prstGeom prst="rect">
            <a:avLst/>
          </a:prstGeom>
        </p:spPr>
      </p:pic>
      <p:pic>
        <p:nvPicPr>
          <p:cNvPr id="3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4">
            <a:alphaModFix amt="100000"/>
          </a:blip>
          <a:stretch/>
        </p:blipFill>
        <p:spPr>
          <a:xfrm>
            <a:off x="16764572" y="2552128"/>
            <a:ext cx="800100" cy="1524000"/>
          </a:xfrm>
          <a:prstGeom prst="rect">
            <a:avLst/>
          </a:prstGeom>
        </p:spPr>
      </p:pic>
      <p:pic>
        <p:nvPicPr>
          <p:cNvPr id="3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6">
            <a:alphaModFix amt="100000"/>
          </a:blip>
          <a:stretch/>
        </p:blipFill>
        <p:spPr>
          <a:xfrm>
            <a:off x="0" y="0"/>
            <a:ext cx="914400" cy="1524000"/>
          </a:xfrm>
          <a:prstGeom prst="rect">
            <a:avLst/>
          </a:prstGeom>
        </p:spPr>
      </p:pic>
      <p:pic>
        <p:nvPicPr>
          <p:cNvPr id="3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8">
            <a:alphaModFix amt="100000"/>
          </a:blip>
          <a:stretch/>
        </p:blipFill>
        <p:spPr>
          <a:xfrm>
            <a:off x="0" y="2285810"/>
            <a:ext cx="914400" cy="762000"/>
          </a:xfrm>
          <a:prstGeom prst="rect">
            <a:avLst/>
          </a:prstGeom>
        </p:spPr>
      </p:pic>
      <p:pic>
        <p:nvPicPr>
          <p:cNvPr id="377" name="4b07f468-ca1e-4f97-a5f3-ac4a6832f90f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0">
            <a:alphaModFix amt="100000"/>
          </a:blip>
          <a:stretch/>
        </p:blipFill>
        <p:spPr>
          <a:xfrm>
            <a:off x="1828800" y="914400"/>
            <a:ext cx="14020800" cy="4953000"/>
          </a:xfrm>
          <a:prstGeom prst="rect">
            <a:avLst/>
          </a:prstGeom>
        </p:spPr>
      </p:pic>
      <p:pic>
        <p:nvPicPr>
          <p:cNvPr id="37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2">
            <a:alphaModFix amt="100000"/>
          </a:blip>
          <a:stretch/>
        </p:blipFill>
        <p:spPr>
          <a:xfrm>
            <a:off x="14020800" y="4038600"/>
            <a:ext cx="914400" cy="914400"/>
          </a:xfrm>
          <a:prstGeom prst="rect">
            <a:avLst/>
          </a:prstGeom>
        </p:spPr>
      </p:pic>
      <p:pic>
        <p:nvPicPr>
          <p:cNvPr id="38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4">
            <a:alphaModFix amt="100000"/>
          </a:blip>
          <a:stretch/>
        </p:blipFill>
        <p:spPr>
          <a:xfrm>
            <a:off x="14935200" y="4953000"/>
            <a:ext cx="914400" cy="914400"/>
          </a:xfrm>
          <a:prstGeom prst="rect">
            <a:avLst/>
          </a:prstGeom>
        </p:spPr>
      </p:pic>
      <p:sp>
        <p:nvSpPr>
          <p:cNvPr id="38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7391876"/>
            <a:ext cx="8224838" cy="1609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096"/>
              </a:lnSpc>
            </a:pPr>
            <a:r>
              <a:rPr lang="en-US" sz="48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Comment a -t-il été obtenu ?</a:t>
            </a:r>
          </a:p>
        </p:txBody>
      </p:sp>
      <p:pic>
        <p:nvPicPr>
          <p:cNvPr id="3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6">
            <a:alphaModFix amt="100000"/>
          </a:blip>
          <a:stretch/>
        </p:blipFill>
        <p:spPr>
          <a:xfrm>
            <a:off x="914400" y="1523905"/>
            <a:ext cx="1524000" cy="762000"/>
          </a:xfrm>
          <a:prstGeom prst="rect">
            <a:avLst/>
          </a:prstGeom>
        </p:spPr>
      </p:pic>
      <p:sp>
        <p:nvSpPr>
          <p:cNvPr id="387" name="Click here to edit label-41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7124700"/>
            <a:ext cx="822483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 spc="10" dirty="0">
                <a:solidFill>
                  <a:srgbClr val="262D36">
                    <a:alpha val="100000"/>
                  </a:srgbClr>
                </a:solidFill>
                <a:latin typeface="Roboto" panose="00000700000000000000" pitchFamily="2" charset="0"/>
              </a:rPr>
              <a:t>Le Fichier De Sauvegarde Des Offres Airbnb À Paris</a:t>
            </a:r>
          </a:p>
        </p:txBody>
      </p:sp>
      <p:sp>
        <p:nvSpPr>
          <p:cNvPr id="38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401300" y="6781800"/>
            <a:ext cx="70056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b="1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Scraping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 (HTML / JSON) de pages publiques sur Airbnb (non via API)</a:t>
            </a:r>
          </a:p>
        </p:txBody>
      </p:sp>
      <p:sp>
        <p:nvSpPr>
          <p:cNvPr id="391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84308" y="6767512"/>
            <a:ext cx="274130" cy="36004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1.</a:t>
            </a:r>
          </a:p>
        </p:txBody>
      </p:sp>
      <p:sp>
        <p:nvSpPr>
          <p:cNvPr id="39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401300" y="7341870"/>
            <a:ext cx="70056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Agrégation des données dans un fichier csv (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listings_Paris.csv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)</a:t>
            </a:r>
          </a:p>
        </p:txBody>
      </p:sp>
      <p:sp>
        <p:nvSpPr>
          <p:cNvPr id="395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84308" y="7327582"/>
            <a:ext cx="274130" cy="36004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2.</a:t>
            </a:r>
          </a:p>
        </p:txBody>
      </p:sp>
      <p:sp>
        <p:nvSpPr>
          <p:cNvPr id="39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401300" y="7901940"/>
            <a:ext cx="70056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Extraction régulière (ex: tous les mois) -&gt;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 last_scraped (datetime)</a:t>
            </a:r>
          </a:p>
        </p:txBody>
      </p:sp>
      <p:sp>
        <p:nvSpPr>
          <p:cNvPr id="399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84308" y="7887652"/>
            <a:ext cx="274130" cy="36004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3.</a:t>
            </a:r>
          </a:p>
        </p:txBody>
      </p:sp>
      <p:sp>
        <p:nvSpPr>
          <p:cNvPr id="40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401300" y="8462010"/>
            <a:ext cx="70056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Formatage selon une structure standardisée (cf. 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Data+Dictionary.xlsx)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.</a:t>
            </a:r>
          </a:p>
        </p:txBody>
      </p:sp>
      <p:sp>
        <p:nvSpPr>
          <p:cNvPr id="403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84308" y="8447722"/>
            <a:ext cx="274130" cy="36004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08" name="3e935d5a-5866-46e0-bd25-3d94276b99c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2">
            <a:alphaModFix amt="100000"/>
          </a:blip>
          <a:stretch/>
        </p:blipFill>
        <p:spPr>
          <a:xfrm>
            <a:off x="723900" y="2247900"/>
            <a:ext cx="6134100" cy="8039100"/>
          </a:xfrm>
          <a:prstGeom prst="rect">
            <a:avLst/>
          </a:prstGeom>
        </p:spPr>
      </p:pic>
      <p:sp>
        <p:nvSpPr>
          <p:cNvPr id="41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2982849"/>
            <a:ext cx="9596438" cy="1133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66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Comment s'en servir ?</a:t>
            </a:r>
          </a:p>
        </p:txBody>
      </p:sp>
      <p:pic>
        <p:nvPicPr>
          <p:cNvPr id="4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4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4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6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4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8">
            <a:alphaModFix amt="100000"/>
          </a:blip>
          <a:stretch/>
        </p:blipFill>
        <p:spPr>
          <a:xfrm>
            <a:off x="762572" y="8763476"/>
            <a:ext cx="1524000" cy="762000"/>
          </a:xfrm>
          <a:prstGeom prst="rect">
            <a:avLst/>
          </a:prstGeom>
        </p:spPr>
      </p:pic>
      <p:sp>
        <p:nvSpPr>
          <p:cNvPr id="418" name="Click here to edit label-40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2628900"/>
            <a:ext cx="959643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 spc="10" dirty="0">
                <a:solidFill>
                  <a:srgbClr val="262D36">
                    <a:alpha val="100000"/>
                  </a:srgbClr>
                </a:solidFill>
                <a:latin typeface="Roboto" panose="00000700000000000000" pitchFamily="2" charset="0"/>
              </a:rPr>
              <a:t>Évaluer L’impact Des Locations Airbnb Sur Le Marché Du Logement</a:t>
            </a:r>
          </a:p>
        </p:txBody>
      </p:sp>
      <p:sp>
        <p:nvSpPr>
          <p:cNvPr id="42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62424" y="4229100"/>
            <a:ext cx="9444514" cy="1228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Mesurer la part de logements entiers en location récurrente </a:t>
            </a:r>
            <a:r>
              <a:rPr lang="en-US" sz="1650" spc="-9" dirty="0">
                <a:solidFill>
                  <a:srgbClr val="262D36"/>
                </a:solidFill>
                <a:latin typeface="Roboto" panose="00000700000000000000" pitchFamily="2" charset="0"/>
              </a:rPr>
              <a:t>room</a:t>
            </a:r>
            <a:r>
              <a:rPr lang="en-US" sz="1650" spc="-9" dirty="0">
                <a:solidFill>
                  <a:srgbClr val="262D36"/>
                </a:solidFill>
                <a:latin typeface="Roboto" panose="00000700000000000000" pitchFamily="2" charset="0"/>
              </a:rPr>
              <a:t>ype </a:t>
            </a:r>
            <a:r>
              <a:rPr lang="en-US" sz="1650" spc="-9" dirty="0">
                <a:solidFill>
                  <a:srgbClr val="262D36"/>
                </a:solidFill>
                <a:latin typeface="Roboto" panose="00000700000000000000" pitchFamily="2" charset="0"/>
              </a:rPr>
              <a:t> "Entire home/apt" &amp; availability</a:t>
            </a:r>
            <a:r>
              <a:rPr lang="en-US" sz="1650" spc="-9" dirty="0">
                <a:solidFill>
                  <a:srgbClr val="262D36"/>
                </a:solidFill>
                <a:latin typeface="Roboto" panose="00000700000000000000" pitchFamily="2" charset="0"/>
              </a:rPr>
              <a:t>30-60-365</a:t>
            </a:r>
            <a:r>
              <a:rPr lang="en-US" sz="1650" spc="-9" dirty="0">
                <a:solidFill>
                  <a:srgbClr val="262D36"/>
                </a:solidFill>
                <a:latin typeface="Roboto" panose="00000700000000000000" pitchFamily="2" charset="0"/>
              </a:rPr>
              <a:t> . Un croisement avec neighbourhood</a:t>
            </a:r>
            <a:r>
              <a:rPr lang="en-US" sz="1650" spc="-9" dirty="0">
                <a:solidFill>
                  <a:srgbClr val="262D36"/>
                </a:solidFill>
                <a:latin typeface="Roboto" panose="00000700000000000000" pitchFamily="2" charset="0"/>
              </a:rPr>
              <a:t>leansed permettriy si l'on disposait d'une base de données de locations traditionnelles d’estimer le nombre de logements retirés du marché.</a:t>
            </a:r>
          </a:p>
        </p:txBody>
      </p:sp>
      <p:pic>
        <p:nvPicPr>
          <p:cNvPr id="42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0">
            <a:alphaModFix amt="100000"/>
          </a:blip>
          <a:stretch/>
        </p:blipFill>
        <p:spPr>
          <a:xfrm>
            <a:off x="7810500" y="4350639"/>
            <a:ext cx="60722" cy="60722"/>
          </a:xfrm>
          <a:prstGeom prst="rect">
            <a:avLst/>
          </a:prstGeom>
        </p:spPr>
      </p:pic>
      <p:sp>
        <p:nvSpPr>
          <p:cNvPr id="424" name="-49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62424" y="4251960"/>
            <a:ext cx="9005888" cy="1171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Mesurer la part de logements entiers en location récurrente (room_type == "Entire home/apt" &amp; availability_[30-60-365]) . Un croisement avec neighbourhood_cleansed permettriy si l'on disposait d'une base de données de locations traditionnelles d’</a:t>
            </a:r>
            <a:r>
              <a:rPr lang="en-US" sz="1650" b="1" spc="-9" dirty="0">
                <a:solidFill>
                  <a:srgbClr val="262D36"/>
                </a:solidFill>
                <a:latin typeface="Roboto" panose="00000700000000000000" pitchFamily="2" charset="0"/>
              </a:rPr>
              <a:t>estimer le nombre de logements retirés du marché</a:t>
            </a:r>
            <a:r>
              <a:rPr lang="en-US" sz="1650" spc="-9" dirty="0">
                <a:solidFill>
                  <a:srgbClr val="262D36"/>
                </a:solidFill>
                <a:latin typeface="Roboto" panose="00000700000000000000" pitchFamily="2" charset="0"/>
              </a:rPr>
              <a:t>.</a:t>
            </a:r>
          </a:p>
        </p:txBody>
      </p:sp>
      <p:sp>
        <p:nvSpPr>
          <p:cNvPr id="42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62424" y="5654040"/>
            <a:ext cx="9444514" cy="619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Identifier le nombre de multi-loueurs professionnels - 3 logements actifs par hôte → signal d’activité commerciale.</a:t>
            </a:r>
          </a:p>
        </p:txBody>
      </p:sp>
      <p:pic>
        <p:nvPicPr>
          <p:cNvPr id="42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2">
            <a:alphaModFix amt="100000"/>
          </a:blip>
          <a:stretch/>
        </p:blipFill>
        <p:spPr>
          <a:xfrm>
            <a:off x="7810500" y="5775579"/>
            <a:ext cx="60722" cy="60722"/>
          </a:xfrm>
          <a:prstGeom prst="rect">
            <a:avLst/>
          </a:prstGeom>
        </p:spPr>
      </p:pic>
      <p:sp>
        <p:nvSpPr>
          <p:cNvPr id="43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62424" y="6471285"/>
            <a:ext cx="9444514" cy="923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Cartographier la concentration géographique. on dispose de latitude &amp; longitude. Avec une cartographie (type Folium, GeoPandas), on peut repérer les quartiers les plus touchés (hypercentre, zones touristiques) / faire des heatmaps de densité Airbnb</a:t>
            </a:r>
          </a:p>
        </p:txBody>
      </p:sp>
      <p:pic>
        <p:nvPicPr>
          <p:cNvPr id="43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4">
            <a:alphaModFix amt="100000"/>
          </a:blip>
          <a:stretch/>
        </p:blipFill>
        <p:spPr>
          <a:xfrm>
            <a:off x="7810500" y="6592824"/>
            <a:ext cx="60722" cy="6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37" name="3e935d5a-5866-46e0-bd25-3d94276b99c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00">
            <a:alphaModFix amt="100000"/>
          </a:blip>
          <a:stretch/>
        </p:blipFill>
        <p:spPr>
          <a:xfrm>
            <a:off x="914400" y="3276600"/>
            <a:ext cx="16459200" cy="6096000"/>
          </a:xfrm>
          <a:prstGeom prst="rect">
            <a:avLst/>
          </a:prstGeom>
        </p:spPr>
      </p:pic>
      <p:pic>
        <p:nvPicPr>
          <p:cNvPr id="43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2">
            <a:alphaModFix amt="100000"/>
          </a:blip>
          <a:stretch/>
        </p:blipFill>
        <p:spPr>
          <a:xfrm>
            <a:off x="914400" y="4800451"/>
            <a:ext cx="1523851" cy="761851"/>
          </a:xfrm>
          <a:prstGeom prst="rect">
            <a:avLst/>
          </a:prstGeom>
        </p:spPr>
      </p:pic>
      <p:pic>
        <p:nvPicPr>
          <p:cNvPr id="44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4">
            <a:alphaModFix amt="100000"/>
          </a:blip>
          <a:stretch/>
        </p:blipFill>
        <p:spPr>
          <a:xfrm>
            <a:off x="914400" y="3276600"/>
            <a:ext cx="761851" cy="1523851"/>
          </a:xfrm>
          <a:prstGeom prst="rect">
            <a:avLst/>
          </a:prstGeom>
        </p:spPr>
      </p:pic>
      <p:sp>
        <p:nvSpPr>
          <p:cNvPr id="44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257300"/>
            <a:ext cx="8043862" cy="1133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66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MongoDB Compass</a:t>
            </a:r>
          </a:p>
        </p:txBody>
      </p:sp>
      <p:sp>
        <p:nvSpPr>
          <p:cNvPr id="44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58400" y="914400"/>
            <a:ext cx="73485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Database name : airbnb 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Collection : logements-paris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Storage Size : 70.82 MB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95885 documents 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0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4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2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4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4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4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6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4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460" name="ebe50142-40ea-4b9f-a499-767d9b378809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20">
            <a:alphaModFix amt="100000"/>
          </a:blip>
          <a:stretch/>
        </p:blipFill>
        <p:spPr>
          <a:xfrm>
            <a:off x="914400" y="0"/>
            <a:ext cx="15849600" cy="5410200"/>
          </a:xfrm>
          <a:prstGeom prst="rect">
            <a:avLst/>
          </a:prstGeom>
        </p:spPr>
      </p:pic>
      <p:pic>
        <p:nvPicPr>
          <p:cNvPr id="46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2">
            <a:alphaModFix amt="100000"/>
          </a:blip>
          <a:stretch/>
        </p:blipFill>
        <p:spPr>
          <a:xfrm>
            <a:off x="14935200" y="3581400"/>
            <a:ext cx="914400" cy="914400"/>
          </a:xfrm>
          <a:prstGeom prst="rect">
            <a:avLst/>
          </a:prstGeom>
        </p:spPr>
      </p:pic>
      <p:pic>
        <p:nvPicPr>
          <p:cNvPr id="46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4">
            <a:alphaModFix amt="100000"/>
          </a:blip>
          <a:stretch/>
        </p:blipFill>
        <p:spPr>
          <a:xfrm>
            <a:off x="15849600" y="4495800"/>
            <a:ext cx="914400" cy="914400"/>
          </a:xfrm>
          <a:prstGeom prst="rect">
            <a:avLst/>
          </a:prstGeom>
        </p:spPr>
      </p:pic>
      <p:sp>
        <p:nvSpPr>
          <p:cNvPr id="46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83738" y="5981700"/>
            <a:ext cx="5757862" cy="933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Les documents ...</a:t>
            </a:r>
          </a:p>
        </p:txBody>
      </p:sp>
      <p:sp>
        <p:nvSpPr>
          <p:cNvPr id="46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7010400"/>
            <a:ext cx="16492538" cy="2333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MongoDB stocke ce document en format BSON, qui est comme du JSON enrichi. 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On peut donc faire des requêtes normales comme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 { host_is_superhost: true }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 ou des filtres sur les dates 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{ last_scraped: { $gte: new Date("2024-01-01") } }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 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une base très complète, bien structurée et prête pour l’analyse qui  permet  : 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- des analyses statistiques (reviews, prix, disponibilité)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- des analyses géographiques (quartiers, densité)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- des analyses de comportement hôte (superhost, multi-annonce, etc.)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2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4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4">
            <a:alphaModFix amt="7000"/>
          </a:blip>
          <a:stretch/>
        </p:blipFill>
        <p:spPr>
          <a:xfrm>
            <a:off x="16764572" y="2600420"/>
            <a:ext cx="1524000" cy="762000"/>
          </a:xfrm>
          <a:prstGeom prst="rect">
            <a:avLst/>
          </a:prstGeom>
        </p:spPr>
      </p:pic>
      <p:pic>
        <p:nvPicPr>
          <p:cNvPr id="4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6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4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8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4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0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4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2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4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4">
            <a:alphaModFix amt="7000"/>
          </a:blip>
          <a:stretch/>
        </p:blipFill>
        <p:spPr>
          <a:xfrm>
            <a:off x="762572" y="2267236"/>
            <a:ext cx="762000" cy="762000"/>
          </a:xfrm>
          <a:prstGeom prst="rect">
            <a:avLst/>
          </a:prstGeom>
        </p:spPr>
      </p:pic>
      <p:pic>
        <p:nvPicPr>
          <p:cNvPr id="4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6">
            <a:alphaModFix amt="7000"/>
          </a:blip>
          <a:stretch/>
        </p:blipFill>
        <p:spPr>
          <a:xfrm>
            <a:off x="1523238" y="742760"/>
            <a:ext cx="762000" cy="1524000"/>
          </a:xfrm>
          <a:prstGeom prst="rect">
            <a:avLst/>
          </a:prstGeom>
        </p:spPr>
      </p:pic>
      <p:pic>
        <p:nvPicPr>
          <p:cNvPr id="4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8">
            <a:alphaModFix amt="100000"/>
          </a:blip>
          <a:stretch/>
        </p:blipFill>
        <p:spPr>
          <a:xfrm>
            <a:off x="914400" y="2171700"/>
            <a:ext cx="2129731" cy="699046"/>
          </a:xfrm>
          <a:prstGeom prst="rect">
            <a:avLst/>
          </a:prstGeom>
        </p:spPr>
      </p:pic>
      <p:pic>
        <p:nvPicPr>
          <p:cNvPr id="4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0">
            <a:alphaModFix amt="100000"/>
          </a:blip>
          <a:stretch/>
        </p:blipFill>
        <p:spPr>
          <a:xfrm>
            <a:off x="921990" y="2179290"/>
            <a:ext cx="2116336" cy="693390"/>
          </a:xfrm>
          <a:prstGeom prst="rect">
            <a:avLst/>
          </a:prstGeom>
        </p:spPr>
      </p:pic>
      <p:sp>
        <p:nvSpPr>
          <p:cNvPr id="494" name="text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3397" y="2352580"/>
            <a:ext cx="1443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Besoin métier</a:t>
            </a:r>
          </a:p>
        </p:txBody>
      </p:sp>
      <p:pic>
        <p:nvPicPr>
          <p:cNvPr id="4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2">
            <a:alphaModFix amt="100000"/>
          </a:blip>
          <a:stretch/>
        </p:blipFill>
        <p:spPr>
          <a:xfrm>
            <a:off x="3045172" y="2171700"/>
            <a:ext cx="2891731" cy="699046"/>
          </a:xfrm>
          <a:prstGeom prst="rect">
            <a:avLst/>
          </a:prstGeom>
        </p:spPr>
      </p:pic>
      <p:pic>
        <p:nvPicPr>
          <p:cNvPr id="4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4">
            <a:alphaModFix amt="100000"/>
          </a:blip>
          <a:stretch/>
        </p:blipFill>
        <p:spPr>
          <a:xfrm>
            <a:off x="3052762" y="2179290"/>
            <a:ext cx="2878336" cy="693390"/>
          </a:xfrm>
          <a:prstGeom prst="rect">
            <a:avLst/>
          </a:prstGeom>
        </p:spPr>
      </p:pic>
      <p:sp>
        <p:nvSpPr>
          <p:cNvPr id="500" name="text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014692" y="2352580"/>
            <a:ext cx="9953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Avantage</a:t>
            </a:r>
          </a:p>
        </p:txBody>
      </p:sp>
      <p:pic>
        <p:nvPicPr>
          <p:cNvPr id="5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6">
            <a:alphaModFix amt="100000"/>
          </a:blip>
          <a:stretch/>
        </p:blipFill>
        <p:spPr>
          <a:xfrm>
            <a:off x="5941219" y="2171700"/>
            <a:ext cx="11359458" cy="699046"/>
          </a:xfrm>
          <a:prstGeom prst="rect">
            <a:avLst/>
          </a:prstGeom>
        </p:spPr>
      </p:pic>
      <p:pic>
        <p:nvPicPr>
          <p:cNvPr id="5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8">
            <a:alphaModFix amt="100000"/>
          </a:blip>
          <a:stretch/>
        </p:blipFill>
        <p:spPr>
          <a:xfrm>
            <a:off x="5948809" y="2179290"/>
            <a:ext cx="11336541" cy="693390"/>
          </a:xfrm>
          <a:prstGeom prst="rect">
            <a:avLst/>
          </a:prstGeom>
        </p:spPr>
      </p:pic>
      <p:sp>
        <p:nvSpPr>
          <p:cNvPr id="506" name="text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060049" y="2352580"/>
            <a:ext cx="11477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Explication</a:t>
            </a:r>
          </a:p>
        </p:txBody>
      </p:sp>
      <p:pic>
        <p:nvPicPr>
          <p:cNvPr id="5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0">
            <a:alphaModFix amt="100000"/>
          </a:blip>
          <a:stretch/>
        </p:blipFill>
        <p:spPr>
          <a:xfrm>
            <a:off x="914400" y="2864792"/>
            <a:ext cx="2129731" cy="1080045"/>
          </a:xfrm>
          <a:prstGeom prst="rect">
            <a:avLst/>
          </a:prstGeom>
        </p:spPr>
      </p:pic>
      <p:pic>
        <p:nvPicPr>
          <p:cNvPr id="5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2">
            <a:alphaModFix amt="100000"/>
          </a:blip>
          <a:stretch/>
        </p:blipFill>
        <p:spPr>
          <a:xfrm>
            <a:off x="921990" y="2872531"/>
            <a:ext cx="2116336" cy="1074390"/>
          </a:xfrm>
          <a:prstGeom prst="rect">
            <a:avLst/>
          </a:prstGeom>
        </p:spPr>
      </p:pic>
      <p:sp>
        <p:nvSpPr>
          <p:cNvPr id="512" name="Label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3069717"/>
            <a:ext cx="18907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Annonces très diverses</a:t>
            </a:r>
          </a:p>
        </p:txBody>
      </p:sp>
      <p:pic>
        <p:nvPicPr>
          <p:cNvPr id="5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4">
            <a:alphaModFix amt="100000"/>
          </a:blip>
          <a:stretch/>
        </p:blipFill>
        <p:spPr>
          <a:xfrm>
            <a:off x="3045172" y="2864792"/>
            <a:ext cx="2891731" cy="1080045"/>
          </a:xfrm>
          <a:prstGeom prst="rect">
            <a:avLst/>
          </a:prstGeom>
        </p:spPr>
      </p:pic>
      <p:pic>
        <p:nvPicPr>
          <p:cNvPr id="5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6">
            <a:alphaModFix amt="100000"/>
          </a:blip>
          <a:stretch/>
        </p:blipFill>
        <p:spPr>
          <a:xfrm>
            <a:off x="3052762" y="2872531"/>
            <a:ext cx="2878336" cy="1074390"/>
          </a:xfrm>
          <a:prstGeom prst="rect">
            <a:avLst/>
          </a:prstGeom>
        </p:spPr>
      </p:pic>
      <p:sp>
        <p:nvSpPr>
          <p:cNvPr id="518" name="Label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182398" y="3235452"/>
            <a:ext cx="26527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JSON libre et flexible</a:t>
            </a:r>
          </a:p>
        </p:txBody>
      </p:sp>
      <p:pic>
        <p:nvPicPr>
          <p:cNvPr id="5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8">
            <a:alphaModFix amt="100000"/>
          </a:blip>
          <a:stretch/>
        </p:blipFill>
        <p:spPr>
          <a:xfrm>
            <a:off x="5941219" y="2864792"/>
            <a:ext cx="11359458" cy="1080045"/>
          </a:xfrm>
          <a:prstGeom prst="rect">
            <a:avLst/>
          </a:prstGeom>
        </p:spPr>
      </p:pic>
      <p:pic>
        <p:nvPicPr>
          <p:cNvPr id="5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0">
            <a:alphaModFix amt="100000"/>
          </a:blip>
          <a:stretch/>
        </p:blipFill>
        <p:spPr>
          <a:xfrm>
            <a:off x="5948809" y="2872531"/>
            <a:ext cx="11336541" cy="1074390"/>
          </a:xfrm>
          <a:prstGeom prst="rect">
            <a:avLst/>
          </a:prstGeom>
        </p:spPr>
      </p:pic>
      <p:sp>
        <p:nvSpPr>
          <p:cNvPr id="524" name="Label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78474" y="3069717"/>
            <a:ext cx="111109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MongoDB stocke ça nativement en BSON, ce qui permet de travailler directement avec les structures complexes, sans transformation</a:t>
            </a:r>
          </a:p>
        </p:txBody>
      </p:sp>
      <p:pic>
        <p:nvPicPr>
          <p:cNvPr id="5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2">
            <a:alphaModFix amt="100000"/>
          </a:blip>
          <a:stretch/>
        </p:blipFill>
        <p:spPr>
          <a:xfrm>
            <a:off x="914400" y="3937444"/>
            <a:ext cx="2129731" cy="1080045"/>
          </a:xfrm>
          <a:prstGeom prst="rect">
            <a:avLst/>
          </a:prstGeom>
        </p:spPr>
      </p:pic>
      <p:pic>
        <p:nvPicPr>
          <p:cNvPr id="52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4">
            <a:alphaModFix amt="100000"/>
          </a:blip>
          <a:stretch/>
        </p:blipFill>
        <p:spPr>
          <a:xfrm>
            <a:off x="922020" y="3945064"/>
            <a:ext cx="2116336" cy="1074390"/>
          </a:xfrm>
          <a:prstGeom prst="rect">
            <a:avLst/>
          </a:prstGeom>
        </p:spPr>
      </p:pic>
      <p:sp>
        <p:nvSpPr>
          <p:cNvPr id="530" name="Label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4307967"/>
            <a:ext cx="18907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Scraping fréquent</a:t>
            </a:r>
          </a:p>
        </p:txBody>
      </p:sp>
      <p:pic>
        <p:nvPicPr>
          <p:cNvPr id="5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6">
            <a:alphaModFix amt="100000"/>
          </a:blip>
          <a:stretch/>
        </p:blipFill>
        <p:spPr>
          <a:xfrm>
            <a:off x="3045238" y="3937444"/>
            <a:ext cx="2891731" cy="1080045"/>
          </a:xfrm>
          <a:prstGeom prst="rect">
            <a:avLst/>
          </a:prstGeom>
        </p:spPr>
      </p:pic>
      <p:pic>
        <p:nvPicPr>
          <p:cNvPr id="5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8">
            <a:alphaModFix amt="100000"/>
          </a:blip>
          <a:stretch/>
        </p:blipFill>
        <p:spPr>
          <a:xfrm>
            <a:off x="3052858" y="3945064"/>
            <a:ext cx="2878336" cy="1074390"/>
          </a:xfrm>
          <a:prstGeom prst="rect">
            <a:avLst/>
          </a:prstGeom>
        </p:spPr>
      </p:pic>
      <p:sp>
        <p:nvSpPr>
          <p:cNvPr id="536" name="Label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182398" y="4142232"/>
            <a:ext cx="26527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Schéma évolutif sans migration</a:t>
            </a:r>
          </a:p>
        </p:txBody>
      </p:sp>
      <p:pic>
        <p:nvPicPr>
          <p:cNvPr id="5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0">
            <a:alphaModFix amt="100000"/>
          </a:blip>
          <a:stretch/>
        </p:blipFill>
        <p:spPr>
          <a:xfrm>
            <a:off x="5941314" y="3937444"/>
            <a:ext cx="11359458" cy="1080045"/>
          </a:xfrm>
          <a:prstGeom prst="rect">
            <a:avLst/>
          </a:prstGeom>
        </p:spPr>
      </p:pic>
      <p:pic>
        <p:nvPicPr>
          <p:cNvPr id="5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2">
            <a:alphaModFix amt="100000"/>
          </a:blip>
          <a:stretch/>
        </p:blipFill>
        <p:spPr>
          <a:xfrm>
            <a:off x="5948934" y="3945064"/>
            <a:ext cx="11336541" cy="1074390"/>
          </a:xfrm>
          <a:prstGeom prst="rect">
            <a:avLst/>
          </a:prstGeom>
        </p:spPr>
      </p:pic>
      <p:sp>
        <p:nvSpPr>
          <p:cNvPr id="542" name="Label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78474" y="4142232"/>
            <a:ext cx="111109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MongoDB est schéma-libre, Ce qui est parfait pour un scraping régulier : les données changent avec le temps (Airbnb modifie ses pages, formats, etc.)</a:t>
            </a:r>
          </a:p>
        </p:txBody>
      </p:sp>
      <p:pic>
        <p:nvPicPr>
          <p:cNvPr id="5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4">
            <a:alphaModFix amt="100000"/>
          </a:blip>
          <a:stretch/>
        </p:blipFill>
        <p:spPr>
          <a:xfrm>
            <a:off x="914400" y="5009960"/>
            <a:ext cx="2129731" cy="1080045"/>
          </a:xfrm>
          <a:prstGeom prst="rect">
            <a:avLst/>
          </a:prstGeom>
        </p:spPr>
      </p:pic>
      <p:pic>
        <p:nvPicPr>
          <p:cNvPr id="5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6">
            <a:alphaModFix amt="100000"/>
          </a:blip>
          <a:stretch/>
        </p:blipFill>
        <p:spPr>
          <a:xfrm>
            <a:off x="922020" y="5017580"/>
            <a:ext cx="2116336" cy="1074390"/>
          </a:xfrm>
          <a:prstGeom prst="rect">
            <a:avLst/>
          </a:prstGeom>
        </p:spPr>
      </p:pic>
      <p:sp>
        <p:nvSpPr>
          <p:cNvPr id="548" name="Label-3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5214747"/>
            <a:ext cx="18907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Analyse statistique</a:t>
            </a:r>
          </a:p>
        </p:txBody>
      </p:sp>
      <p:pic>
        <p:nvPicPr>
          <p:cNvPr id="5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8">
            <a:alphaModFix amt="100000"/>
          </a:blip>
          <a:stretch/>
        </p:blipFill>
        <p:spPr>
          <a:xfrm>
            <a:off x="3045238" y="5009960"/>
            <a:ext cx="2891731" cy="1080045"/>
          </a:xfrm>
          <a:prstGeom prst="rect">
            <a:avLst/>
          </a:prstGeom>
        </p:spPr>
      </p:pic>
      <p:pic>
        <p:nvPicPr>
          <p:cNvPr id="5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0">
            <a:alphaModFix amt="100000"/>
          </a:blip>
          <a:stretch/>
        </p:blipFill>
        <p:spPr>
          <a:xfrm>
            <a:off x="3052858" y="5017580"/>
            <a:ext cx="2878336" cy="1074390"/>
          </a:xfrm>
          <a:prstGeom prst="rect">
            <a:avLst/>
          </a:prstGeom>
        </p:spPr>
      </p:pic>
      <p:sp>
        <p:nvSpPr>
          <p:cNvPr id="554" name="Label-3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182398" y="5214747"/>
            <a:ext cx="26527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Aggregation pipeline puissante</a:t>
            </a:r>
          </a:p>
        </p:txBody>
      </p:sp>
      <p:pic>
        <p:nvPicPr>
          <p:cNvPr id="5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2">
            <a:alphaModFix amt="100000"/>
          </a:blip>
          <a:stretch/>
        </p:blipFill>
        <p:spPr>
          <a:xfrm>
            <a:off x="5941314" y="5009960"/>
            <a:ext cx="11359458" cy="1080045"/>
          </a:xfrm>
          <a:prstGeom prst="rect">
            <a:avLst/>
          </a:prstGeom>
        </p:spPr>
      </p:pic>
      <p:pic>
        <p:nvPicPr>
          <p:cNvPr id="5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4">
            <a:alphaModFix amt="100000"/>
          </a:blip>
          <a:stretch/>
        </p:blipFill>
        <p:spPr>
          <a:xfrm>
            <a:off x="5948934" y="5017580"/>
            <a:ext cx="11336541" cy="1074390"/>
          </a:xfrm>
          <a:prstGeom prst="rect">
            <a:avLst/>
          </a:prstGeom>
        </p:spPr>
      </p:pic>
      <p:sp>
        <p:nvSpPr>
          <p:cNvPr id="560" name="Label-3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78474" y="5214747"/>
            <a:ext cx="111109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Possibilité de faire des groupements, des tris . Le </a:t>
            </a:r>
            <a:r>
              <a:rPr lang="en-US" sz="1800" i="1" spc="-9" dirty="0">
                <a:solidFill>
                  <a:srgbClr val="262D36"/>
                </a:solidFill>
                <a:latin typeface="Roboto" panose="00000700000000000000" pitchFamily="2" charset="0"/>
              </a:rPr>
              <a:t>Aggregation Framework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 de MongoDB remplace dans de nombreux cas des requêtes SQL complexes ou des transformations Pandas.</a:t>
            </a:r>
          </a:p>
        </p:txBody>
      </p:sp>
      <p:pic>
        <p:nvPicPr>
          <p:cNvPr id="5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6">
            <a:alphaModFix amt="100000"/>
          </a:blip>
          <a:stretch/>
        </p:blipFill>
        <p:spPr>
          <a:xfrm>
            <a:off x="914400" y="6082474"/>
            <a:ext cx="2129731" cy="1080045"/>
          </a:xfrm>
          <a:prstGeom prst="rect">
            <a:avLst/>
          </a:prstGeom>
        </p:spPr>
      </p:pic>
      <p:pic>
        <p:nvPicPr>
          <p:cNvPr id="5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8">
            <a:alphaModFix amt="100000"/>
          </a:blip>
          <a:stretch/>
        </p:blipFill>
        <p:spPr>
          <a:xfrm>
            <a:off x="922020" y="6090094"/>
            <a:ext cx="2116336" cy="1074390"/>
          </a:xfrm>
          <a:prstGeom prst="rect">
            <a:avLst/>
          </a:prstGeom>
        </p:spPr>
      </p:pic>
      <p:sp>
        <p:nvSpPr>
          <p:cNvPr id="566" name="Label-4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6287262"/>
            <a:ext cx="18907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Hétérogénéité des données</a:t>
            </a:r>
          </a:p>
        </p:txBody>
      </p:sp>
      <p:pic>
        <p:nvPicPr>
          <p:cNvPr id="5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0">
            <a:alphaModFix amt="100000"/>
          </a:blip>
          <a:stretch/>
        </p:blipFill>
        <p:spPr>
          <a:xfrm>
            <a:off x="3045238" y="6082474"/>
            <a:ext cx="2891731" cy="1080045"/>
          </a:xfrm>
          <a:prstGeom prst="rect">
            <a:avLst/>
          </a:prstGeom>
        </p:spPr>
      </p:pic>
      <p:pic>
        <p:nvPicPr>
          <p:cNvPr id="5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2">
            <a:alphaModFix amt="100000"/>
          </a:blip>
          <a:stretch/>
        </p:blipFill>
        <p:spPr>
          <a:xfrm>
            <a:off x="3052858" y="6090094"/>
            <a:ext cx="2878336" cy="1074390"/>
          </a:xfrm>
          <a:prstGeom prst="rect">
            <a:avLst/>
          </a:prstGeom>
        </p:spPr>
      </p:pic>
      <p:sp>
        <p:nvSpPr>
          <p:cNvPr id="572" name="Label-4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182398" y="6287262"/>
            <a:ext cx="26527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chaque document est autonome et flexible</a:t>
            </a:r>
          </a:p>
        </p:txBody>
      </p:sp>
      <p:pic>
        <p:nvPicPr>
          <p:cNvPr id="5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4">
            <a:alphaModFix amt="100000"/>
          </a:blip>
          <a:stretch/>
        </p:blipFill>
        <p:spPr>
          <a:xfrm>
            <a:off x="5941314" y="6082474"/>
            <a:ext cx="11359458" cy="1080045"/>
          </a:xfrm>
          <a:prstGeom prst="rect">
            <a:avLst/>
          </a:prstGeom>
        </p:spPr>
      </p:pic>
      <p:pic>
        <p:nvPicPr>
          <p:cNvPr id="5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6">
            <a:alphaModFix amt="100000"/>
          </a:blip>
          <a:stretch/>
        </p:blipFill>
        <p:spPr>
          <a:xfrm>
            <a:off x="5948934" y="6090094"/>
            <a:ext cx="11336541" cy="1074390"/>
          </a:xfrm>
          <a:prstGeom prst="rect">
            <a:avLst/>
          </a:prstGeom>
        </p:spPr>
      </p:pic>
      <p:sp>
        <p:nvSpPr>
          <p:cNvPr id="578" name="Label-4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78474" y="6287262"/>
            <a:ext cx="111109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Toutes les annonces ne contiennent pas exactement les mêmes champs (exempels : présence ou pas de reviews_per_month, picture_url). Avec SQL, tu aurais beaucoup de NULL dans une table à colonnes fixes </a:t>
            </a:r>
          </a:p>
        </p:txBody>
      </p:sp>
      <p:pic>
        <p:nvPicPr>
          <p:cNvPr id="5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8">
            <a:alphaModFix amt="100000"/>
          </a:blip>
          <a:stretch/>
        </p:blipFill>
        <p:spPr>
          <a:xfrm>
            <a:off x="914400" y="7154990"/>
            <a:ext cx="2129731" cy="1080045"/>
          </a:xfrm>
          <a:prstGeom prst="rect">
            <a:avLst/>
          </a:prstGeom>
        </p:spPr>
      </p:pic>
      <p:pic>
        <p:nvPicPr>
          <p:cNvPr id="5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0">
            <a:alphaModFix amt="100000"/>
          </a:blip>
          <a:stretch/>
        </p:blipFill>
        <p:spPr>
          <a:xfrm>
            <a:off x="922020" y="7162610"/>
            <a:ext cx="2116336" cy="1074390"/>
          </a:xfrm>
          <a:prstGeom prst="rect">
            <a:avLst/>
          </a:prstGeom>
        </p:spPr>
      </p:pic>
      <p:sp>
        <p:nvSpPr>
          <p:cNvPr id="584" name="Label-5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7525512"/>
            <a:ext cx="18907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Performance</a:t>
            </a:r>
          </a:p>
        </p:txBody>
      </p:sp>
      <p:pic>
        <p:nvPicPr>
          <p:cNvPr id="5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2">
            <a:alphaModFix amt="100000"/>
          </a:blip>
          <a:stretch/>
        </p:blipFill>
        <p:spPr>
          <a:xfrm>
            <a:off x="3045238" y="7154990"/>
            <a:ext cx="2891731" cy="1080045"/>
          </a:xfrm>
          <a:prstGeom prst="rect">
            <a:avLst/>
          </a:prstGeom>
        </p:spPr>
      </p:pic>
      <p:pic>
        <p:nvPicPr>
          <p:cNvPr id="5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4">
            <a:alphaModFix amt="100000"/>
          </a:blip>
          <a:stretch/>
        </p:blipFill>
        <p:spPr>
          <a:xfrm>
            <a:off x="3052858" y="7162610"/>
            <a:ext cx="2878336" cy="1074390"/>
          </a:xfrm>
          <a:prstGeom prst="rect">
            <a:avLst/>
          </a:prstGeom>
        </p:spPr>
      </p:pic>
      <p:sp>
        <p:nvSpPr>
          <p:cNvPr id="590" name="Label-5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182398" y="7359777"/>
            <a:ext cx="26527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Lecture rapide, requêtes par champ indexé</a:t>
            </a:r>
          </a:p>
        </p:txBody>
      </p:sp>
      <p:pic>
        <p:nvPicPr>
          <p:cNvPr id="5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6">
            <a:alphaModFix amt="100000"/>
          </a:blip>
          <a:stretch/>
        </p:blipFill>
        <p:spPr>
          <a:xfrm>
            <a:off x="5941314" y="7154990"/>
            <a:ext cx="11359458" cy="1080045"/>
          </a:xfrm>
          <a:prstGeom prst="rect">
            <a:avLst/>
          </a:prstGeom>
        </p:spPr>
      </p:pic>
      <p:pic>
        <p:nvPicPr>
          <p:cNvPr id="5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8">
            <a:alphaModFix amt="100000"/>
          </a:blip>
          <a:stretch/>
        </p:blipFill>
        <p:spPr>
          <a:xfrm>
            <a:off x="5948934" y="7162610"/>
            <a:ext cx="11336541" cy="1074390"/>
          </a:xfrm>
          <a:prstGeom prst="rect">
            <a:avLst/>
          </a:prstGeom>
        </p:spPr>
      </p:pic>
      <p:sp>
        <p:nvSpPr>
          <p:cNvPr id="596" name="Label-5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78474" y="7359777"/>
            <a:ext cx="111109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MongoDB permet d’indexer des champs simples, des champs imbriqués pour par exemple des requêtes ultra rapides par quartier, des calculs de proximité...</a:t>
            </a:r>
          </a:p>
        </p:txBody>
      </p:sp>
      <p:pic>
        <p:nvPicPr>
          <p:cNvPr id="5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0">
            <a:alphaModFix amt="100000"/>
          </a:blip>
          <a:stretch/>
        </p:blipFill>
        <p:spPr>
          <a:xfrm>
            <a:off x="914400" y="8227367"/>
            <a:ext cx="2129731" cy="1080045"/>
          </a:xfrm>
          <a:prstGeom prst="rect">
            <a:avLst/>
          </a:prstGeom>
        </p:spPr>
      </p:pic>
      <p:pic>
        <p:nvPicPr>
          <p:cNvPr id="6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2">
            <a:alphaModFix amt="100000"/>
          </a:blip>
          <a:stretch/>
        </p:blipFill>
        <p:spPr>
          <a:xfrm>
            <a:off x="921990" y="8235106"/>
            <a:ext cx="2116336" cy="1074390"/>
          </a:xfrm>
          <a:prstGeom prst="rect">
            <a:avLst/>
          </a:prstGeom>
        </p:spPr>
      </p:pic>
      <p:sp>
        <p:nvSpPr>
          <p:cNvPr id="602" name="Label-6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8432387"/>
            <a:ext cx="18907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Données en volume</a:t>
            </a:r>
          </a:p>
        </p:txBody>
      </p:sp>
      <p:pic>
        <p:nvPicPr>
          <p:cNvPr id="6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4">
            <a:alphaModFix amt="100000"/>
          </a:blip>
          <a:stretch/>
        </p:blipFill>
        <p:spPr>
          <a:xfrm>
            <a:off x="3045172" y="8227367"/>
            <a:ext cx="2891731" cy="1080045"/>
          </a:xfrm>
          <a:prstGeom prst="rect">
            <a:avLst/>
          </a:prstGeom>
        </p:spPr>
      </p:pic>
      <p:pic>
        <p:nvPicPr>
          <p:cNvPr id="6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6">
            <a:alphaModFix amt="100000"/>
          </a:blip>
          <a:stretch/>
        </p:blipFill>
        <p:spPr>
          <a:xfrm>
            <a:off x="3052762" y="8235106"/>
            <a:ext cx="2878336" cy="1074390"/>
          </a:xfrm>
          <a:prstGeom prst="rect">
            <a:avLst/>
          </a:prstGeom>
        </p:spPr>
      </p:pic>
      <p:sp>
        <p:nvSpPr>
          <p:cNvPr id="608" name="Label-6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182398" y="8432387"/>
            <a:ext cx="26527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Scalabilité horizontale possible</a:t>
            </a:r>
          </a:p>
        </p:txBody>
      </p:sp>
      <p:pic>
        <p:nvPicPr>
          <p:cNvPr id="6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8">
            <a:alphaModFix amt="100000"/>
          </a:blip>
          <a:stretch/>
        </p:blipFill>
        <p:spPr>
          <a:xfrm>
            <a:off x="5941219" y="8227367"/>
            <a:ext cx="11359458" cy="1080045"/>
          </a:xfrm>
          <a:prstGeom prst="rect">
            <a:avLst/>
          </a:prstGeom>
        </p:spPr>
      </p:pic>
      <p:pic>
        <p:nvPicPr>
          <p:cNvPr id="6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0">
            <a:alphaModFix amt="100000"/>
          </a:blip>
          <a:stretch/>
        </p:blipFill>
        <p:spPr>
          <a:xfrm>
            <a:off x="5948809" y="8235106"/>
            <a:ext cx="11336541" cy="1074390"/>
          </a:xfrm>
          <a:prstGeom prst="rect">
            <a:avLst/>
          </a:prstGeom>
        </p:spPr>
      </p:pic>
      <p:sp>
        <p:nvSpPr>
          <p:cNvPr id="614" name="Label-6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78474" y="8432387"/>
            <a:ext cx="111109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MongoDB peut se répartir sur plusieurs serveurs ("sharding"), ce que les bases SQL traditionnelles gèrent difficilement sans architectures complexes. </a:t>
            </a:r>
          </a:p>
        </p:txBody>
      </p:sp>
      <p:sp>
        <p:nvSpPr>
          <p:cNvPr id="61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Avantages de </a:t>
            </a:r>
            <a:r>
              <a:rPr lang="en-US" sz="4200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(MongoDB)</a:t>
            </a:r>
            <a:r>
              <a:rPr lang="en-US" sz="4200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 NoSQL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21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36">
            <a:alphaModFix amt="100000"/>
          </a:blip>
          <a:stretch/>
        </p:blipFill>
        <p:spPr>
          <a:xfrm>
            <a:off x="9845897" y="0"/>
            <a:ext cx="8439150" cy="10287000"/>
          </a:xfrm>
          <a:prstGeom prst="rect">
            <a:avLst/>
          </a:prstGeom>
        </p:spPr>
      </p:pic>
      <p:pic>
        <p:nvPicPr>
          <p:cNvPr id="62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8">
            <a:alphaModFix amt="100000"/>
          </a:blip>
          <a:stretch/>
        </p:blipFill>
        <p:spPr>
          <a:xfrm>
            <a:off x="9845897" y="1828800"/>
            <a:ext cx="1828800" cy="914400"/>
          </a:xfrm>
          <a:prstGeom prst="rect">
            <a:avLst/>
          </a:prstGeom>
        </p:spPr>
      </p:pic>
      <p:pic>
        <p:nvPicPr>
          <p:cNvPr id="62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0">
            <a:alphaModFix amt="100000"/>
          </a:blip>
          <a:stretch/>
        </p:blipFill>
        <p:spPr>
          <a:xfrm>
            <a:off x="8931497" y="0"/>
            <a:ext cx="914400" cy="1828800"/>
          </a:xfrm>
          <a:prstGeom prst="rect">
            <a:avLst/>
          </a:prstGeom>
        </p:spPr>
      </p:pic>
      <p:pic>
        <p:nvPicPr>
          <p:cNvPr id="62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2">
            <a:alphaModFix amt="100000"/>
          </a:blip>
          <a:stretch/>
        </p:blipFill>
        <p:spPr>
          <a:xfrm>
            <a:off x="8931497" y="2743200"/>
            <a:ext cx="914400" cy="914400"/>
          </a:xfrm>
          <a:prstGeom prst="rect">
            <a:avLst/>
          </a:prstGeom>
        </p:spPr>
      </p:pic>
      <p:sp>
        <p:nvSpPr>
          <p:cNvPr id="62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914400"/>
            <a:ext cx="7138988" cy="962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"Schéma"</a:t>
            </a:r>
          </a:p>
        </p:txBody>
      </p:sp>
      <p:sp>
        <p:nvSpPr>
          <p:cNvPr id="63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6809" y="1983200"/>
            <a:ext cx="6916579" cy="10668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668"/>
              </a:lnSpc>
            </a:pPr>
            <a:r>
              <a:rPr lang="en-US" sz="2100" spc="-10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Tout est clé/valeur : “clé” : “valeur”Un document est encapsulé dans des accolades {...},Une valeur peut être un type scalaire (entier, nombre, texte, booléen, null), des listes de valeurs [...], ou des documents imbriqués</a:t>
            </a:r>
          </a:p>
        </p:txBody>
      </p:sp>
      <p:sp>
        <p:nvSpPr>
          <p:cNvPr id="633" name="Presenter Name-49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143875"/>
            <a:ext cx="713898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Schéma  ?</a:t>
            </a:r>
          </a:p>
        </p:txBody>
      </p:sp>
      <p:sp>
        <p:nvSpPr>
          <p:cNvPr id="635" name="Presenter Designation-45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543925"/>
            <a:ext cx="7138988" cy="838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500" b="1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Il faut savoir que MongoDB ne gère aucun schéma pour les collections.  Aucune structure fixe ni de typage (ce qui fait la force des SGBDR).</a:t>
            </a:r>
          </a:p>
        </p:txBody>
      </p:sp>
      <p:pic>
        <p:nvPicPr>
          <p:cNvPr id="6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4">
            <a:alphaModFix amt="100000"/>
          </a:blip>
          <a:stretch/>
        </p:blipFill>
        <p:spPr>
          <a:xfrm>
            <a:off x="15239333" y="8763476"/>
            <a:ext cx="762000" cy="762000"/>
          </a:xfrm>
          <a:prstGeom prst="rect">
            <a:avLst/>
          </a:prstGeom>
        </p:spPr>
      </p:pic>
      <p:pic>
        <p:nvPicPr>
          <p:cNvPr id="6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6">
            <a:alphaModFix amt="100000"/>
          </a:blip>
          <a:stretch/>
        </p:blipFill>
        <p:spPr>
          <a:xfrm>
            <a:off x="16764572" y="7238905"/>
            <a:ext cx="800100" cy="1524000"/>
          </a:xfrm>
          <a:prstGeom prst="rect">
            <a:avLst/>
          </a:prstGeom>
        </p:spPr>
      </p:pic>
      <p:pic>
        <p:nvPicPr>
          <p:cNvPr id="6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8">
            <a:alphaModFix amt="100000"/>
          </a:blip>
          <a:stretch/>
        </p:blipFill>
        <p:spPr>
          <a:xfrm>
            <a:off x="16764572" y="8763476"/>
            <a:ext cx="1524000" cy="762000"/>
          </a:xfrm>
          <a:prstGeom prst="rect">
            <a:avLst/>
          </a:prstGeom>
        </p:spPr>
      </p:pic>
      <p:pic>
        <p:nvPicPr>
          <p:cNvPr id="6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0">
            <a:alphaModFix amt="100000"/>
          </a:blip>
          <a:stretch/>
        </p:blipFill>
        <p:spPr>
          <a:xfrm>
            <a:off x="16002000" y="9524619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8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6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0">
            <a:alphaModFix amt="7000"/>
          </a:blip>
          <a:stretch/>
        </p:blipFill>
        <p:spPr>
          <a:xfrm>
            <a:off x="16764572" y="2600420"/>
            <a:ext cx="1524000" cy="762000"/>
          </a:xfrm>
          <a:prstGeom prst="rect">
            <a:avLst/>
          </a:prstGeom>
        </p:spPr>
      </p:pic>
      <p:pic>
        <p:nvPicPr>
          <p:cNvPr id="6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2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6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4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6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6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6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8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6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0">
            <a:alphaModFix amt="7000"/>
          </a:blip>
          <a:stretch/>
        </p:blipFill>
        <p:spPr>
          <a:xfrm>
            <a:off x="762572" y="2267236"/>
            <a:ext cx="762000" cy="762000"/>
          </a:xfrm>
          <a:prstGeom prst="rect">
            <a:avLst/>
          </a:prstGeom>
        </p:spPr>
      </p:pic>
      <p:pic>
        <p:nvPicPr>
          <p:cNvPr id="6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2">
            <a:alphaModFix amt="7000"/>
          </a:blip>
          <a:stretch/>
        </p:blipFill>
        <p:spPr>
          <a:xfrm>
            <a:off x="1523238" y="742760"/>
            <a:ext cx="762000" cy="1524000"/>
          </a:xfrm>
          <a:prstGeom prst="rect">
            <a:avLst/>
          </a:prstGeom>
        </p:spPr>
      </p:pic>
      <p:pic>
        <p:nvPicPr>
          <p:cNvPr id="6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4">
            <a:alphaModFix amt="100000"/>
          </a:blip>
          <a:stretch/>
        </p:blipFill>
        <p:spPr>
          <a:xfrm>
            <a:off x="914400" y="2133600"/>
            <a:ext cx="5501581" cy="708571"/>
          </a:xfrm>
          <a:prstGeom prst="rect">
            <a:avLst/>
          </a:prstGeom>
        </p:spPr>
      </p:pic>
      <p:pic>
        <p:nvPicPr>
          <p:cNvPr id="66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6">
            <a:alphaModFix amt="100000"/>
          </a:blip>
          <a:stretch/>
        </p:blipFill>
        <p:spPr>
          <a:xfrm>
            <a:off x="921990" y="2141190"/>
            <a:ext cx="5488186" cy="702915"/>
          </a:xfrm>
          <a:prstGeom prst="rect">
            <a:avLst/>
          </a:prstGeom>
        </p:spPr>
      </p:pic>
      <p:sp>
        <p:nvSpPr>
          <p:cNvPr id="669" name="text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188018" y="2292668"/>
            <a:ext cx="98583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Clé</a:t>
            </a:r>
          </a:p>
        </p:txBody>
      </p:sp>
      <p:pic>
        <p:nvPicPr>
          <p:cNvPr id="6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8">
            <a:alphaModFix amt="100000"/>
          </a:blip>
          <a:stretch/>
        </p:blipFill>
        <p:spPr>
          <a:xfrm>
            <a:off x="6414045" y="2133600"/>
            <a:ext cx="10883208" cy="708571"/>
          </a:xfrm>
          <a:prstGeom prst="rect">
            <a:avLst/>
          </a:prstGeom>
        </p:spPr>
      </p:pic>
      <p:pic>
        <p:nvPicPr>
          <p:cNvPr id="6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0">
            <a:alphaModFix amt="100000"/>
          </a:blip>
          <a:stretch/>
        </p:blipFill>
        <p:spPr>
          <a:xfrm>
            <a:off x="6421636" y="2141190"/>
            <a:ext cx="10869816" cy="702915"/>
          </a:xfrm>
          <a:prstGeom prst="rect">
            <a:avLst/>
          </a:prstGeom>
        </p:spPr>
      </p:pic>
      <p:sp>
        <p:nvSpPr>
          <p:cNvPr id="675" name="text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461308" y="2292668"/>
            <a:ext cx="2824162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Description de la valeur</a:t>
            </a:r>
          </a:p>
        </p:txBody>
      </p:sp>
      <p:pic>
        <p:nvPicPr>
          <p:cNvPr id="6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2">
            <a:alphaModFix amt="100000"/>
          </a:blip>
          <a:stretch/>
        </p:blipFill>
        <p:spPr>
          <a:xfrm>
            <a:off x="914400" y="2838450"/>
            <a:ext cx="5501581" cy="651421"/>
          </a:xfrm>
          <a:prstGeom prst="rect">
            <a:avLst/>
          </a:prstGeom>
        </p:spPr>
      </p:pic>
      <p:pic>
        <p:nvPicPr>
          <p:cNvPr id="6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4">
            <a:alphaModFix amt="100000"/>
          </a:blip>
          <a:stretch/>
        </p:blipFill>
        <p:spPr>
          <a:xfrm>
            <a:off x="921990" y="2846040"/>
            <a:ext cx="5488186" cy="645765"/>
          </a:xfrm>
          <a:prstGeom prst="rect">
            <a:avLst/>
          </a:prstGeom>
        </p:spPr>
      </p:pic>
      <p:sp>
        <p:nvSpPr>
          <p:cNvPr id="681" name="Label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2995898"/>
            <a:ext cx="526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listing_url</a:t>
            </a:r>
          </a:p>
        </p:txBody>
      </p:sp>
      <p:pic>
        <p:nvPicPr>
          <p:cNvPr id="6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6">
            <a:alphaModFix amt="100000"/>
          </a:blip>
          <a:stretch/>
        </p:blipFill>
        <p:spPr>
          <a:xfrm>
            <a:off x="6414045" y="2838450"/>
            <a:ext cx="10883208" cy="651421"/>
          </a:xfrm>
          <a:prstGeom prst="rect">
            <a:avLst/>
          </a:prstGeom>
        </p:spPr>
      </p:pic>
      <p:pic>
        <p:nvPicPr>
          <p:cNvPr id="6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8">
            <a:alphaModFix amt="100000"/>
          </a:blip>
          <a:stretch/>
        </p:blipFill>
        <p:spPr>
          <a:xfrm>
            <a:off x="6421636" y="2846040"/>
            <a:ext cx="10869816" cy="645765"/>
          </a:xfrm>
          <a:prstGeom prst="rect">
            <a:avLst/>
          </a:prstGeom>
        </p:spPr>
      </p:pic>
      <p:sp>
        <p:nvSpPr>
          <p:cNvPr id="687" name="Label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51295" y="2995898"/>
            <a:ext cx="106441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URL publique de l’annonce</a:t>
            </a:r>
          </a:p>
        </p:txBody>
      </p:sp>
      <p:pic>
        <p:nvPicPr>
          <p:cNvPr id="6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0">
            <a:alphaModFix amt="100000"/>
          </a:blip>
          <a:stretch/>
        </p:blipFill>
        <p:spPr>
          <a:xfrm>
            <a:off x="914400" y="3484721"/>
            <a:ext cx="5501581" cy="651421"/>
          </a:xfrm>
          <a:prstGeom prst="rect">
            <a:avLst/>
          </a:prstGeom>
        </p:spPr>
      </p:pic>
      <p:pic>
        <p:nvPicPr>
          <p:cNvPr id="6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2">
            <a:alphaModFix amt="100000"/>
          </a:blip>
          <a:stretch/>
        </p:blipFill>
        <p:spPr>
          <a:xfrm>
            <a:off x="922020" y="3492341"/>
            <a:ext cx="5488186" cy="645765"/>
          </a:xfrm>
          <a:prstGeom prst="rect">
            <a:avLst/>
          </a:prstGeom>
        </p:spPr>
      </p:pic>
      <p:sp>
        <p:nvSpPr>
          <p:cNvPr id="693" name="Label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3641979"/>
            <a:ext cx="526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host_id, host_name</a:t>
            </a:r>
          </a:p>
        </p:txBody>
      </p:sp>
      <p:pic>
        <p:nvPicPr>
          <p:cNvPr id="6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4">
            <a:alphaModFix amt="100000"/>
          </a:blip>
          <a:stretch/>
        </p:blipFill>
        <p:spPr>
          <a:xfrm>
            <a:off x="6414135" y="3484721"/>
            <a:ext cx="10883208" cy="651421"/>
          </a:xfrm>
          <a:prstGeom prst="rect">
            <a:avLst/>
          </a:prstGeom>
        </p:spPr>
      </p:pic>
      <p:pic>
        <p:nvPicPr>
          <p:cNvPr id="6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6">
            <a:alphaModFix amt="100000"/>
          </a:blip>
          <a:stretch/>
        </p:blipFill>
        <p:spPr>
          <a:xfrm>
            <a:off x="6421755" y="3492341"/>
            <a:ext cx="10869816" cy="645765"/>
          </a:xfrm>
          <a:prstGeom prst="rect">
            <a:avLst/>
          </a:prstGeom>
        </p:spPr>
      </p:pic>
      <p:sp>
        <p:nvSpPr>
          <p:cNvPr id="699" name="Label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51295" y="3641979"/>
            <a:ext cx="106441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Identité de l’hôte</a:t>
            </a:r>
          </a:p>
        </p:txBody>
      </p:sp>
      <p:pic>
        <p:nvPicPr>
          <p:cNvPr id="7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8">
            <a:alphaModFix amt="100000"/>
          </a:blip>
          <a:stretch/>
        </p:blipFill>
        <p:spPr>
          <a:xfrm>
            <a:off x="914400" y="4130897"/>
            <a:ext cx="5501581" cy="651421"/>
          </a:xfrm>
          <a:prstGeom prst="rect">
            <a:avLst/>
          </a:prstGeom>
        </p:spPr>
      </p:pic>
      <p:pic>
        <p:nvPicPr>
          <p:cNvPr id="7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0">
            <a:alphaModFix amt="100000"/>
          </a:blip>
          <a:stretch/>
        </p:blipFill>
        <p:spPr>
          <a:xfrm>
            <a:off x="922020" y="4138517"/>
            <a:ext cx="5488186" cy="645765"/>
          </a:xfrm>
          <a:prstGeom prst="rect">
            <a:avLst/>
          </a:prstGeom>
        </p:spPr>
      </p:pic>
      <p:sp>
        <p:nvSpPr>
          <p:cNvPr id="705" name="Label-3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4288155"/>
            <a:ext cx="526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host_since</a:t>
            </a:r>
          </a:p>
        </p:txBody>
      </p:sp>
      <p:pic>
        <p:nvPicPr>
          <p:cNvPr id="7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2">
            <a:alphaModFix amt="100000"/>
          </a:blip>
          <a:stretch/>
        </p:blipFill>
        <p:spPr>
          <a:xfrm>
            <a:off x="6414135" y="4130897"/>
            <a:ext cx="10883208" cy="651421"/>
          </a:xfrm>
          <a:prstGeom prst="rect">
            <a:avLst/>
          </a:prstGeom>
        </p:spPr>
      </p:pic>
      <p:pic>
        <p:nvPicPr>
          <p:cNvPr id="7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4">
            <a:alphaModFix amt="100000"/>
          </a:blip>
          <a:stretch/>
        </p:blipFill>
        <p:spPr>
          <a:xfrm>
            <a:off x="6421755" y="4138517"/>
            <a:ext cx="10869816" cy="645765"/>
          </a:xfrm>
          <a:prstGeom prst="rect">
            <a:avLst/>
          </a:prstGeom>
        </p:spPr>
      </p:pic>
      <p:sp>
        <p:nvSpPr>
          <p:cNvPr id="711" name="Label-3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51295" y="4288155"/>
            <a:ext cx="106441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Date d'inscription de l’hôte</a:t>
            </a:r>
          </a:p>
        </p:txBody>
      </p:sp>
      <p:pic>
        <p:nvPicPr>
          <p:cNvPr id="7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6">
            <a:alphaModFix amt="100000"/>
          </a:blip>
          <a:stretch/>
        </p:blipFill>
        <p:spPr>
          <a:xfrm>
            <a:off x="914400" y="4777073"/>
            <a:ext cx="5501581" cy="651421"/>
          </a:xfrm>
          <a:prstGeom prst="rect">
            <a:avLst/>
          </a:prstGeom>
        </p:spPr>
      </p:pic>
      <p:pic>
        <p:nvPicPr>
          <p:cNvPr id="7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8">
            <a:alphaModFix amt="100000"/>
          </a:blip>
          <a:stretch/>
        </p:blipFill>
        <p:spPr>
          <a:xfrm>
            <a:off x="922020" y="4784693"/>
            <a:ext cx="5488186" cy="645765"/>
          </a:xfrm>
          <a:prstGeom prst="rect">
            <a:avLst/>
          </a:prstGeom>
        </p:spPr>
      </p:pic>
      <p:sp>
        <p:nvSpPr>
          <p:cNvPr id="717" name="Label-4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4934331"/>
            <a:ext cx="526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room_type</a:t>
            </a:r>
          </a:p>
        </p:txBody>
      </p:sp>
      <p:pic>
        <p:nvPicPr>
          <p:cNvPr id="7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0">
            <a:alphaModFix amt="100000"/>
          </a:blip>
          <a:stretch/>
        </p:blipFill>
        <p:spPr>
          <a:xfrm>
            <a:off x="6414045" y="4776936"/>
            <a:ext cx="10883208" cy="651421"/>
          </a:xfrm>
          <a:prstGeom prst="rect">
            <a:avLst/>
          </a:prstGeom>
        </p:spPr>
      </p:pic>
      <p:pic>
        <p:nvPicPr>
          <p:cNvPr id="7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2">
            <a:alphaModFix amt="100000"/>
          </a:blip>
          <a:stretch/>
        </p:blipFill>
        <p:spPr>
          <a:xfrm>
            <a:off x="6421755" y="4784693"/>
            <a:ext cx="10869816" cy="645765"/>
          </a:xfrm>
          <a:prstGeom prst="rect">
            <a:avLst/>
          </a:prstGeom>
        </p:spPr>
      </p:pic>
      <p:sp>
        <p:nvSpPr>
          <p:cNvPr id="723" name="Label-4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51295" y="4934331"/>
            <a:ext cx="106441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i="1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Type d’espace loué (entier, chambre privée, partagée)</a:t>
            </a:r>
          </a:p>
        </p:txBody>
      </p:sp>
      <p:pic>
        <p:nvPicPr>
          <p:cNvPr id="7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4">
            <a:alphaModFix amt="100000"/>
          </a:blip>
          <a:stretch/>
        </p:blipFill>
        <p:spPr>
          <a:xfrm>
            <a:off x="914400" y="5423154"/>
            <a:ext cx="5501581" cy="651421"/>
          </a:xfrm>
          <a:prstGeom prst="rect">
            <a:avLst/>
          </a:prstGeom>
        </p:spPr>
      </p:pic>
      <p:pic>
        <p:nvPicPr>
          <p:cNvPr id="7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6">
            <a:alphaModFix amt="100000"/>
          </a:blip>
          <a:stretch/>
        </p:blipFill>
        <p:spPr>
          <a:xfrm>
            <a:off x="922020" y="5430774"/>
            <a:ext cx="5488186" cy="645765"/>
          </a:xfrm>
          <a:prstGeom prst="rect">
            <a:avLst/>
          </a:prstGeom>
        </p:spPr>
      </p:pic>
      <p:sp>
        <p:nvSpPr>
          <p:cNvPr id="729" name="Label-5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5580507"/>
            <a:ext cx="526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property_type</a:t>
            </a:r>
          </a:p>
        </p:txBody>
      </p:sp>
      <p:pic>
        <p:nvPicPr>
          <p:cNvPr id="7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8">
            <a:alphaModFix amt="100000"/>
          </a:blip>
          <a:stretch/>
        </p:blipFill>
        <p:spPr>
          <a:xfrm>
            <a:off x="6414135" y="5423154"/>
            <a:ext cx="10883208" cy="651421"/>
          </a:xfrm>
          <a:prstGeom prst="rect">
            <a:avLst/>
          </a:prstGeom>
        </p:spPr>
      </p:pic>
      <p:pic>
        <p:nvPicPr>
          <p:cNvPr id="7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0">
            <a:alphaModFix amt="100000"/>
          </a:blip>
          <a:stretch/>
        </p:blipFill>
        <p:spPr>
          <a:xfrm>
            <a:off x="6421755" y="5430774"/>
            <a:ext cx="10869816" cy="645765"/>
          </a:xfrm>
          <a:prstGeom prst="rect">
            <a:avLst/>
          </a:prstGeom>
        </p:spPr>
      </p:pic>
      <p:sp>
        <p:nvSpPr>
          <p:cNvPr id="735" name="Label-5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51295" y="5580507"/>
            <a:ext cx="106441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i="1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Type de bien (appartement, maison, etc.)</a:t>
            </a:r>
          </a:p>
        </p:txBody>
      </p:sp>
      <p:pic>
        <p:nvPicPr>
          <p:cNvPr id="7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2">
            <a:alphaModFix amt="100000"/>
          </a:blip>
          <a:stretch/>
        </p:blipFill>
        <p:spPr>
          <a:xfrm>
            <a:off x="914400" y="6069330"/>
            <a:ext cx="5501581" cy="651421"/>
          </a:xfrm>
          <a:prstGeom prst="rect">
            <a:avLst/>
          </a:prstGeom>
        </p:spPr>
      </p:pic>
      <p:pic>
        <p:nvPicPr>
          <p:cNvPr id="7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4">
            <a:alphaModFix amt="100000"/>
          </a:blip>
          <a:stretch/>
        </p:blipFill>
        <p:spPr>
          <a:xfrm>
            <a:off x="922020" y="6076950"/>
            <a:ext cx="5488186" cy="645765"/>
          </a:xfrm>
          <a:prstGeom prst="rect">
            <a:avLst/>
          </a:prstGeom>
        </p:spPr>
      </p:pic>
      <p:sp>
        <p:nvSpPr>
          <p:cNvPr id="741" name="Label-6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6226588"/>
            <a:ext cx="526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availability_365</a:t>
            </a:r>
          </a:p>
        </p:txBody>
      </p:sp>
      <p:pic>
        <p:nvPicPr>
          <p:cNvPr id="7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6">
            <a:alphaModFix amt="100000"/>
          </a:blip>
          <a:stretch/>
        </p:blipFill>
        <p:spPr>
          <a:xfrm>
            <a:off x="6414135" y="6069330"/>
            <a:ext cx="10883208" cy="651421"/>
          </a:xfrm>
          <a:prstGeom prst="rect">
            <a:avLst/>
          </a:prstGeom>
        </p:spPr>
      </p:pic>
      <p:pic>
        <p:nvPicPr>
          <p:cNvPr id="7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8">
            <a:alphaModFix amt="100000"/>
          </a:blip>
          <a:stretch/>
        </p:blipFill>
        <p:spPr>
          <a:xfrm>
            <a:off x="6421755" y="6076950"/>
            <a:ext cx="10869816" cy="645765"/>
          </a:xfrm>
          <a:prstGeom prst="rect">
            <a:avLst/>
          </a:prstGeom>
        </p:spPr>
      </p:pic>
      <p:sp>
        <p:nvSpPr>
          <p:cNvPr id="747" name="Label-6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51295" y="6226588"/>
            <a:ext cx="106441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i="1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Nombre de jours disponibles sur l’année</a:t>
            </a:r>
          </a:p>
        </p:txBody>
      </p:sp>
      <p:pic>
        <p:nvPicPr>
          <p:cNvPr id="7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0">
            <a:alphaModFix amt="100000"/>
          </a:blip>
          <a:stretch/>
        </p:blipFill>
        <p:spPr>
          <a:xfrm>
            <a:off x="914400" y="6715506"/>
            <a:ext cx="5501581" cy="651421"/>
          </a:xfrm>
          <a:prstGeom prst="rect">
            <a:avLst/>
          </a:prstGeom>
        </p:spPr>
      </p:pic>
      <p:pic>
        <p:nvPicPr>
          <p:cNvPr id="7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2">
            <a:alphaModFix amt="100000"/>
          </a:blip>
          <a:stretch/>
        </p:blipFill>
        <p:spPr>
          <a:xfrm>
            <a:off x="922020" y="6723126"/>
            <a:ext cx="5488186" cy="645765"/>
          </a:xfrm>
          <a:prstGeom prst="rect">
            <a:avLst/>
          </a:prstGeom>
        </p:spPr>
      </p:pic>
      <p:sp>
        <p:nvSpPr>
          <p:cNvPr id="753" name="Label-7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6872764"/>
            <a:ext cx="526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number_of_reviews</a:t>
            </a:r>
          </a:p>
        </p:txBody>
      </p:sp>
      <p:pic>
        <p:nvPicPr>
          <p:cNvPr id="7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4">
            <a:alphaModFix amt="100000"/>
          </a:blip>
          <a:stretch/>
        </p:blipFill>
        <p:spPr>
          <a:xfrm>
            <a:off x="6414135" y="6715506"/>
            <a:ext cx="10883208" cy="651421"/>
          </a:xfrm>
          <a:prstGeom prst="rect">
            <a:avLst/>
          </a:prstGeom>
        </p:spPr>
      </p:pic>
      <p:pic>
        <p:nvPicPr>
          <p:cNvPr id="7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6">
            <a:alphaModFix amt="100000"/>
          </a:blip>
          <a:stretch/>
        </p:blipFill>
        <p:spPr>
          <a:xfrm>
            <a:off x="6421755" y="6723126"/>
            <a:ext cx="10869816" cy="645765"/>
          </a:xfrm>
          <a:prstGeom prst="rect">
            <a:avLst/>
          </a:prstGeom>
        </p:spPr>
      </p:pic>
      <p:sp>
        <p:nvSpPr>
          <p:cNvPr id="759" name="Label-7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51295" y="6872764"/>
            <a:ext cx="106441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i="1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Nombre total d’avis</a:t>
            </a:r>
          </a:p>
        </p:txBody>
      </p:sp>
      <p:pic>
        <p:nvPicPr>
          <p:cNvPr id="7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8">
            <a:alphaModFix amt="100000"/>
          </a:blip>
          <a:stretch/>
        </p:blipFill>
        <p:spPr>
          <a:xfrm>
            <a:off x="914400" y="7361682"/>
            <a:ext cx="5501581" cy="651421"/>
          </a:xfrm>
          <a:prstGeom prst="rect">
            <a:avLst/>
          </a:prstGeom>
        </p:spPr>
      </p:pic>
      <p:pic>
        <p:nvPicPr>
          <p:cNvPr id="7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0">
            <a:alphaModFix amt="100000"/>
          </a:blip>
          <a:stretch/>
        </p:blipFill>
        <p:spPr>
          <a:xfrm>
            <a:off x="922020" y="7369302"/>
            <a:ext cx="5488186" cy="645765"/>
          </a:xfrm>
          <a:prstGeom prst="rect">
            <a:avLst/>
          </a:prstGeom>
        </p:spPr>
      </p:pic>
      <p:sp>
        <p:nvSpPr>
          <p:cNvPr id="765" name="Label-8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7518940"/>
            <a:ext cx="526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neighbourhood_cleansed</a:t>
            </a:r>
          </a:p>
        </p:txBody>
      </p:sp>
      <p:pic>
        <p:nvPicPr>
          <p:cNvPr id="76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2">
            <a:alphaModFix amt="100000"/>
          </a:blip>
          <a:stretch/>
        </p:blipFill>
        <p:spPr>
          <a:xfrm>
            <a:off x="6414135" y="7361682"/>
            <a:ext cx="10883208" cy="651421"/>
          </a:xfrm>
          <a:prstGeom prst="rect">
            <a:avLst/>
          </a:prstGeom>
        </p:spPr>
      </p:pic>
      <p:pic>
        <p:nvPicPr>
          <p:cNvPr id="7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4">
            <a:alphaModFix amt="100000"/>
          </a:blip>
          <a:stretch/>
        </p:blipFill>
        <p:spPr>
          <a:xfrm>
            <a:off x="6421755" y="7369302"/>
            <a:ext cx="10869816" cy="645765"/>
          </a:xfrm>
          <a:prstGeom prst="rect">
            <a:avLst/>
          </a:prstGeom>
        </p:spPr>
      </p:pic>
      <p:sp>
        <p:nvSpPr>
          <p:cNvPr id="771" name="Label-8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51295" y="7518940"/>
            <a:ext cx="106441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i="1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Quartier nettoyé (format standardisé)</a:t>
            </a:r>
          </a:p>
        </p:txBody>
      </p:sp>
      <p:pic>
        <p:nvPicPr>
          <p:cNvPr id="7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6">
            <a:alphaModFix amt="100000"/>
          </a:blip>
          <a:stretch/>
        </p:blipFill>
        <p:spPr>
          <a:xfrm>
            <a:off x="914400" y="8007763"/>
            <a:ext cx="5501581" cy="651421"/>
          </a:xfrm>
          <a:prstGeom prst="rect">
            <a:avLst/>
          </a:prstGeom>
        </p:spPr>
      </p:pic>
      <p:pic>
        <p:nvPicPr>
          <p:cNvPr id="7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8">
            <a:alphaModFix amt="100000"/>
          </a:blip>
          <a:stretch/>
        </p:blipFill>
        <p:spPr>
          <a:xfrm>
            <a:off x="922020" y="8015383"/>
            <a:ext cx="5488186" cy="645765"/>
          </a:xfrm>
          <a:prstGeom prst="rect">
            <a:avLst/>
          </a:prstGeom>
        </p:spPr>
      </p:pic>
      <p:sp>
        <p:nvSpPr>
          <p:cNvPr id="777" name="Label-9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8165116"/>
            <a:ext cx="526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instant_bookable</a:t>
            </a:r>
          </a:p>
        </p:txBody>
      </p:sp>
      <p:pic>
        <p:nvPicPr>
          <p:cNvPr id="7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0">
            <a:alphaModFix amt="100000"/>
          </a:blip>
          <a:stretch/>
        </p:blipFill>
        <p:spPr>
          <a:xfrm>
            <a:off x="6414135" y="8007763"/>
            <a:ext cx="10883208" cy="651421"/>
          </a:xfrm>
          <a:prstGeom prst="rect">
            <a:avLst/>
          </a:prstGeom>
        </p:spPr>
      </p:pic>
      <p:pic>
        <p:nvPicPr>
          <p:cNvPr id="7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2">
            <a:alphaModFix amt="100000"/>
          </a:blip>
          <a:stretch/>
        </p:blipFill>
        <p:spPr>
          <a:xfrm>
            <a:off x="6421755" y="8015383"/>
            <a:ext cx="10869816" cy="645765"/>
          </a:xfrm>
          <a:prstGeom prst="rect">
            <a:avLst/>
          </a:prstGeom>
        </p:spPr>
      </p:pic>
      <p:sp>
        <p:nvSpPr>
          <p:cNvPr id="783" name="Label-9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51295" y="8165116"/>
            <a:ext cx="106441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Si le logement est réservable immédiatement</a:t>
            </a:r>
          </a:p>
        </p:txBody>
      </p:sp>
      <p:pic>
        <p:nvPicPr>
          <p:cNvPr id="7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4">
            <a:alphaModFix amt="100000"/>
          </a:blip>
          <a:stretch/>
        </p:blipFill>
        <p:spPr>
          <a:xfrm>
            <a:off x="914400" y="8653909"/>
            <a:ext cx="5501581" cy="651421"/>
          </a:xfrm>
          <a:prstGeom prst="rect">
            <a:avLst/>
          </a:prstGeom>
        </p:spPr>
      </p:pic>
      <p:pic>
        <p:nvPicPr>
          <p:cNvPr id="7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6">
            <a:alphaModFix amt="100000"/>
          </a:blip>
          <a:stretch/>
        </p:blipFill>
        <p:spPr>
          <a:xfrm>
            <a:off x="921990" y="8661500"/>
            <a:ext cx="5488186" cy="645765"/>
          </a:xfrm>
          <a:prstGeom prst="rect">
            <a:avLst/>
          </a:prstGeom>
        </p:spPr>
      </p:pic>
      <p:sp>
        <p:nvSpPr>
          <p:cNvPr id="789" name="Label-1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8811387"/>
            <a:ext cx="526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host_is_superhost</a:t>
            </a:r>
          </a:p>
        </p:txBody>
      </p:sp>
      <p:pic>
        <p:nvPicPr>
          <p:cNvPr id="7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8">
            <a:alphaModFix amt="100000"/>
          </a:blip>
          <a:stretch/>
        </p:blipFill>
        <p:spPr>
          <a:xfrm>
            <a:off x="6414045" y="8653909"/>
            <a:ext cx="10883208" cy="651421"/>
          </a:xfrm>
          <a:prstGeom prst="rect">
            <a:avLst/>
          </a:prstGeom>
        </p:spPr>
      </p:pic>
      <p:pic>
        <p:nvPicPr>
          <p:cNvPr id="7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0">
            <a:alphaModFix amt="100000"/>
          </a:blip>
          <a:stretch/>
        </p:blipFill>
        <p:spPr>
          <a:xfrm>
            <a:off x="6421636" y="8661500"/>
            <a:ext cx="10869816" cy="645765"/>
          </a:xfrm>
          <a:prstGeom prst="rect">
            <a:avLst/>
          </a:prstGeom>
        </p:spPr>
      </p:pic>
      <p:sp>
        <p:nvSpPr>
          <p:cNvPr id="795" name="Label-1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51295" y="8811387"/>
            <a:ext cx="106441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i="1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Statut de l’hôte</a:t>
            </a:r>
          </a:p>
        </p:txBody>
      </p:sp>
      <p:sp>
        <p:nvSpPr>
          <p:cNvPr id="79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7730"/>
            <a:ext cx="16492538" cy="714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39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Structure typique (quelques colonnes-clés et leur signification )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6">
            <a:alphaModFix amt="100000"/>
          </a:blip>
          <a:stretch/>
        </p:blipFill>
        <p:spPr>
          <a:xfrm>
            <a:off x="762572" y="7429310"/>
            <a:ext cx="762000" cy="762000"/>
          </a:xfrm>
          <a:prstGeom prst="rect">
            <a:avLst/>
          </a:prstGeom>
        </p:spPr>
      </p:pic>
      <p:pic>
        <p:nvPicPr>
          <p:cNvPr id="8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8">
            <a:alphaModFix amt="100000"/>
          </a:blip>
          <a:stretch/>
        </p:blipFill>
        <p:spPr>
          <a:xfrm>
            <a:off x="0" y="6666928"/>
            <a:ext cx="762000" cy="762000"/>
          </a:xfrm>
          <a:prstGeom prst="rect">
            <a:avLst/>
          </a:prstGeom>
        </p:spPr>
      </p:pic>
      <p:pic>
        <p:nvPicPr>
          <p:cNvPr id="806" name="f1aaf9f0-9e2d-49de-a859-e82930732fb6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70">
            <a:alphaModFix amt="100000"/>
          </a:blip>
          <a:stretch/>
        </p:blipFill>
        <p:spPr>
          <a:xfrm>
            <a:off x="2438400" y="3810000"/>
            <a:ext cx="13982700" cy="5562600"/>
          </a:xfrm>
          <a:prstGeom prst="rect">
            <a:avLst/>
          </a:prstGeom>
        </p:spPr>
      </p:pic>
      <p:pic>
        <p:nvPicPr>
          <p:cNvPr id="80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2">
            <a:alphaModFix amt="100000"/>
          </a:blip>
          <a:stretch/>
        </p:blipFill>
        <p:spPr>
          <a:xfrm>
            <a:off x="2438400" y="5333905"/>
            <a:ext cx="1523851" cy="761851"/>
          </a:xfrm>
          <a:prstGeom prst="rect">
            <a:avLst/>
          </a:prstGeom>
        </p:spPr>
      </p:pic>
      <p:pic>
        <p:nvPicPr>
          <p:cNvPr id="81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4">
            <a:alphaModFix amt="100000"/>
          </a:blip>
          <a:stretch/>
        </p:blipFill>
        <p:spPr>
          <a:xfrm>
            <a:off x="2438400" y="3810000"/>
            <a:ext cx="761851" cy="1523851"/>
          </a:xfrm>
          <a:prstGeom prst="rect">
            <a:avLst/>
          </a:prstGeom>
        </p:spPr>
      </p:pic>
      <p:sp>
        <p:nvSpPr>
          <p:cNvPr id="81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64925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Quelques  requêtes (1/2)</a:t>
            </a:r>
          </a:p>
        </p:txBody>
      </p:sp>
      <p:pic>
        <p:nvPicPr>
          <p:cNvPr id="8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6">
            <a:alphaModFix amt="100000"/>
          </a:blip>
          <a:stretch/>
        </p:blipFill>
        <p:spPr>
          <a:xfrm>
            <a:off x="15811786" y="9524619"/>
            <a:ext cx="762000" cy="762000"/>
          </a:xfrm>
          <a:prstGeom prst="rect">
            <a:avLst/>
          </a:prstGeom>
        </p:spPr>
      </p:pic>
      <p:pic>
        <p:nvPicPr>
          <p:cNvPr id="8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8">
            <a:alphaModFix amt="100000"/>
          </a:blip>
          <a:stretch/>
        </p:blipFill>
        <p:spPr>
          <a:xfrm>
            <a:off x="16574243" y="8763447"/>
            <a:ext cx="1713756" cy="762000"/>
          </a:xfrm>
          <a:prstGeom prst="rect">
            <a:avLst/>
          </a:prstGeom>
        </p:spPr>
      </p:pic>
      <p:pic>
        <p:nvPicPr>
          <p:cNvPr id="8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0">
            <a:alphaModFix amt="100000"/>
          </a:blip>
          <a:stretch/>
        </p:blipFill>
        <p:spPr>
          <a:xfrm>
            <a:off x="16574357" y="7238905"/>
            <a:ext cx="800100" cy="1524000"/>
          </a:xfrm>
          <a:prstGeom prst="rect">
            <a:avLst/>
          </a:prstGeom>
        </p:spPr>
      </p:pic>
      <p:pic>
        <p:nvPicPr>
          <p:cNvPr id="8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2">
            <a:alphaModFix amt="100000"/>
          </a:blip>
          <a:stretch/>
        </p:blipFill>
        <p:spPr>
          <a:xfrm>
            <a:off x="15049119" y="8763476"/>
            <a:ext cx="762000" cy="762000"/>
          </a:xfrm>
          <a:prstGeom prst="rect">
            <a:avLst/>
          </a:prstGeom>
        </p:spPr>
      </p:pic>
      <p:sp>
        <p:nvSpPr>
          <p:cNvPr id="82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514600"/>
            <a:ext cx="1649253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**Nombre  de documents **:[&amp;lbrace;"$count": "nombre&amp;underscore;de&amp;underscore;documents"&amp;rbrace;](undefined) -&amp;gt; **95885**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8">
            <a:alphaModFix amt="100000"/>
          </a:blip>
          <a:stretch/>
        </p:blipFill>
        <p:spPr>
          <a:xfrm>
            <a:off x="762572" y="7429310"/>
            <a:ext cx="762000" cy="762000"/>
          </a:xfrm>
          <a:prstGeom prst="rect">
            <a:avLst/>
          </a:prstGeom>
        </p:spPr>
      </p:pic>
      <p:pic>
        <p:nvPicPr>
          <p:cNvPr id="8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0">
            <a:alphaModFix amt="100000"/>
          </a:blip>
          <a:stretch/>
        </p:blipFill>
        <p:spPr>
          <a:xfrm>
            <a:off x="0" y="6666928"/>
            <a:ext cx="762000" cy="762000"/>
          </a:xfrm>
          <a:prstGeom prst="rect">
            <a:avLst/>
          </a:prstGeom>
        </p:spPr>
      </p:pic>
      <p:pic>
        <p:nvPicPr>
          <p:cNvPr id="831" name="8a6e506e-574a-432c-b708-149b6975663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92">
            <a:alphaModFix amt="100000"/>
          </a:blip>
          <a:stretch/>
        </p:blipFill>
        <p:spPr>
          <a:xfrm>
            <a:off x="2438400" y="3810000"/>
            <a:ext cx="13982700" cy="5562600"/>
          </a:xfrm>
          <a:prstGeom prst="rect">
            <a:avLst/>
          </a:prstGeom>
        </p:spPr>
      </p:pic>
      <p:pic>
        <p:nvPicPr>
          <p:cNvPr id="83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4">
            <a:alphaModFix amt="100000"/>
          </a:blip>
          <a:stretch/>
        </p:blipFill>
        <p:spPr>
          <a:xfrm>
            <a:off x="2438400" y="5333905"/>
            <a:ext cx="1523851" cy="761851"/>
          </a:xfrm>
          <a:prstGeom prst="rect">
            <a:avLst/>
          </a:prstGeom>
        </p:spPr>
      </p:pic>
      <p:pic>
        <p:nvPicPr>
          <p:cNvPr id="83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6">
            <a:alphaModFix amt="100000"/>
          </a:blip>
          <a:stretch/>
        </p:blipFill>
        <p:spPr>
          <a:xfrm>
            <a:off x="2438400" y="3810000"/>
            <a:ext cx="761851" cy="1523851"/>
          </a:xfrm>
          <a:prstGeom prst="rect">
            <a:avLst/>
          </a:prstGeom>
        </p:spPr>
      </p:pic>
      <p:sp>
        <p:nvSpPr>
          <p:cNvPr id="83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64925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Quelques  requêtes (2/2)</a:t>
            </a:r>
          </a:p>
        </p:txBody>
      </p:sp>
      <p:pic>
        <p:nvPicPr>
          <p:cNvPr id="8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8">
            <a:alphaModFix amt="100000"/>
          </a:blip>
          <a:stretch/>
        </p:blipFill>
        <p:spPr>
          <a:xfrm>
            <a:off x="15811786" y="9524619"/>
            <a:ext cx="762000" cy="762000"/>
          </a:xfrm>
          <a:prstGeom prst="rect">
            <a:avLst/>
          </a:prstGeom>
        </p:spPr>
      </p:pic>
      <p:pic>
        <p:nvPicPr>
          <p:cNvPr id="8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0">
            <a:alphaModFix amt="100000"/>
          </a:blip>
          <a:stretch/>
        </p:blipFill>
        <p:spPr>
          <a:xfrm>
            <a:off x="16574243" y="8763447"/>
            <a:ext cx="1713756" cy="762000"/>
          </a:xfrm>
          <a:prstGeom prst="rect">
            <a:avLst/>
          </a:prstGeom>
        </p:spPr>
      </p:pic>
      <p:pic>
        <p:nvPicPr>
          <p:cNvPr id="8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2">
            <a:alphaModFix amt="100000"/>
          </a:blip>
          <a:stretch/>
        </p:blipFill>
        <p:spPr>
          <a:xfrm>
            <a:off x="16574357" y="7238905"/>
            <a:ext cx="800100" cy="1524000"/>
          </a:xfrm>
          <a:prstGeom prst="rect">
            <a:avLst/>
          </a:prstGeom>
        </p:spPr>
      </p:pic>
      <p:pic>
        <p:nvPicPr>
          <p:cNvPr id="8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4">
            <a:alphaModFix amt="100000"/>
          </a:blip>
          <a:stretch/>
        </p:blipFill>
        <p:spPr>
          <a:xfrm>
            <a:off x="15049119" y="8763476"/>
            <a:ext cx="762000" cy="762000"/>
          </a:xfrm>
          <a:prstGeom prst="rect">
            <a:avLst/>
          </a:prstGeom>
        </p:spPr>
      </p:pic>
      <p:sp>
        <p:nvSpPr>
          <p:cNvPr id="84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514600"/>
            <a:ext cx="1649253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**Nombre d’hôtes distincts** :[ &amp;lbrace; "$match": &amp;lbrace; "has&amp;underscore;availability": true &amp;rbrace; &amp;rbrace;&amp;comma; &amp;lbrace; "$count": "total&amp;underscore;logements&amp;underscore;disponibles" &amp;rbrace;](undefined) -&amp;gt; **90173**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2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5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0">
            <a:alphaModFix amt="100000"/>
          </a:blip>
          <a:stretch/>
        </p:blipFill>
        <p:spPr>
          <a:xfrm>
            <a:off x="6610350" y="0"/>
            <a:ext cx="476250" cy="6789390"/>
          </a:xfrm>
          <a:prstGeom prst="rect">
            <a:avLst/>
          </a:prstGeom>
        </p:spPr>
      </p:pic>
      <p:pic>
        <p:nvPicPr>
          <p:cNvPr id="85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2">
            <a:alphaModFix amt="100000"/>
          </a:blip>
          <a:stretch/>
        </p:blipFill>
        <p:spPr>
          <a:xfrm>
            <a:off x="6610350" y="7830502"/>
            <a:ext cx="476250" cy="2456408"/>
          </a:xfrm>
          <a:prstGeom prst="rect">
            <a:avLst/>
          </a:prstGeom>
        </p:spPr>
      </p:pic>
      <p:pic>
        <p:nvPicPr>
          <p:cNvPr id="8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4">
            <a:alphaModFix amt="100000"/>
          </a:blip>
          <a:stretch/>
        </p:blipFill>
        <p:spPr>
          <a:xfrm>
            <a:off x="8077200" y="914400"/>
            <a:ext cx="2971800" cy="6400800"/>
          </a:xfrm>
          <a:prstGeom prst="rect">
            <a:avLst/>
          </a:prstGeom>
        </p:spPr>
      </p:pic>
      <p:pic>
        <p:nvPicPr>
          <p:cNvPr id="858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7">
            <a:alphaModFix amt="100000"/>
            <a:extLst>
              <a:ext uri="{50A89069-4ED1-49FB-80D7-980D6D62464E}">
                <asvg:svgBlip xmlns:r="http://schemas.openxmlformats.org/officeDocument/2006/relationships" xmlns:asvg="http://schemas.microsoft.com/office/drawing/2016/SVG/main" r:embed="rId416"/>
                <a14:useLocalDpi xmlns:a14="http://schemas.microsoft.com/office/drawing/2010/main" val="0"/>
              </a:ext>
            </a:extLst>
          </a:blip>
          <a:srcRect l="-173" t="0" r="-173" b="0"/>
          <a:stretch/>
        </p:blipFill>
        <p:spPr>
          <a:xfrm>
            <a:off x="8968740" y="2834640"/>
            <a:ext cx="1188720" cy="2560320"/>
          </a:xfrm>
          <a:prstGeom prst="rect">
            <a:avLst/>
          </a:prstGeom>
        </p:spPr>
      </p:pic>
      <p:sp>
        <p:nvSpPr>
          <p:cNvPr id="86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77200" y="7715250"/>
            <a:ext cx="3005138" cy="1666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Mise en place de sauvegardes régulières et procédures de restauration testées pour garantir la disponibilité des données.</a:t>
            </a:r>
          </a:p>
        </p:txBody>
      </p:sp>
      <p:pic>
        <p:nvPicPr>
          <p:cNvPr id="8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9">
            <a:alphaModFix amt="100000"/>
          </a:blip>
          <a:stretch/>
        </p:blipFill>
        <p:spPr>
          <a:xfrm>
            <a:off x="11239500" y="914400"/>
            <a:ext cx="2971800" cy="6400800"/>
          </a:xfrm>
          <a:prstGeom prst="rect">
            <a:avLst/>
          </a:prstGeom>
        </p:spPr>
      </p:pic>
      <p:pic>
        <p:nvPicPr>
          <p:cNvPr id="864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2">
            <a:alphaModFix amt="100000"/>
            <a:extLst>
              <a:ext uri="{99466EC2-4CAF-4740-8BFD-F3AB2ABFFFC5}">
                <asvg:svgBlip xmlns:r="http://schemas.openxmlformats.org/officeDocument/2006/relationships" xmlns:asvg="http://schemas.microsoft.com/office/drawing/2016/SVG/main" r:embed="rId421"/>
                <a14:useLocalDpi xmlns:a14="http://schemas.microsoft.com/office/drawing/2010/main" val="0"/>
              </a:ext>
            </a:extLst>
          </a:blip>
          <a:srcRect l="-173" t="0" r="-173" b="0"/>
          <a:stretch/>
        </p:blipFill>
        <p:spPr>
          <a:xfrm>
            <a:off x="12131040" y="2834640"/>
            <a:ext cx="1188720" cy="2560320"/>
          </a:xfrm>
          <a:prstGeom prst="rect">
            <a:avLst/>
          </a:prstGeom>
        </p:spPr>
      </p:pic>
      <p:sp>
        <p:nvSpPr>
          <p:cNvPr id="86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39500" y="7715250"/>
            <a:ext cx="300513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Surveillance et alerting pour détecter les anomalies et prévenir les incidents.</a:t>
            </a:r>
          </a:p>
        </p:txBody>
      </p:sp>
      <p:pic>
        <p:nvPicPr>
          <p:cNvPr id="8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4">
            <a:alphaModFix amt="100000"/>
          </a:blip>
          <a:stretch/>
        </p:blipFill>
        <p:spPr>
          <a:xfrm>
            <a:off x="14401800" y="914400"/>
            <a:ext cx="2971800" cy="6400800"/>
          </a:xfrm>
          <a:prstGeom prst="rect">
            <a:avLst/>
          </a:prstGeom>
        </p:spPr>
      </p:pic>
      <p:pic>
        <p:nvPicPr>
          <p:cNvPr id="870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7">
            <a:alphaModFix amt="100000"/>
            <a:extLst>
              <a:ext uri="{2D07714C-09E9-45E4-81DA-3056E0558F9A}">
                <asvg:svgBlip xmlns:r="http://schemas.openxmlformats.org/officeDocument/2006/relationships" xmlns:asvg="http://schemas.microsoft.com/office/drawing/2016/SVG/main" r:embed="rId426"/>
                <a14:useLocalDpi xmlns:a14="http://schemas.microsoft.com/office/drawing/2010/main" val="0"/>
              </a:ext>
            </a:extLst>
          </a:blip>
          <a:srcRect l="-173" t="0" r="-173" b="0"/>
          <a:stretch/>
        </p:blipFill>
        <p:spPr>
          <a:xfrm>
            <a:off x="15293340" y="2834640"/>
            <a:ext cx="1188720" cy="2560320"/>
          </a:xfrm>
          <a:prstGeom prst="rect">
            <a:avLst/>
          </a:prstGeom>
        </p:spPr>
      </p:pic>
      <p:sp>
        <p:nvSpPr>
          <p:cNvPr id="87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401800" y="7715250"/>
            <a:ext cx="30051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Stratégies de gouvernance et de contrôle d'accès pour préserver l'intégrité et la confidentialité des données.</a:t>
            </a:r>
          </a:p>
        </p:txBody>
      </p:sp>
      <p:sp>
        <p:nvSpPr>
          <p:cNvPr id="87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3276600"/>
            <a:ext cx="5253038" cy="2914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Pérenniser l'utilisation et prévenir les </a:t>
            </a:r>
            <a:r>
              <a:rPr lang="en-US" sz="4200" b="1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incidents</a:t>
            </a:r>
          </a:p>
        </p:txBody>
      </p:sp>
      <p:sp>
        <p:nvSpPr>
          <p:cNvPr id="87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6286500"/>
            <a:ext cx="52530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Mesures concrètes pour garantir disponibilité, intégrité et sécurité des données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81" name="d25667ff-e473-40df-8633-e605881d999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33">
            <a:alphaModFix amt="100000"/>
          </a:blip>
          <a:stretch/>
        </p:blipFill>
        <p:spPr>
          <a:xfrm>
            <a:off x="723900" y="2247900"/>
            <a:ext cx="6134100" cy="8039100"/>
          </a:xfrm>
          <a:prstGeom prst="rect">
            <a:avLst/>
          </a:prstGeom>
        </p:spPr>
      </p:pic>
      <p:sp>
        <p:nvSpPr>
          <p:cNvPr id="88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2628995"/>
            <a:ext cx="9596438" cy="2562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953"/>
              </a:lnSpc>
            </a:pPr>
            <a:r>
              <a:rPr lang="en-US" sz="39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Ne Plus Jamais Perdre De Données, Même Après Un Crash Disque, Corruption De Fichier, Ou Suppression Accidentelle.</a:t>
            </a:r>
          </a:p>
        </p:txBody>
      </p:sp>
      <p:pic>
        <p:nvPicPr>
          <p:cNvPr id="8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5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8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7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8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9">
            <a:alphaModFix amt="100000"/>
          </a:blip>
          <a:stretch/>
        </p:blipFill>
        <p:spPr>
          <a:xfrm>
            <a:off x="762572" y="8763476"/>
            <a:ext cx="1524000" cy="762000"/>
          </a:xfrm>
          <a:prstGeom prst="rect">
            <a:avLst/>
          </a:prstGeom>
        </p:spPr>
      </p:pic>
      <p:sp>
        <p:nvSpPr>
          <p:cNvPr id="891" name="Click here to edit label-41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2171700"/>
            <a:ext cx="959643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 spc="10" dirty="0">
                <a:solidFill>
                  <a:srgbClr val="262D36">
                    <a:alpha val="100000"/>
                  </a:srgbClr>
                </a:solidFill>
                <a:latin typeface="Roboto" panose="00000700000000000000" pitchFamily="2" charset="0"/>
              </a:rPr>
              <a:t>Sauvegardes Régulières &amp; Procédures De Restauration</a:t>
            </a:r>
          </a:p>
        </p:txBody>
      </p:sp>
      <p:sp>
        <p:nvSpPr>
          <p:cNvPr id="89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3858" y="5295900"/>
            <a:ext cx="9403080" cy="781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Eviter Backup CSV/JSON dans Compass (manuel.. &amp; les dates, nombres, ObjectIds deviennent des chaînes)</a:t>
            </a:r>
          </a:p>
        </p:txBody>
      </p:sp>
      <p:pic>
        <p:nvPicPr>
          <p:cNvPr id="89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1">
            <a:alphaModFix amt="100000"/>
          </a:blip>
          <a:stretch/>
        </p:blipFill>
        <p:spPr>
          <a:xfrm>
            <a:off x="7810500" y="5450586"/>
            <a:ext cx="77242" cy="77242"/>
          </a:xfrm>
          <a:prstGeom prst="rect">
            <a:avLst/>
          </a:prstGeom>
        </p:spPr>
      </p:pic>
      <p:sp>
        <p:nvSpPr>
          <p:cNvPr id="89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3858" y="6336030"/>
            <a:ext cx="9403080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Sauvegarde automatique via mongodump + cron (en local)</a:t>
            </a:r>
          </a:p>
        </p:txBody>
      </p:sp>
      <p:pic>
        <p:nvPicPr>
          <p:cNvPr id="89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3">
            <a:alphaModFix amt="100000"/>
          </a:blip>
          <a:stretch/>
        </p:blipFill>
        <p:spPr>
          <a:xfrm>
            <a:off x="7810500" y="6490716"/>
            <a:ext cx="77242" cy="77242"/>
          </a:xfrm>
          <a:prstGeom prst="rect">
            <a:avLst/>
          </a:prstGeom>
        </p:spPr>
      </p:pic>
      <p:sp>
        <p:nvSpPr>
          <p:cNvPr id="90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3858" y="6989445"/>
            <a:ext cx="9403080" cy="781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Bonus : Sauvegardes dans le cloud avec MongoDB Atlas (dispnibles selon el plan, restauration point-in-time, Interface web)</a:t>
            </a:r>
          </a:p>
        </p:txBody>
      </p:sp>
      <p:pic>
        <p:nvPicPr>
          <p:cNvPr id="90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5">
            <a:alphaModFix amt="100000"/>
          </a:blip>
          <a:stretch/>
        </p:blipFill>
        <p:spPr>
          <a:xfrm>
            <a:off x="7810500" y="7144131"/>
            <a:ext cx="77242" cy="7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9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08" name="d25667ff-e473-40df-8633-e605881d999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51">
            <a:alphaModFix amt="100000"/>
          </a:blip>
          <a:stretch/>
        </p:blipFill>
        <p:spPr>
          <a:xfrm>
            <a:off x="723900" y="2247900"/>
            <a:ext cx="6134100" cy="8039100"/>
          </a:xfrm>
          <a:prstGeom prst="rect">
            <a:avLst/>
          </a:prstGeom>
        </p:spPr>
      </p:pic>
      <p:sp>
        <p:nvSpPr>
          <p:cNvPr id="91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2286762"/>
            <a:ext cx="9596438" cy="3552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Être prévenu si MongoDB plante, dépasse les limites, ou si la base devient instable.</a:t>
            </a:r>
          </a:p>
        </p:txBody>
      </p:sp>
      <p:pic>
        <p:nvPicPr>
          <p:cNvPr id="9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3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9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5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9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7">
            <a:alphaModFix amt="100000"/>
          </a:blip>
          <a:stretch/>
        </p:blipFill>
        <p:spPr>
          <a:xfrm>
            <a:off x="762572" y="8763476"/>
            <a:ext cx="1524000" cy="762000"/>
          </a:xfrm>
          <a:prstGeom prst="rect">
            <a:avLst/>
          </a:prstGeom>
        </p:spPr>
      </p:pic>
      <p:sp>
        <p:nvSpPr>
          <p:cNvPr id="918" name="Click here to edit label-41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1943100"/>
            <a:ext cx="959643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 spc="10" dirty="0">
                <a:solidFill>
                  <a:srgbClr val="262D36">
                    <a:alpha val="100000"/>
                  </a:srgbClr>
                </a:solidFill>
                <a:latin typeface="Roboto" panose="00000700000000000000" pitchFamily="2" charset="0"/>
              </a:rPr>
              <a:t>Surveillance Et Alerting Des Incidents</a:t>
            </a:r>
          </a:p>
        </p:txBody>
      </p:sp>
      <p:sp>
        <p:nvSpPr>
          <p:cNvPr id="92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3858" y="5943600"/>
            <a:ext cx="9403080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Surveilance locale avec mongostat et mongotop</a:t>
            </a:r>
          </a:p>
        </p:txBody>
      </p:sp>
      <p:pic>
        <p:nvPicPr>
          <p:cNvPr id="92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9">
            <a:alphaModFix amt="100000"/>
          </a:blip>
          <a:stretch/>
        </p:blipFill>
        <p:spPr>
          <a:xfrm>
            <a:off x="7810500" y="6098286"/>
            <a:ext cx="77242" cy="77242"/>
          </a:xfrm>
          <a:prstGeom prst="rect">
            <a:avLst/>
          </a:prstGeom>
        </p:spPr>
      </p:pic>
      <p:sp>
        <p:nvSpPr>
          <p:cNvPr id="92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3858" y="6597015"/>
            <a:ext cx="9403080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MongoDB Atlas Monitoring même en local</a:t>
            </a:r>
          </a:p>
        </p:txBody>
      </p:sp>
      <p:pic>
        <p:nvPicPr>
          <p:cNvPr id="92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1">
            <a:alphaModFix amt="100000"/>
          </a:blip>
          <a:stretch/>
        </p:blipFill>
        <p:spPr>
          <a:xfrm>
            <a:off x="7810500" y="6751701"/>
            <a:ext cx="77242" cy="77242"/>
          </a:xfrm>
          <a:prstGeom prst="rect">
            <a:avLst/>
          </a:prstGeom>
        </p:spPr>
      </p:pic>
      <p:sp>
        <p:nvSpPr>
          <p:cNvPr id="92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3858" y="7250430"/>
            <a:ext cx="9403080" cy="781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Integrations avec Prometheus + Grafana (Dashboard Grafana custom (CPU, RAM, requêtes lentes, etc.) + Alertes : email, Slack, Telegram…</a:t>
            </a:r>
          </a:p>
        </p:txBody>
      </p:sp>
      <p:pic>
        <p:nvPicPr>
          <p:cNvPr id="93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3">
            <a:alphaModFix amt="100000"/>
          </a:blip>
          <a:stretch/>
        </p:blipFill>
        <p:spPr>
          <a:xfrm>
            <a:off x="7810500" y="7405116"/>
            <a:ext cx="77242" cy="7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35" name="d25667ff-e473-40df-8633-e605881d999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69">
            <a:alphaModFix amt="100000"/>
          </a:blip>
          <a:stretch/>
        </p:blipFill>
        <p:spPr>
          <a:xfrm>
            <a:off x="723900" y="2247900"/>
            <a:ext cx="6134100" cy="8039100"/>
          </a:xfrm>
          <a:prstGeom prst="rect">
            <a:avLst/>
          </a:prstGeom>
        </p:spPr>
      </p:pic>
      <p:sp>
        <p:nvSpPr>
          <p:cNvPr id="93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2743200"/>
            <a:ext cx="9596438" cy="2638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54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Protéger l'intégrité et la confidentialité des données en limitant les droits.</a:t>
            </a:r>
          </a:p>
        </p:txBody>
      </p:sp>
      <p:pic>
        <p:nvPicPr>
          <p:cNvPr id="9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1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9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3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9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5">
            <a:alphaModFix amt="100000"/>
          </a:blip>
          <a:stretch/>
        </p:blipFill>
        <p:spPr>
          <a:xfrm>
            <a:off x="762572" y="8763476"/>
            <a:ext cx="1524000" cy="762000"/>
          </a:xfrm>
          <a:prstGeom prst="rect">
            <a:avLst/>
          </a:prstGeom>
        </p:spPr>
      </p:pic>
      <p:sp>
        <p:nvSpPr>
          <p:cNvPr id="945" name="Click here to edit label-42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2400300"/>
            <a:ext cx="959643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 spc="10" dirty="0">
                <a:solidFill>
                  <a:srgbClr val="262D36">
                    <a:alpha val="100000"/>
                  </a:srgbClr>
                </a:solidFill>
                <a:latin typeface="Roboto" panose="00000700000000000000" pitchFamily="2" charset="0"/>
              </a:rPr>
              <a:t>Créer Des Utilisateurs Avec Rôles Spécifiques</a:t>
            </a:r>
          </a:p>
        </p:txBody>
      </p:sp>
      <p:sp>
        <p:nvSpPr>
          <p:cNvPr id="94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3858" y="5486400"/>
            <a:ext cx="9403080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Activer la sécurité dans mongod.conf</a:t>
            </a:r>
          </a:p>
        </p:txBody>
      </p:sp>
      <p:pic>
        <p:nvPicPr>
          <p:cNvPr id="94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7">
            <a:alphaModFix amt="100000"/>
          </a:blip>
          <a:stretch/>
        </p:blipFill>
        <p:spPr>
          <a:xfrm>
            <a:off x="7810500" y="5641086"/>
            <a:ext cx="77242" cy="77242"/>
          </a:xfrm>
          <a:prstGeom prst="rect">
            <a:avLst/>
          </a:prstGeom>
        </p:spPr>
      </p:pic>
      <p:sp>
        <p:nvSpPr>
          <p:cNvPr id="95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3858" y="6139815"/>
            <a:ext cx="9403080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Creer unb admin , un user lecteur, un analyste read write</a:t>
            </a:r>
          </a:p>
        </p:txBody>
      </p:sp>
      <p:pic>
        <p:nvPicPr>
          <p:cNvPr id="95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9">
            <a:alphaModFix amt="100000"/>
          </a:blip>
          <a:stretch/>
        </p:blipFill>
        <p:spPr>
          <a:xfrm>
            <a:off x="7810500" y="6294501"/>
            <a:ext cx="77242" cy="77242"/>
          </a:xfrm>
          <a:prstGeom prst="rect">
            <a:avLst/>
          </a:prstGeom>
        </p:spPr>
      </p:pic>
      <p:sp>
        <p:nvSpPr>
          <p:cNvPr id="95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3858" y="6793230"/>
            <a:ext cx="9403080" cy="781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Chiffrement local '(via filesystem ou "Encrypted Storage Engine" dans la version Enterprise</a:t>
            </a:r>
          </a:p>
        </p:txBody>
      </p:sp>
      <p:pic>
        <p:nvPicPr>
          <p:cNvPr id="95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1">
            <a:alphaModFix amt="100000"/>
          </a:blip>
          <a:stretch/>
        </p:blipFill>
        <p:spPr>
          <a:xfrm>
            <a:off x="7810500" y="6947916"/>
            <a:ext cx="77242" cy="7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6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7">
            <a:alphaModFix amt="100000"/>
          </a:blip>
          <a:stretch/>
        </p:blipFill>
        <p:spPr>
          <a:xfrm>
            <a:off x="6610350" y="0"/>
            <a:ext cx="476250" cy="6789390"/>
          </a:xfrm>
          <a:prstGeom prst="rect">
            <a:avLst/>
          </a:prstGeom>
        </p:spPr>
      </p:pic>
      <p:pic>
        <p:nvPicPr>
          <p:cNvPr id="96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9">
            <a:alphaModFix amt="100000"/>
          </a:blip>
          <a:stretch/>
        </p:blipFill>
        <p:spPr>
          <a:xfrm>
            <a:off x="6610350" y="7830502"/>
            <a:ext cx="476250" cy="2456408"/>
          </a:xfrm>
          <a:prstGeom prst="rect">
            <a:avLst/>
          </a:prstGeom>
        </p:spPr>
      </p:pic>
      <p:pic>
        <p:nvPicPr>
          <p:cNvPr id="9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1">
            <a:alphaModFix amt="100000"/>
          </a:blip>
          <a:stretch/>
        </p:blipFill>
        <p:spPr>
          <a:xfrm>
            <a:off x="8077200" y="1386781"/>
            <a:ext cx="4377631" cy="2118270"/>
          </a:xfrm>
          <a:prstGeom prst="rect">
            <a:avLst/>
          </a:prstGeom>
        </p:spPr>
      </p:pic>
      <p:pic>
        <p:nvPicPr>
          <p:cNvPr id="9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3">
            <a:alphaModFix amt="100000"/>
          </a:blip>
          <a:stretch/>
        </p:blipFill>
        <p:spPr>
          <a:xfrm>
            <a:off x="8382000" y="1805940"/>
            <a:ext cx="171450" cy="171450"/>
          </a:xfrm>
          <a:prstGeom prst="rect">
            <a:avLst/>
          </a:prstGeom>
        </p:spPr>
      </p:pic>
      <p:sp>
        <p:nvSpPr>
          <p:cNvPr id="97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20150" y="1691640"/>
            <a:ext cx="336708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Nombre d’annonces par type de location.</a:t>
            </a:r>
          </a:p>
        </p:txBody>
      </p:sp>
      <p:sp>
        <p:nvSpPr>
          <p:cNvPr id="97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20150" y="2529840"/>
            <a:ext cx="3367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Compte des annonces classées par catégorie de logement.</a:t>
            </a:r>
          </a:p>
        </p:txBody>
      </p:sp>
      <p:pic>
        <p:nvPicPr>
          <p:cNvPr id="9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5">
            <a:alphaModFix amt="100000"/>
          </a:blip>
          <a:stretch/>
        </p:blipFill>
        <p:spPr>
          <a:xfrm>
            <a:off x="8077200" y="3688080"/>
            <a:ext cx="4377631" cy="2118270"/>
          </a:xfrm>
          <a:prstGeom prst="rect">
            <a:avLst/>
          </a:prstGeom>
        </p:spPr>
      </p:pic>
      <p:pic>
        <p:nvPicPr>
          <p:cNvPr id="9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7">
            <a:alphaModFix amt="100000"/>
          </a:blip>
          <a:stretch/>
        </p:blipFill>
        <p:spPr>
          <a:xfrm>
            <a:off x="8382000" y="4107180"/>
            <a:ext cx="171450" cy="171450"/>
          </a:xfrm>
          <a:prstGeom prst="rect">
            <a:avLst/>
          </a:prstGeom>
        </p:spPr>
      </p:pic>
      <p:sp>
        <p:nvSpPr>
          <p:cNvPr id="978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20150" y="3992880"/>
            <a:ext cx="336708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Liste des logements les plus loués</a:t>
            </a:r>
          </a:p>
        </p:txBody>
      </p:sp>
      <p:sp>
        <p:nvSpPr>
          <p:cNvPr id="98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20150" y="4831080"/>
            <a:ext cx="3367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basés sur le nombre de reviews par mois.</a:t>
            </a:r>
          </a:p>
        </p:txBody>
      </p:sp>
      <p:pic>
        <p:nvPicPr>
          <p:cNvPr id="9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9">
            <a:alphaModFix amt="100000"/>
          </a:blip>
          <a:stretch/>
        </p:blipFill>
        <p:spPr>
          <a:xfrm>
            <a:off x="8077200" y="5989320"/>
            <a:ext cx="4377631" cy="2118270"/>
          </a:xfrm>
          <a:prstGeom prst="rect">
            <a:avLst/>
          </a:prstGeom>
        </p:spPr>
      </p:pic>
      <p:pic>
        <p:nvPicPr>
          <p:cNvPr id="9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1">
            <a:alphaModFix amt="100000"/>
          </a:blip>
          <a:stretch/>
        </p:blipFill>
        <p:spPr>
          <a:xfrm>
            <a:off x="8382000" y="6408420"/>
            <a:ext cx="171450" cy="171450"/>
          </a:xfrm>
          <a:prstGeom prst="rect">
            <a:avLst/>
          </a:prstGeom>
        </p:spPr>
      </p:pic>
      <p:sp>
        <p:nvSpPr>
          <p:cNvPr id="98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20150" y="6294120"/>
            <a:ext cx="336708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Nombre total d’hôtes différents.</a:t>
            </a:r>
          </a:p>
        </p:txBody>
      </p:sp>
      <p:sp>
        <p:nvSpPr>
          <p:cNvPr id="98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20150" y="7132320"/>
            <a:ext cx="3367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Nombre distinct d’hôtes présents sur la plateforme.</a:t>
            </a:r>
          </a:p>
        </p:txBody>
      </p:sp>
      <p:pic>
        <p:nvPicPr>
          <p:cNvPr id="9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3">
            <a:alphaModFix amt="100000"/>
          </a:blip>
          <a:stretch/>
        </p:blipFill>
        <p:spPr>
          <a:xfrm>
            <a:off x="12992100" y="1386781"/>
            <a:ext cx="4377631" cy="2518320"/>
          </a:xfrm>
          <a:prstGeom prst="rect">
            <a:avLst/>
          </a:prstGeom>
        </p:spPr>
      </p:pic>
      <p:pic>
        <p:nvPicPr>
          <p:cNvPr id="9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5">
            <a:alphaModFix amt="100000"/>
          </a:blip>
          <a:stretch/>
        </p:blipFill>
        <p:spPr>
          <a:xfrm>
            <a:off x="13296900" y="1805940"/>
            <a:ext cx="171450" cy="171450"/>
          </a:xfrm>
          <a:prstGeom prst="rect">
            <a:avLst/>
          </a:prstGeom>
        </p:spPr>
      </p:pic>
      <p:sp>
        <p:nvSpPr>
          <p:cNvPr id="994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35050" y="1691640"/>
            <a:ext cx="3367088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Nombre de locations réservables instantanément.</a:t>
            </a:r>
          </a:p>
        </p:txBody>
      </p:sp>
      <p:sp>
        <p:nvSpPr>
          <p:cNvPr id="996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35050" y="2929890"/>
            <a:ext cx="3367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Compte des annonces avec réservation instantanée activée.</a:t>
            </a:r>
          </a:p>
        </p:txBody>
      </p:sp>
      <p:pic>
        <p:nvPicPr>
          <p:cNvPr id="9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7">
            <a:alphaModFix amt="100000"/>
          </a:blip>
          <a:stretch/>
        </p:blipFill>
        <p:spPr>
          <a:xfrm>
            <a:off x="12992100" y="4088130"/>
            <a:ext cx="4377631" cy="2518320"/>
          </a:xfrm>
          <a:prstGeom prst="rect">
            <a:avLst/>
          </a:prstGeom>
        </p:spPr>
      </p:pic>
      <p:pic>
        <p:nvPicPr>
          <p:cNvPr id="10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9">
            <a:alphaModFix amt="100000"/>
          </a:blip>
          <a:stretch/>
        </p:blipFill>
        <p:spPr>
          <a:xfrm>
            <a:off x="13296900" y="4507230"/>
            <a:ext cx="171450" cy="171450"/>
          </a:xfrm>
          <a:prstGeom prst="rect">
            <a:avLst/>
          </a:prstGeom>
        </p:spPr>
      </p:pic>
      <p:sp>
        <p:nvSpPr>
          <p:cNvPr id="1002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35050" y="4392930"/>
            <a:ext cx="3367088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Liste des hôtes ayant plus de 100 annonces sur la plateforme.</a:t>
            </a:r>
          </a:p>
        </p:txBody>
      </p:sp>
      <p:sp>
        <p:nvSpPr>
          <p:cNvPr id="1004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35050" y="5631180"/>
            <a:ext cx="3367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Avec leur noms , leur localisation et leur total_listing</a:t>
            </a:r>
          </a:p>
        </p:txBody>
      </p:sp>
      <p:pic>
        <p:nvPicPr>
          <p:cNvPr id="10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1">
            <a:alphaModFix amt="100000"/>
          </a:blip>
          <a:stretch/>
        </p:blipFill>
        <p:spPr>
          <a:xfrm>
            <a:off x="12992100" y="6789420"/>
            <a:ext cx="4377631" cy="2118270"/>
          </a:xfrm>
          <a:prstGeom prst="rect">
            <a:avLst/>
          </a:prstGeom>
        </p:spPr>
      </p:pic>
      <p:pic>
        <p:nvPicPr>
          <p:cNvPr id="10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3">
            <a:alphaModFix amt="100000"/>
          </a:blip>
          <a:stretch/>
        </p:blipFill>
        <p:spPr>
          <a:xfrm>
            <a:off x="13296900" y="7208520"/>
            <a:ext cx="171450" cy="171450"/>
          </a:xfrm>
          <a:prstGeom prst="rect">
            <a:avLst/>
          </a:prstGeom>
        </p:spPr>
      </p:pic>
      <p:sp>
        <p:nvSpPr>
          <p:cNvPr id="1010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35050" y="7094220"/>
            <a:ext cx="336708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Nombre de super hôtes différents.</a:t>
            </a:r>
          </a:p>
        </p:txBody>
      </p:sp>
      <p:sp>
        <p:nvSpPr>
          <p:cNvPr id="1012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35050" y="7932420"/>
            <a:ext cx="33670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Compte des hôtes labellisés « super hôte ». </a:t>
            </a:r>
          </a:p>
        </p:txBody>
      </p:sp>
      <p:sp>
        <p:nvSpPr>
          <p:cNvPr id="101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3628454"/>
            <a:ext cx="5253038" cy="2200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200" spc="-92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Requêtes analytiques </a:t>
            </a:r>
            <a:r>
              <a:rPr lang="en-US" sz="4200" b="1" spc="-92" dirty="0">
                <a:solidFill>
                  <a:srgbClr val="FFFFFF"/>
                </a:solidFill>
                <a:latin typeface="Poppins SemiBold" panose="00000700000000000000" pitchFamily="2" charset="0"/>
              </a:rPr>
              <a:t>principales</a:t>
            </a:r>
          </a:p>
        </p:txBody>
      </p:sp>
      <p:sp>
        <p:nvSpPr>
          <p:cNvPr id="101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5943600"/>
            <a:ext cx="52530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Questions clés pour explorer les annonces et les hôtes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0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9">
            <a:alphaModFix amt="100000"/>
          </a:blip>
          <a:stretch/>
        </p:blipFill>
        <p:spPr>
          <a:xfrm>
            <a:off x="762572" y="7429310"/>
            <a:ext cx="762000" cy="762000"/>
          </a:xfrm>
          <a:prstGeom prst="rect">
            <a:avLst/>
          </a:prstGeom>
        </p:spPr>
      </p:pic>
      <p:pic>
        <p:nvPicPr>
          <p:cNvPr id="10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21">
            <a:alphaModFix amt="100000"/>
          </a:blip>
          <a:stretch/>
        </p:blipFill>
        <p:spPr>
          <a:xfrm>
            <a:off x="0" y="6666928"/>
            <a:ext cx="762000" cy="762000"/>
          </a:xfrm>
          <a:prstGeom prst="rect">
            <a:avLst/>
          </a:prstGeom>
        </p:spPr>
      </p:pic>
      <p:pic>
        <p:nvPicPr>
          <p:cNvPr id="1025" name="5280bbfb-61e6-44c7-a511-f283e5e9f8ed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23">
            <a:alphaModFix amt="100000"/>
          </a:blip>
          <a:stretch/>
        </p:blipFill>
        <p:spPr>
          <a:xfrm>
            <a:off x="2438400" y="3771900"/>
            <a:ext cx="13982700" cy="5600700"/>
          </a:xfrm>
          <a:prstGeom prst="rect">
            <a:avLst/>
          </a:prstGeom>
        </p:spPr>
      </p:pic>
      <p:pic>
        <p:nvPicPr>
          <p:cNvPr id="102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25">
            <a:alphaModFix amt="100000"/>
          </a:blip>
          <a:stretch/>
        </p:blipFill>
        <p:spPr>
          <a:xfrm>
            <a:off x="2438400" y="5295805"/>
            <a:ext cx="1523851" cy="761851"/>
          </a:xfrm>
          <a:prstGeom prst="rect">
            <a:avLst/>
          </a:prstGeom>
        </p:spPr>
      </p:pic>
      <p:pic>
        <p:nvPicPr>
          <p:cNvPr id="102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27">
            <a:alphaModFix amt="100000"/>
          </a:blip>
          <a:stretch/>
        </p:blipFill>
        <p:spPr>
          <a:xfrm>
            <a:off x="2438400" y="3771900"/>
            <a:ext cx="761851" cy="1523851"/>
          </a:xfrm>
          <a:prstGeom prst="rect">
            <a:avLst/>
          </a:prstGeom>
        </p:spPr>
      </p:pic>
      <p:sp>
        <p:nvSpPr>
          <p:cNvPr id="103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64925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requêtes analytiques (1/6)</a:t>
            </a:r>
          </a:p>
        </p:txBody>
      </p:sp>
      <p:pic>
        <p:nvPicPr>
          <p:cNvPr id="10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29">
            <a:alphaModFix amt="100000"/>
          </a:blip>
          <a:stretch/>
        </p:blipFill>
        <p:spPr>
          <a:xfrm>
            <a:off x="15811786" y="9524619"/>
            <a:ext cx="762000" cy="762000"/>
          </a:xfrm>
          <a:prstGeom prst="rect">
            <a:avLst/>
          </a:prstGeom>
        </p:spPr>
      </p:pic>
      <p:pic>
        <p:nvPicPr>
          <p:cNvPr id="10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1">
            <a:alphaModFix amt="100000"/>
          </a:blip>
          <a:stretch/>
        </p:blipFill>
        <p:spPr>
          <a:xfrm>
            <a:off x="16574243" y="8763447"/>
            <a:ext cx="1713756" cy="762000"/>
          </a:xfrm>
          <a:prstGeom prst="rect">
            <a:avLst/>
          </a:prstGeom>
        </p:spPr>
      </p:pic>
      <p:pic>
        <p:nvPicPr>
          <p:cNvPr id="10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3">
            <a:alphaModFix amt="100000"/>
          </a:blip>
          <a:stretch/>
        </p:blipFill>
        <p:spPr>
          <a:xfrm>
            <a:off x="16574357" y="7238905"/>
            <a:ext cx="800100" cy="1524000"/>
          </a:xfrm>
          <a:prstGeom prst="rect">
            <a:avLst/>
          </a:prstGeom>
        </p:spPr>
      </p:pic>
      <p:pic>
        <p:nvPicPr>
          <p:cNvPr id="10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5">
            <a:alphaModFix amt="100000"/>
          </a:blip>
          <a:stretch/>
        </p:blipFill>
        <p:spPr>
          <a:xfrm>
            <a:off x="15049119" y="8763476"/>
            <a:ext cx="762000" cy="762000"/>
          </a:xfrm>
          <a:prstGeom prst="rect">
            <a:avLst/>
          </a:prstGeom>
        </p:spPr>
      </p:pic>
      <p:sp>
        <p:nvSpPr>
          <p:cNvPr id="104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514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Nombre d’annonces par type de location.</a:t>
            </a:r>
            <a:r>
              <a:rPr lang="en-US" sz="1800" spc="-9" dirty="0">
                <a:solidFill>
                  <a:srgbClr val="F0F0F0"/>
                </a:solidFill>
                <a:latin typeface="Roboto" panose="00000700000000000000" pitchFamily="2" charset="0"/>
              </a:rPr>
              <a:t> : $group:  _id: "$room_type", count:  $sum: 1</a:t>
            </a:r>
            <a:r>
              <a:rPr lang="en-US" sz="1800" spc="-9" dirty="0">
                <a:solidFill>
                  <a:srgbClr val="F0F0F0"/>
                </a:solidFill>
                <a:latin typeface="Roboto" panose="00000700000000000000" pitchFamily="2" charset="0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9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0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1">
            <a:alphaModFix amt="100000"/>
          </a:blip>
          <a:stretch/>
        </p:blipFill>
        <p:spPr>
          <a:xfrm>
            <a:off x="762572" y="7429310"/>
            <a:ext cx="762000" cy="762000"/>
          </a:xfrm>
          <a:prstGeom prst="rect">
            <a:avLst/>
          </a:prstGeom>
        </p:spPr>
      </p:pic>
      <p:pic>
        <p:nvPicPr>
          <p:cNvPr id="10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3">
            <a:alphaModFix amt="100000"/>
          </a:blip>
          <a:stretch/>
        </p:blipFill>
        <p:spPr>
          <a:xfrm>
            <a:off x="0" y="6666928"/>
            <a:ext cx="762000" cy="762000"/>
          </a:xfrm>
          <a:prstGeom prst="rect">
            <a:avLst/>
          </a:prstGeom>
        </p:spPr>
      </p:pic>
      <p:pic>
        <p:nvPicPr>
          <p:cNvPr id="1050" name="cafe4fb8-2d3c-4b56-abb7-f82c2fc7b378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45">
            <a:alphaModFix amt="100000"/>
          </a:blip>
          <a:stretch/>
        </p:blipFill>
        <p:spPr>
          <a:xfrm>
            <a:off x="2438400" y="4762500"/>
            <a:ext cx="13982700" cy="4610100"/>
          </a:xfrm>
          <a:prstGeom prst="rect">
            <a:avLst/>
          </a:prstGeom>
        </p:spPr>
      </p:pic>
      <p:pic>
        <p:nvPicPr>
          <p:cNvPr id="105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7">
            <a:alphaModFix amt="100000"/>
          </a:blip>
          <a:stretch/>
        </p:blipFill>
        <p:spPr>
          <a:xfrm>
            <a:off x="2438400" y="6286405"/>
            <a:ext cx="1523851" cy="761851"/>
          </a:xfrm>
          <a:prstGeom prst="rect">
            <a:avLst/>
          </a:prstGeom>
        </p:spPr>
      </p:pic>
      <p:pic>
        <p:nvPicPr>
          <p:cNvPr id="105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9">
            <a:alphaModFix amt="100000"/>
          </a:blip>
          <a:stretch/>
        </p:blipFill>
        <p:spPr>
          <a:xfrm>
            <a:off x="2438400" y="4762500"/>
            <a:ext cx="761851" cy="1523851"/>
          </a:xfrm>
          <a:prstGeom prst="rect">
            <a:avLst/>
          </a:prstGeom>
        </p:spPr>
      </p:pic>
      <p:sp>
        <p:nvSpPr>
          <p:cNvPr id="105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64925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requêtes analytiques (2/6)</a:t>
            </a:r>
          </a:p>
        </p:txBody>
      </p:sp>
      <p:pic>
        <p:nvPicPr>
          <p:cNvPr id="10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1">
            <a:alphaModFix amt="100000"/>
          </a:blip>
          <a:stretch/>
        </p:blipFill>
        <p:spPr>
          <a:xfrm>
            <a:off x="15811786" y="9524619"/>
            <a:ext cx="762000" cy="762000"/>
          </a:xfrm>
          <a:prstGeom prst="rect">
            <a:avLst/>
          </a:prstGeom>
        </p:spPr>
      </p:pic>
      <p:pic>
        <p:nvPicPr>
          <p:cNvPr id="10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3">
            <a:alphaModFix amt="100000"/>
          </a:blip>
          <a:stretch/>
        </p:blipFill>
        <p:spPr>
          <a:xfrm>
            <a:off x="16574243" y="8763447"/>
            <a:ext cx="1713756" cy="762000"/>
          </a:xfrm>
          <a:prstGeom prst="rect">
            <a:avLst/>
          </a:prstGeom>
        </p:spPr>
      </p:pic>
      <p:pic>
        <p:nvPicPr>
          <p:cNvPr id="10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5">
            <a:alphaModFix amt="100000"/>
          </a:blip>
          <a:stretch/>
        </p:blipFill>
        <p:spPr>
          <a:xfrm>
            <a:off x="16574357" y="7238905"/>
            <a:ext cx="800100" cy="1524000"/>
          </a:xfrm>
          <a:prstGeom prst="rect">
            <a:avLst/>
          </a:prstGeom>
        </p:spPr>
      </p:pic>
      <p:pic>
        <p:nvPicPr>
          <p:cNvPr id="10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7">
            <a:alphaModFix amt="100000"/>
          </a:blip>
          <a:stretch/>
        </p:blipFill>
        <p:spPr>
          <a:xfrm>
            <a:off x="15049119" y="8763476"/>
            <a:ext cx="762000" cy="762000"/>
          </a:xfrm>
          <a:prstGeom prst="rect">
            <a:avLst/>
          </a:prstGeom>
        </p:spPr>
      </p:pic>
      <p:sp>
        <p:nvSpPr>
          <p:cNvPr id="106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514600"/>
            <a:ext cx="164925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400" b="1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Nombre de locations réservables instantanément</a:t>
            </a:r>
            <a:r>
              <a:rPr lang="en-US" sz="2400" spc="-9" dirty="0">
                <a:solidFill>
                  <a:srgbClr val="F0F0F0"/>
                </a:solidFill>
                <a:latin typeface="Roboto" panose="00000700000000000000" pitchFamily="2" charset="0"/>
              </a:rPr>
              <a:t> : { "$match": { "instant_bookable": true } } { "$count": "instant_bookable_listings" }</a:t>
            </a:r>
            <a:r>
              <a:rPr lang="en-US" sz="2400" b="1" spc="-9" dirty="0">
                <a:solidFill>
                  <a:srgbClr val="F0F0F0"/>
                </a:solidFill>
                <a:latin typeface="Roboto" panose="00000700000000000000" pitchFamily="2" charset="0"/>
              </a:rPr>
              <a:t>22094 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0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3">
            <a:alphaModFix amt="100000"/>
          </a:blip>
          <a:stretch/>
        </p:blipFill>
        <p:spPr>
          <a:xfrm>
            <a:off x="762572" y="7429310"/>
            <a:ext cx="762000" cy="762000"/>
          </a:xfrm>
          <a:prstGeom prst="rect">
            <a:avLst/>
          </a:prstGeom>
        </p:spPr>
      </p:pic>
      <p:pic>
        <p:nvPicPr>
          <p:cNvPr id="10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5">
            <a:alphaModFix amt="100000"/>
          </a:blip>
          <a:stretch/>
        </p:blipFill>
        <p:spPr>
          <a:xfrm>
            <a:off x="0" y="6666928"/>
            <a:ext cx="762000" cy="762000"/>
          </a:xfrm>
          <a:prstGeom prst="rect">
            <a:avLst/>
          </a:prstGeom>
        </p:spPr>
      </p:pic>
      <p:pic>
        <p:nvPicPr>
          <p:cNvPr id="1075" name="c001711e-a59b-4c88-ae47-1c6c06ac81d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67">
            <a:alphaModFix amt="100000"/>
          </a:blip>
          <a:stretch/>
        </p:blipFill>
        <p:spPr>
          <a:xfrm>
            <a:off x="2438400" y="3771900"/>
            <a:ext cx="13982700" cy="5600700"/>
          </a:xfrm>
          <a:prstGeom prst="rect">
            <a:avLst/>
          </a:prstGeom>
        </p:spPr>
      </p:pic>
      <p:pic>
        <p:nvPicPr>
          <p:cNvPr id="107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9">
            <a:alphaModFix amt="100000"/>
          </a:blip>
          <a:stretch/>
        </p:blipFill>
        <p:spPr>
          <a:xfrm>
            <a:off x="2438400" y="5295805"/>
            <a:ext cx="1523851" cy="761851"/>
          </a:xfrm>
          <a:prstGeom prst="rect">
            <a:avLst/>
          </a:prstGeom>
        </p:spPr>
      </p:pic>
      <p:pic>
        <p:nvPicPr>
          <p:cNvPr id="107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1">
            <a:alphaModFix amt="100000"/>
          </a:blip>
          <a:stretch/>
        </p:blipFill>
        <p:spPr>
          <a:xfrm>
            <a:off x="2438400" y="3771900"/>
            <a:ext cx="761851" cy="1523851"/>
          </a:xfrm>
          <a:prstGeom prst="rect">
            <a:avLst/>
          </a:prstGeom>
        </p:spPr>
      </p:pic>
      <p:sp>
        <p:nvSpPr>
          <p:cNvPr id="108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64925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requêtes analytiques (3/6)</a:t>
            </a:r>
          </a:p>
        </p:txBody>
      </p:sp>
      <p:pic>
        <p:nvPicPr>
          <p:cNvPr id="10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3">
            <a:alphaModFix amt="100000"/>
          </a:blip>
          <a:stretch/>
        </p:blipFill>
        <p:spPr>
          <a:xfrm>
            <a:off x="15811786" y="9524619"/>
            <a:ext cx="762000" cy="762000"/>
          </a:xfrm>
          <a:prstGeom prst="rect">
            <a:avLst/>
          </a:prstGeom>
        </p:spPr>
      </p:pic>
      <p:pic>
        <p:nvPicPr>
          <p:cNvPr id="10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5">
            <a:alphaModFix amt="100000"/>
          </a:blip>
          <a:stretch/>
        </p:blipFill>
        <p:spPr>
          <a:xfrm>
            <a:off x="16574243" y="8763447"/>
            <a:ext cx="1713756" cy="762000"/>
          </a:xfrm>
          <a:prstGeom prst="rect">
            <a:avLst/>
          </a:prstGeom>
        </p:spPr>
      </p:pic>
      <p:pic>
        <p:nvPicPr>
          <p:cNvPr id="10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7">
            <a:alphaModFix amt="100000"/>
          </a:blip>
          <a:stretch/>
        </p:blipFill>
        <p:spPr>
          <a:xfrm>
            <a:off x="16574357" y="7238905"/>
            <a:ext cx="800100" cy="1524000"/>
          </a:xfrm>
          <a:prstGeom prst="rect">
            <a:avLst/>
          </a:prstGeom>
        </p:spPr>
      </p:pic>
      <p:pic>
        <p:nvPicPr>
          <p:cNvPr id="10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9">
            <a:alphaModFix amt="100000"/>
          </a:blip>
          <a:stretch/>
        </p:blipFill>
        <p:spPr>
          <a:xfrm>
            <a:off x="15049119" y="8763476"/>
            <a:ext cx="762000" cy="762000"/>
          </a:xfrm>
          <a:prstGeom prst="rect">
            <a:avLst/>
          </a:prstGeom>
        </p:spPr>
      </p:pic>
      <p:sp>
        <p:nvSpPr>
          <p:cNvPr id="109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514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Liste des logements les plus loués </a:t>
            </a:r>
            <a:r>
              <a:rPr lang="en-US" sz="1800" spc="-9" dirty="0">
                <a:solidFill>
                  <a:srgbClr val="F0F0F0"/>
                </a:solidFill>
                <a:latin typeface="Roboto" panose="00000700000000000000" pitchFamily="2" charset="0"/>
              </a:rPr>
              <a:t>:  "$sort": { "reviews_per_month": -1 } }, { "$limit": 20 }, { "$project": { "name": 1, "reviews_per_month": 1 }}  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0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5">
            <a:alphaModFix amt="100000"/>
          </a:blip>
          <a:stretch/>
        </p:blipFill>
        <p:spPr>
          <a:xfrm>
            <a:off x="762572" y="7429310"/>
            <a:ext cx="762000" cy="762000"/>
          </a:xfrm>
          <a:prstGeom prst="rect">
            <a:avLst/>
          </a:prstGeom>
        </p:spPr>
      </p:pic>
      <p:pic>
        <p:nvPicPr>
          <p:cNvPr id="10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7">
            <a:alphaModFix amt="100000"/>
          </a:blip>
          <a:stretch/>
        </p:blipFill>
        <p:spPr>
          <a:xfrm>
            <a:off x="0" y="6666928"/>
            <a:ext cx="762000" cy="762000"/>
          </a:xfrm>
          <a:prstGeom prst="rect">
            <a:avLst/>
          </a:prstGeom>
        </p:spPr>
      </p:pic>
      <p:pic>
        <p:nvPicPr>
          <p:cNvPr id="1100" name="e3690e6f-c57e-489f-8ce2-4a03db5ceaba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89">
            <a:alphaModFix amt="100000"/>
          </a:blip>
          <a:stretch/>
        </p:blipFill>
        <p:spPr>
          <a:xfrm>
            <a:off x="2438400" y="4991100"/>
            <a:ext cx="13982700" cy="4381500"/>
          </a:xfrm>
          <a:prstGeom prst="rect">
            <a:avLst/>
          </a:prstGeom>
        </p:spPr>
      </p:pic>
      <p:pic>
        <p:nvPicPr>
          <p:cNvPr id="110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1">
            <a:alphaModFix amt="100000"/>
          </a:blip>
          <a:stretch/>
        </p:blipFill>
        <p:spPr>
          <a:xfrm>
            <a:off x="2438400" y="6515005"/>
            <a:ext cx="1523851" cy="761851"/>
          </a:xfrm>
          <a:prstGeom prst="rect">
            <a:avLst/>
          </a:prstGeom>
        </p:spPr>
      </p:pic>
      <p:pic>
        <p:nvPicPr>
          <p:cNvPr id="110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3">
            <a:alphaModFix amt="100000"/>
          </a:blip>
          <a:stretch/>
        </p:blipFill>
        <p:spPr>
          <a:xfrm>
            <a:off x="2438400" y="4991100"/>
            <a:ext cx="761851" cy="1523851"/>
          </a:xfrm>
          <a:prstGeom prst="rect">
            <a:avLst/>
          </a:prstGeom>
        </p:spPr>
      </p:pic>
      <p:sp>
        <p:nvSpPr>
          <p:cNvPr id="110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64925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requêtes analytiques /(4/6)</a:t>
            </a:r>
          </a:p>
        </p:txBody>
      </p:sp>
      <p:pic>
        <p:nvPicPr>
          <p:cNvPr id="11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5">
            <a:alphaModFix amt="100000"/>
          </a:blip>
          <a:stretch/>
        </p:blipFill>
        <p:spPr>
          <a:xfrm>
            <a:off x="15811786" y="9524619"/>
            <a:ext cx="762000" cy="762000"/>
          </a:xfrm>
          <a:prstGeom prst="rect">
            <a:avLst/>
          </a:prstGeom>
        </p:spPr>
      </p:pic>
      <p:pic>
        <p:nvPicPr>
          <p:cNvPr id="11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7">
            <a:alphaModFix amt="100000"/>
          </a:blip>
          <a:stretch/>
        </p:blipFill>
        <p:spPr>
          <a:xfrm>
            <a:off x="16574243" y="8763447"/>
            <a:ext cx="1713756" cy="762000"/>
          </a:xfrm>
          <a:prstGeom prst="rect">
            <a:avLst/>
          </a:prstGeom>
        </p:spPr>
      </p:pic>
      <p:pic>
        <p:nvPicPr>
          <p:cNvPr id="11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9">
            <a:alphaModFix amt="100000"/>
          </a:blip>
          <a:stretch/>
        </p:blipFill>
        <p:spPr>
          <a:xfrm>
            <a:off x="16574357" y="7238905"/>
            <a:ext cx="800100" cy="1524000"/>
          </a:xfrm>
          <a:prstGeom prst="rect">
            <a:avLst/>
          </a:prstGeom>
        </p:spPr>
      </p:pic>
      <p:pic>
        <p:nvPicPr>
          <p:cNvPr id="11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1">
            <a:alphaModFix amt="100000"/>
          </a:blip>
          <a:stretch/>
        </p:blipFill>
        <p:spPr>
          <a:xfrm>
            <a:off x="15049119" y="8763476"/>
            <a:ext cx="762000" cy="762000"/>
          </a:xfrm>
          <a:prstGeom prst="rect">
            <a:avLst/>
          </a:prstGeom>
        </p:spPr>
      </p:pic>
      <p:sp>
        <p:nvSpPr>
          <p:cNvPr id="111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514600"/>
            <a:ext cx="16492538" cy="1552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00" b="1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Le nombre total d'hôtes différents</a:t>
            </a:r>
            <a:r>
              <a:rPr lang="en-US" sz="2100" spc="-9" dirty="0">
                <a:solidFill>
                  <a:srgbClr val="F0F0F0"/>
                </a:solidFill>
                <a:latin typeface="Roboto" panose="00000700000000000000" pitchFamily="2" charset="0"/>
              </a:rPr>
              <a:t>:  { "$group": { "_id": "$host_id" } }, { "$count": "total_different_hosts" }}  -&gt;</a:t>
            </a:r>
            <a:r>
              <a:rPr lang="en-US" sz="2100" spc="-9" dirty="0">
                <a:solidFill>
                  <a:srgbClr val="F0F0F0"/>
                </a:solidFill>
                <a:latin typeface="Roboto" panose="000007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1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7">
            <a:alphaModFix amt="100000"/>
          </a:blip>
          <a:stretch/>
        </p:blipFill>
        <p:spPr>
          <a:xfrm>
            <a:off x="762572" y="7429310"/>
            <a:ext cx="762000" cy="762000"/>
          </a:xfrm>
          <a:prstGeom prst="rect">
            <a:avLst/>
          </a:prstGeom>
        </p:spPr>
      </p:pic>
      <p:pic>
        <p:nvPicPr>
          <p:cNvPr id="11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9">
            <a:alphaModFix amt="100000"/>
          </a:blip>
          <a:stretch/>
        </p:blipFill>
        <p:spPr>
          <a:xfrm>
            <a:off x="0" y="6666928"/>
            <a:ext cx="762000" cy="762000"/>
          </a:xfrm>
          <a:prstGeom prst="rect">
            <a:avLst/>
          </a:prstGeom>
        </p:spPr>
      </p:pic>
      <p:pic>
        <p:nvPicPr>
          <p:cNvPr id="1125" name="406ac275-ae5f-43c6-abf0-6bcdce46f9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11">
            <a:alphaModFix amt="100000"/>
          </a:blip>
          <a:stretch/>
        </p:blipFill>
        <p:spPr>
          <a:xfrm>
            <a:off x="2438400" y="4191000"/>
            <a:ext cx="13982700" cy="5181600"/>
          </a:xfrm>
          <a:prstGeom prst="rect">
            <a:avLst/>
          </a:prstGeom>
        </p:spPr>
      </p:pic>
      <p:pic>
        <p:nvPicPr>
          <p:cNvPr id="112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13">
            <a:alphaModFix amt="100000"/>
          </a:blip>
          <a:stretch/>
        </p:blipFill>
        <p:spPr>
          <a:xfrm>
            <a:off x="2438400" y="5714905"/>
            <a:ext cx="1523851" cy="761851"/>
          </a:xfrm>
          <a:prstGeom prst="rect">
            <a:avLst/>
          </a:prstGeom>
        </p:spPr>
      </p:pic>
      <p:pic>
        <p:nvPicPr>
          <p:cNvPr id="112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15">
            <a:alphaModFix amt="100000"/>
          </a:blip>
          <a:stretch/>
        </p:blipFill>
        <p:spPr>
          <a:xfrm>
            <a:off x="2438400" y="4191000"/>
            <a:ext cx="761851" cy="1523851"/>
          </a:xfrm>
          <a:prstGeom prst="rect">
            <a:avLst/>
          </a:prstGeom>
        </p:spPr>
      </p:pic>
      <p:sp>
        <p:nvSpPr>
          <p:cNvPr id="113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64925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requêtes analytiques /(5/6)</a:t>
            </a:r>
          </a:p>
        </p:txBody>
      </p:sp>
      <p:pic>
        <p:nvPicPr>
          <p:cNvPr id="11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17">
            <a:alphaModFix amt="100000"/>
          </a:blip>
          <a:stretch/>
        </p:blipFill>
        <p:spPr>
          <a:xfrm>
            <a:off x="15811786" y="9524619"/>
            <a:ext cx="762000" cy="762000"/>
          </a:xfrm>
          <a:prstGeom prst="rect">
            <a:avLst/>
          </a:prstGeom>
        </p:spPr>
      </p:pic>
      <p:pic>
        <p:nvPicPr>
          <p:cNvPr id="11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19">
            <a:alphaModFix amt="100000"/>
          </a:blip>
          <a:stretch/>
        </p:blipFill>
        <p:spPr>
          <a:xfrm>
            <a:off x="16574243" y="8763447"/>
            <a:ext cx="1713756" cy="762000"/>
          </a:xfrm>
          <a:prstGeom prst="rect">
            <a:avLst/>
          </a:prstGeom>
        </p:spPr>
      </p:pic>
      <p:pic>
        <p:nvPicPr>
          <p:cNvPr id="11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21">
            <a:alphaModFix amt="100000"/>
          </a:blip>
          <a:stretch/>
        </p:blipFill>
        <p:spPr>
          <a:xfrm>
            <a:off x="16574357" y="7238905"/>
            <a:ext cx="800100" cy="1524000"/>
          </a:xfrm>
          <a:prstGeom prst="rect">
            <a:avLst/>
          </a:prstGeom>
        </p:spPr>
      </p:pic>
      <p:pic>
        <p:nvPicPr>
          <p:cNvPr id="11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23">
            <a:alphaModFix amt="100000"/>
          </a:blip>
          <a:stretch/>
        </p:blipFill>
        <p:spPr>
          <a:xfrm>
            <a:off x="15049119" y="8763476"/>
            <a:ext cx="762000" cy="762000"/>
          </a:xfrm>
          <a:prstGeom prst="rect">
            <a:avLst/>
          </a:prstGeom>
        </p:spPr>
      </p:pic>
      <p:sp>
        <p:nvSpPr>
          <p:cNvPr id="114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514600"/>
            <a:ext cx="16492538" cy="781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**Le nombre total de super-'hôtes différents**:  [&amp;lbrace; "$match": &amp;lbrace; "host&amp;underscore;is&amp;underscore;superhost": true &amp;rbrace; &amp;rbrace;&amp;comma; &amp;lbrace; "$group": &amp;lbrace; "&amp;underscore;id": "$host&amp;underscore;id" &amp;rbrace; &amp;rbrace;&amp;comma; &amp;lbrace; "$count": "super&amp;underscore;host&amp;underscore;count" &amp;rbrace;](undefined) -&amp;gt; **10027**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2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1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29">
            <a:alphaModFix amt="100000"/>
          </a:blip>
          <a:stretch/>
        </p:blipFill>
        <p:spPr>
          <a:xfrm>
            <a:off x="762572" y="7429310"/>
            <a:ext cx="762000" cy="762000"/>
          </a:xfrm>
          <a:prstGeom prst="rect">
            <a:avLst/>
          </a:prstGeom>
        </p:spPr>
      </p:pic>
      <p:pic>
        <p:nvPicPr>
          <p:cNvPr id="11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31">
            <a:alphaModFix amt="100000"/>
          </a:blip>
          <a:stretch/>
        </p:blipFill>
        <p:spPr>
          <a:xfrm>
            <a:off x="0" y="6666928"/>
            <a:ext cx="762000" cy="762000"/>
          </a:xfrm>
          <a:prstGeom prst="rect">
            <a:avLst/>
          </a:prstGeom>
        </p:spPr>
      </p:pic>
      <p:pic>
        <p:nvPicPr>
          <p:cNvPr id="1150" name="39313536-e0e0-42d4-9165-8e2713e1e19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33">
            <a:alphaModFix amt="100000"/>
          </a:blip>
          <a:stretch/>
        </p:blipFill>
        <p:spPr>
          <a:xfrm>
            <a:off x="2438400" y="3886200"/>
            <a:ext cx="13982700" cy="5486400"/>
          </a:xfrm>
          <a:prstGeom prst="rect">
            <a:avLst/>
          </a:prstGeom>
        </p:spPr>
      </p:pic>
      <p:pic>
        <p:nvPicPr>
          <p:cNvPr id="115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35">
            <a:alphaModFix amt="100000"/>
          </a:blip>
          <a:stretch/>
        </p:blipFill>
        <p:spPr>
          <a:xfrm>
            <a:off x="2438400" y="5410105"/>
            <a:ext cx="1523851" cy="761851"/>
          </a:xfrm>
          <a:prstGeom prst="rect">
            <a:avLst/>
          </a:prstGeom>
        </p:spPr>
      </p:pic>
      <p:pic>
        <p:nvPicPr>
          <p:cNvPr id="115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37">
            <a:alphaModFix amt="100000"/>
          </a:blip>
          <a:stretch/>
        </p:blipFill>
        <p:spPr>
          <a:xfrm>
            <a:off x="2438400" y="3886200"/>
            <a:ext cx="761851" cy="1523851"/>
          </a:xfrm>
          <a:prstGeom prst="rect">
            <a:avLst/>
          </a:prstGeom>
        </p:spPr>
      </p:pic>
      <p:sp>
        <p:nvSpPr>
          <p:cNvPr id="115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64925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requêtes analytiques /(6/6)</a:t>
            </a:r>
          </a:p>
        </p:txBody>
      </p:sp>
      <p:pic>
        <p:nvPicPr>
          <p:cNvPr id="11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39">
            <a:alphaModFix amt="100000"/>
          </a:blip>
          <a:stretch/>
        </p:blipFill>
        <p:spPr>
          <a:xfrm>
            <a:off x="15811786" y="9524619"/>
            <a:ext cx="762000" cy="762000"/>
          </a:xfrm>
          <a:prstGeom prst="rect">
            <a:avLst/>
          </a:prstGeom>
        </p:spPr>
      </p:pic>
      <p:pic>
        <p:nvPicPr>
          <p:cNvPr id="11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41">
            <a:alphaModFix amt="100000"/>
          </a:blip>
          <a:stretch/>
        </p:blipFill>
        <p:spPr>
          <a:xfrm>
            <a:off x="16574243" y="8763447"/>
            <a:ext cx="1713756" cy="762000"/>
          </a:xfrm>
          <a:prstGeom prst="rect">
            <a:avLst/>
          </a:prstGeom>
        </p:spPr>
      </p:pic>
      <p:pic>
        <p:nvPicPr>
          <p:cNvPr id="11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43">
            <a:alphaModFix amt="100000"/>
          </a:blip>
          <a:stretch/>
        </p:blipFill>
        <p:spPr>
          <a:xfrm>
            <a:off x="16574357" y="7238905"/>
            <a:ext cx="800100" cy="1524000"/>
          </a:xfrm>
          <a:prstGeom prst="rect">
            <a:avLst/>
          </a:prstGeom>
        </p:spPr>
      </p:pic>
      <p:pic>
        <p:nvPicPr>
          <p:cNvPr id="11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45">
            <a:alphaModFix amt="100000"/>
          </a:blip>
          <a:stretch/>
        </p:blipFill>
        <p:spPr>
          <a:xfrm>
            <a:off x="15049119" y="8763476"/>
            <a:ext cx="762000" cy="762000"/>
          </a:xfrm>
          <a:prstGeom prst="rect">
            <a:avLst/>
          </a:prstGeom>
        </p:spPr>
      </p:pic>
      <p:sp>
        <p:nvSpPr>
          <p:cNvPr id="116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514600"/>
            <a:ext cx="164925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400" b="1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Les hôtes avec plus de 100 annonces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3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49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1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51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11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53">
            <a:alphaModFix amt="7000"/>
          </a:blip>
          <a:stretch/>
        </p:blipFill>
        <p:spPr>
          <a:xfrm>
            <a:off x="16764572" y="2600420"/>
            <a:ext cx="1524000" cy="762000"/>
          </a:xfrm>
          <a:prstGeom prst="rect">
            <a:avLst/>
          </a:prstGeom>
        </p:spPr>
      </p:pic>
      <p:pic>
        <p:nvPicPr>
          <p:cNvPr id="11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55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11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57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11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59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11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61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11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63">
            <a:alphaModFix amt="7000"/>
          </a:blip>
          <a:stretch/>
        </p:blipFill>
        <p:spPr>
          <a:xfrm>
            <a:off x="762572" y="2267236"/>
            <a:ext cx="762000" cy="762000"/>
          </a:xfrm>
          <a:prstGeom prst="rect">
            <a:avLst/>
          </a:prstGeom>
        </p:spPr>
      </p:pic>
      <p:pic>
        <p:nvPicPr>
          <p:cNvPr id="11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65">
            <a:alphaModFix amt="7000"/>
          </a:blip>
          <a:stretch/>
        </p:blipFill>
        <p:spPr>
          <a:xfrm>
            <a:off x="1523238" y="742760"/>
            <a:ext cx="762000" cy="1524000"/>
          </a:xfrm>
          <a:prstGeom prst="rect">
            <a:avLst/>
          </a:prstGeom>
        </p:spPr>
      </p:pic>
      <p:pic>
        <p:nvPicPr>
          <p:cNvPr id="11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67">
            <a:alphaModFix amt="100000"/>
          </a:blip>
          <a:stretch/>
        </p:blipFill>
        <p:spPr>
          <a:xfrm>
            <a:off x="914400" y="2876550"/>
            <a:ext cx="3015556" cy="6375945"/>
          </a:xfrm>
          <a:prstGeom prst="rect">
            <a:avLst/>
          </a:prstGeom>
        </p:spPr>
      </p:pic>
      <p:pic>
        <p:nvPicPr>
          <p:cNvPr id="1189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70">
            <a:alphaModFix amt="100000"/>
            <a:extLst>
              <a:ext uri="{42A64BCA-3195-4837-83C4-824107F812EC}">
                <asvg:svgBlip xmlns:r="http://schemas.openxmlformats.org/officeDocument/2006/relationships" xmlns:asvg="http://schemas.microsoft.com/office/drawing/2016/SVG/main" r:embed="rId66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2104072" y="6477000"/>
            <a:ext cx="640080" cy="640080"/>
          </a:xfrm>
          <a:prstGeom prst="rect">
            <a:avLst/>
          </a:prstGeom>
        </p:spPr>
      </p:pic>
      <p:sp>
        <p:nvSpPr>
          <p:cNvPr id="119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9200" y="3276600"/>
            <a:ext cx="2443162" cy="2009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Taux de réservation moyen par mois par type de logement.</a:t>
            </a:r>
          </a:p>
        </p:txBody>
      </p:sp>
      <p:sp>
        <p:nvSpPr>
          <p:cNvPr id="119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9200" y="7517130"/>
            <a:ext cx="244316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A9A9A9">
                    <a:alpha val="80000"/>
                  </a:srgbClr>
                </a:solidFill>
                <a:latin typeface="Roboto" panose="00000700000000000000" pitchFamily="2" charset="0"/>
              </a:rPr>
              <a:t>Moyenne mensuelle des réservations selon le type de logement.</a:t>
            </a:r>
          </a:p>
        </p:txBody>
      </p:sp>
      <p:pic>
        <p:nvPicPr>
          <p:cNvPr id="11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72">
            <a:alphaModFix amt="100000"/>
          </a:blip>
          <a:stretch/>
        </p:blipFill>
        <p:spPr>
          <a:xfrm>
            <a:off x="704850" y="2667000"/>
            <a:ext cx="457200" cy="457200"/>
          </a:xfrm>
          <a:prstGeom prst="rect">
            <a:avLst/>
          </a:prstGeom>
        </p:spPr>
      </p:pic>
      <p:sp>
        <p:nvSpPr>
          <p:cNvPr id="1197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29723" y="2741295"/>
            <a:ext cx="24288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01</a:t>
            </a:r>
          </a:p>
        </p:txBody>
      </p:sp>
      <p:pic>
        <p:nvPicPr>
          <p:cNvPr id="11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74">
            <a:alphaModFix amt="100000"/>
          </a:blip>
          <a:stretch/>
        </p:blipFill>
        <p:spPr>
          <a:xfrm>
            <a:off x="4274790" y="2876550"/>
            <a:ext cx="3015556" cy="6375945"/>
          </a:xfrm>
          <a:prstGeom prst="rect">
            <a:avLst/>
          </a:prstGeom>
        </p:spPr>
      </p:pic>
      <p:pic>
        <p:nvPicPr>
          <p:cNvPr id="1201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77">
            <a:alphaModFix amt="100000"/>
            <a:extLst>
              <a:ext uri="{2A7A9331-7F53-4B6B-AC28-F59832584DBA}">
                <asvg:svgBlip xmlns:r="http://schemas.openxmlformats.org/officeDocument/2006/relationships" xmlns:asvg="http://schemas.microsoft.com/office/drawing/2016/SVG/main" r:embed="rId67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5464492" y="6477000"/>
            <a:ext cx="640080" cy="640080"/>
          </a:xfrm>
          <a:prstGeom prst="rect">
            <a:avLst/>
          </a:prstGeom>
        </p:spPr>
      </p:pic>
      <p:sp>
        <p:nvSpPr>
          <p:cNvPr id="120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579620" y="3276600"/>
            <a:ext cx="2443162" cy="2809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Médiane du nombre d’avis pour tous les logements comme proxy du nombre de réservations.</a:t>
            </a:r>
          </a:p>
        </p:txBody>
      </p:sp>
      <p:sp>
        <p:nvSpPr>
          <p:cNvPr id="120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579620" y="7517130"/>
            <a:ext cx="244316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A9A9A9">
                    <a:alpha val="80000"/>
                  </a:srgbClr>
                </a:solidFill>
                <a:latin typeface="Roboto" panose="00000700000000000000" pitchFamily="2" charset="0"/>
              </a:rPr>
              <a:t>Utilisation de la médiane des avis comme indicateur de réservation.</a:t>
            </a:r>
          </a:p>
        </p:txBody>
      </p:sp>
      <p:pic>
        <p:nvPicPr>
          <p:cNvPr id="12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79">
            <a:alphaModFix amt="100000"/>
          </a:blip>
          <a:stretch/>
        </p:blipFill>
        <p:spPr>
          <a:xfrm>
            <a:off x="4065270" y="2667000"/>
            <a:ext cx="457200" cy="457200"/>
          </a:xfrm>
          <a:prstGeom prst="rect">
            <a:avLst/>
          </a:prstGeom>
        </p:spPr>
      </p:pic>
      <p:sp>
        <p:nvSpPr>
          <p:cNvPr id="1209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168235" y="2741295"/>
            <a:ext cx="28098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02</a:t>
            </a:r>
          </a:p>
        </p:txBody>
      </p:sp>
      <p:pic>
        <p:nvPicPr>
          <p:cNvPr id="12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81">
            <a:alphaModFix amt="100000"/>
          </a:blip>
          <a:stretch/>
        </p:blipFill>
        <p:spPr>
          <a:xfrm>
            <a:off x="7635240" y="2876550"/>
            <a:ext cx="3015556" cy="6375945"/>
          </a:xfrm>
          <a:prstGeom prst="rect">
            <a:avLst/>
          </a:prstGeom>
        </p:spPr>
      </p:pic>
      <p:pic>
        <p:nvPicPr>
          <p:cNvPr id="1213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84">
            <a:alphaModFix amt="100000"/>
            <a:extLst>
              <a:ext uri="{761178BF-9015-471E-8946-68EA4BD36879}">
                <asvg:svgBlip xmlns:r="http://schemas.openxmlformats.org/officeDocument/2006/relationships" xmlns:asvg="http://schemas.microsoft.com/office/drawing/2016/SVG/main" r:embed="rId683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824912" y="6477000"/>
            <a:ext cx="640080" cy="640080"/>
          </a:xfrm>
          <a:prstGeom prst="rect">
            <a:avLst/>
          </a:prstGeom>
        </p:spPr>
      </p:pic>
      <p:sp>
        <p:nvSpPr>
          <p:cNvPr id="121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40040" y="3276600"/>
            <a:ext cx="2443162" cy="2409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Médiane des nombres d’avis par catégorie d’hôte (super hôte vs non super hôte).</a:t>
            </a:r>
          </a:p>
        </p:txBody>
      </p:sp>
      <p:sp>
        <p:nvSpPr>
          <p:cNvPr id="121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40040" y="7517130"/>
            <a:ext cx="244316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A9A9A9">
                    <a:alpha val="80000"/>
                  </a:srgbClr>
                </a:solidFill>
                <a:latin typeface="Roboto" panose="00000700000000000000" pitchFamily="2" charset="0"/>
              </a:rPr>
              <a:t>Comparaison des médianes d'avis entre catégories d'hôte.</a:t>
            </a:r>
          </a:p>
        </p:txBody>
      </p:sp>
      <p:pic>
        <p:nvPicPr>
          <p:cNvPr id="12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86">
            <a:alphaModFix amt="100000"/>
          </a:blip>
          <a:stretch/>
        </p:blipFill>
        <p:spPr>
          <a:xfrm>
            <a:off x="7425690" y="2667000"/>
            <a:ext cx="457200" cy="457200"/>
          </a:xfrm>
          <a:prstGeom prst="rect">
            <a:avLst/>
          </a:prstGeom>
        </p:spPr>
      </p:pic>
      <p:sp>
        <p:nvSpPr>
          <p:cNvPr id="1221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6179" y="2741295"/>
            <a:ext cx="290512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03</a:t>
            </a:r>
          </a:p>
        </p:txBody>
      </p:sp>
      <p:pic>
        <p:nvPicPr>
          <p:cNvPr id="12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88">
            <a:alphaModFix amt="100000"/>
          </a:blip>
          <a:stretch/>
        </p:blipFill>
        <p:spPr>
          <a:xfrm>
            <a:off x="10995660" y="2876550"/>
            <a:ext cx="3015556" cy="6375945"/>
          </a:xfrm>
          <a:prstGeom prst="rect">
            <a:avLst/>
          </a:prstGeom>
        </p:spPr>
      </p:pic>
      <p:pic>
        <p:nvPicPr>
          <p:cNvPr id="1225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91">
            <a:alphaModFix amt="100000"/>
            <a:extLst>
              <a:ext uri="{16F2FE61-6DD0-4D03-BC80-B2818E06847A}">
                <asvg:svgBlip xmlns:r="http://schemas.openxmlformats.org/officeDocument/2006/relationships" xmlns:asvg="http://schemas.microsoft.com/office/drawing/2016/SVG/main" r:embed="rId69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185332" y="6477000"/>
            <a:ext cx="640080" cy="640080"/>
          </a:xfrm>
          <a:prstGeom prst="rect">
            <a:avLst/>
          </a:prstGeom>
        </p:spPr>
      </p:pic>
      <p:sp>
        <p:nvSpPr>
          <p:cNvPr id="122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00460" y="3276600"/>
            <a:ext cx="2443162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Densité de logements par quartier de Paris.</a:t>
            </a:r>
          </a:p>
        </p:txBody>
      </p:sp>
      <p:sp>
        <p:nvSpPr>
          <p:cNvPr id="122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00460" y="7517130"/>
            <a:ext cx="244316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A9A9A9">
                    <a:alpha val="80000"/>
                  </a:srgbClr>
                </a:solidFill>
                <a:latin typeface="Roboto" panose="00000700000000000000" pitchFamily="2" charset="0"/>
              </a:rPr>
              <a:t>Cartographie de la répartition des logements par quartier.</a:t>
            </a:r>
          </a:p>
        </p:txBody>
      </p:sp>
      <p:pic>
        <p:nvPicPr>
          <p:cNvPr id="12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93">
            <a:alphaModFix amt="100000"/>
          </a:blip>
          <a:stretch/>
        </p:blipFill>
        <p:spPr>
          <a:xfrm>
            <a:off x="10786110" y="2667000"/>
            <a:ext cx="457200" cy="457200"/>
          </a:xfrm>
          <a:prstGeom prst="rect">
            <a:avLst/>
          </a:prstGeom>
        </p:spPr>
      </p:pic>
      <p:sp>
        <p:nvSpPr>
          <p:cNvPr id="1233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880217" y="2741295"/>
            <a:ext cx="3000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04</a:t>
            </a:r>
          </a:p>
        </p:txBody>
      </p:sp>
      <p:pic>
        <p:nvPicPr>
          <p:cNvPr id="12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95">
            <a:alphaModFix amt="100000"/>
          </a:blip>
          <a:stretch/>
        </p:blipFill>
        <p:spPr>
          <a:xfrm>
            <a:off x="14356080" y="2876550"/>
            <a:ext cx="3015556" cy="6375945"/>
          </a:xfrm>
          <a:prstGeom prst="rect">
            <a:avLst/>
          </a:prstGeom>
        </p:spPr>
      </p:pic>
      <p:pic>
        <p:nvPicPr>
          <p:cNvPr id="1237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98">
            <a:alphaModFix amt="100000"/>
            <a:extLst>
              <a:ext uri="{37C1BE9F-834C-48EE-B48C-42DFFE89B0A6}">
                <asvg:svgBlip xmlns:r="http://schemas.openxmlformats.org/officeDocument/2006/relationships" xmlns:asvg="http://schemas.microsoft.com/office/drawing/2016/SVG/main" r:embed="rId697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5545752" y="6477000"/>
            <a:ext cx="640080" cy="640080"/>
          </a:xfrm>
          <a:prstGeom prst="rect">
            <a:avLst/>
          </a:prstGeom>
        </p:spPr>
      </p:pic>
      <p:sp>
        <p:nvSpPr>
          <p:cNvPr id="1239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660880" y="3276600"/>
            <a:ext cx="2443162" cy="1609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Quartiers avec le plus fort taux de réservation par mois.</a:t>
            </a:r>
          </a:p>
        </p:txBody>
      </p:sp>
      <p:sp>
        <p:nvSpPr>
          <p:cNvPr id="1241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660880" y="7517130"/>
            <a:ext cx="2443162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A9A9A9">
                    <a:alpha val="80000"/>
                  </a:srgbClr>
                </a:solidFill>
                <a:latin typeface="Roboto" panose="00000700000000000000" pitchFamily="2" charset="0"/>
              </a:rPr>
              <a:t>Identification des quartiers les plus performants en réservations.</a:t>
            </a:r>
          </a:p>
        </p:txBody>
      </p:sp>
      <p:pic>
        <p:nvPicPr>
          <p:cNvPr id="12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00">
            <a:alphaModFix amt="100000"/>
          </a:blip>
          <a:stretch/>
        </p:blipFill>
        <p:spPr>
          <a:xfrm>
            <a:off x="14146530" y="2667000"/>
            <a:ext cx="457200" cy="457200"/>
          </a:xfrm>
          <a:prstGeom prst="rect">
            <a:avLst/>
          </a:prstGeom>
        </p:spPr>
      </p:pic>
      <p:sp>
        <p:nvSpPr>
          <p:cNvPr id="1245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42352" y="2741295"/>
            <a:ext cx="3000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05</a:t>
            </a:r>
          </a:p>
        </p:txBody>
      </p:sp>
      <p:sp>
        <p:nvSpPr>
          <p:cNvPr id="124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Analyse des </a:t>
            </a:r>
            <a:r>
              <a:rPr lang="en-US" sz="4200" b="1" spc="-92" dirty="0">
                <a:solidFill>
                  <a:srgbClr val="FFFFFF"/>
                </a:solidFill>
                <a:latin typeface="Poppins SemiBold" panose="00000700000000000000" pitchFamily="2" charset="0"/>
              </a:rPr>
              <a:t>statistiques</a:t>
            </a:r>
            <a:r>
              <a:rPr lang="en-US" sz="4200" spc="-92" dirty="0">
                <a:solidFill>
                  <a:srgbClr val="FFFFFF"/>
                </a:solidFill>
                <a:latin typeface="Poppins SemiBold" panose="00000700000000000000" pitchFamily="2" charset="0"/>
              </a:rPr>
              <a:t> et métriques avancées</a:t>
            </a:r>
          </a:p>
        </p:txBody>
      </p:sp>
      <p:sp>
        <p:nvSpPr>
          <p:cNvPr id="124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400" b="1" spc="-9" dirty="0">
                <a:solidFill>
                  <a:srgbClr val="A9A9A9">
                    <a:alpha val="80000"/>
                  </a:srgbClr>
                </a:solidFill>
                <a:latin typeface="Roboto" panose="00000700000000000000" pitchFamily="2" charset="0"/>
              </a:rPr>
              <a:t>Indicateurs clés de performance pour les logements et quartiers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0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2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06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2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08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2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10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2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12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2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14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2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16">
            <a:alphaModFix amt="100000"/>
          </a:blip>
          <a:stretch/>
        </p:blipFill>
        <p:spPr>
          <a:xfrm>
            <a:off x="914400" y="0"/>
            <a:ext cx="15849600" cy="6934200"/>
          </a:xfrm>
          <a:prstGeom prst="rect">
            <a:avLst/>
          </a:prstGeom>
          <a:effectLst>
            <a:outerShdw blurRad="190500" dist="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266" name="ee928ba3-9ffd-4f86-94aa-4eb81ca2a619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18">
            <a:alphaModFix amt="100000"/>
          </a:blip>
          <a:stretch/>
        </p:blipFill>
        <p:spPr>
          <a:xfrm>
            <a:off x="1028700" y="114300"/>
            <a:ext cx="15621000" cy="6591300"/>
          </a:xfrm>
          <a:prstGeom prst="rect">
            <a:avLst/>
          </a:prstGeom>
          <a:effectLst>
            <a:outerShdw blurRad="190500" dist="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26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20">
            <a:alphaModFix amt="100000"/>
          </a:blip>
          <a:stretch/>
        </p:blipFill>
        <p:spPr>
          <a:xfrm>
            <a:off x="14820900" y="4876800"/>
            <a:ext cx="914400" cy="914400"/>
          </a:xfrm>
          <a:prstGeom prst="rect">
            <a:avLst/>
          </a:prstGeom>
        </p:spPr>
      </p:pic>
      <p:pic>
        <p:nvPicPr>
          <p:cNvPr id="127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22">
            <a:alphaModFix amt="100000"/>
          </a:blip>
          <a:stretch/>
        </p:blipFill>
        <p:spPr>
          <a:xfrm>
            <a:off x="15735300" y="5791200"/>
            <a:ext cx="914400" cy="914400"/>
          </a:xfrm>
          <a:prstGeom prst="rect">
            <a:avLst/>
          </a:prstGeom>
        </p:spPr>
      </p:pic>
      <p:sp>
        <p:nvSpPr>
          <p:cNvPr id="127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06741" y="7353300"/>
            <a:ext cx="9510712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statistiques (1/6)</a:t>
            </a:r>
          </a:p>
        </p:txBody>
      </p:sp>
      <p:sp>
        <p:nvSpPr>
          <p:cNvPr id="127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A9A9A9">
                    <a:alpha val="80000"/>
                  </a:srgbClr>
                </a:solidFill>
                <a:latin typeface="Roboto" panose="00000700000000000000" pitchFamily="2" charset="0"/>
              </a:rPr>
              <a:t>Le taux de réservation moyen par mois par type de logement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2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2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28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2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0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2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2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2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4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2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6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2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8">
            <a:alphaModFix amt="100000"/>
          </a:blip>
          <a:stretch/>
        </p:blipFill>
        <p:spPr>
          <a:xfrm>
            <a:off x="914400" y="0"/>
            <a:ext cx="15849600" cy="6934200"/>
          </a:xfrm>
          <a:prstGeom prst="rect">
            <a:avLst/>
          </a:prstGeom>
          <a:effectLst>
            <a:outerShdw blurRad="190500" dist="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291" name="a8d9bc4c-d317-48cc-9e9a-b0710e0b104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40">
            <a:alphaModFix amt="100000"/>
          </a:blip>
          <a:stretch/>
        </p:blipFill>
        <p:spPr>
          <a:xfrm>
            <a:off x="1028700" y="114300"/>
            <a:ext cx="15621000" cy="6591300"/>
          </a:xfrm>
          <a:prstGeom prst="rect">
            <a:avLst/>
          </a:prstGeom>
          <a:effectLst>
            <a:outerShdw blurRad="190500" dist="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29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42">
            <a:alphaModFix amt="100000"/>
          </a:blip>
          <a:stretch/>
        </p:blipFill>
        <p:spPr>
          <a:xfrm>
            <a:off x="14820900" y="4876800"/>
            <a:ext cx="914400" cy="914400"/>
          </a:xfrm>
          <a:prstGeom prst="rect">
            <a:avLst/>
          </a:prstGeom>
        </p:spPr>
      </p:pic>
      <p:pic>
        <p:nvPicPr>
          <p:cNvPr id="129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44">
            <a:alphaModFix amt="100000"/>
          </a:blip>
          <a:stretch/>
        </p:blipFill>
        <p:spPr>
          <a:xfrm>
            <a:off x="15735300" y="5791200"/>
            <a:ext cx="914400" cy="914400"/>
          </a:xfrm>
          <a:prstGeom prst="rect">
            <a:avLst/>
          </a:prstGeom>
        </p:spPr>
      </p:pic>
      <p:sp>
        <p:nvSpPr>
          <p:cNvPr id="129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85678" y="7353300"/>
            <a:ext cx="97488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statistiques (2/6)</a:t>
            </a:r>
          </a:p>
        </p:txBody>
      </p:sp>
      <p:sp>
        <p:nvSpPr>
          <p:cNvPr id="129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A9A9A9">
                    <a:alpha val="80000"/>
                  </a:srgbClr>
                </a:solidFill>
                <a:latin typeface="Roboto" panose="00000700000000000000" pitchFamily="2" charset="0"/>
              </a:rPr>
              <a:t>Médiane des avis par type de logement (Airbnb Paris)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4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3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50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3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52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3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54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3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56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3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5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3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60">
            <a:alphaModFix amt="100000"/>
          </a:blip>
          <a:stretch/>
        </p:blipFill>
        <p:spPr>
          <a:xfrm>
            <a:off x="914400" y="0"/>
            <a:ext cx="15849600" cy="6934200"/>
          </a:xfrm>
          <a:prstGeom prst="rect">
            <a:avLst/>
          </a:prstGeom>
          <a:effectLst>
            <a:outerShdw blurRad="190500" dist="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316" name="70b04958-b391-4478-b8ff-153c5f0d232d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62">
            <a:alphaModFix amt="100000"/>
          </a:blip>
          <a:stretch/>
        </p:blipFill>
        <p:spPr>
          <a:xfrm>
            <a:off x="1028700" y="114300"/>
            <a:ext cx="15621000" cy="6591300"/>
          </a:xfrm>
          <a:prstGeom prst="rect">
            <a:avLst/>
          </a:prstGeom>
          <a:effectLst>
            <a:outerShdw blurRad="190500" dist="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31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64">
            <a:alphaModFix amt="100000"/>
          </a:blip>
          <a:stretch/>
        </p:blipFill>
        <p:spPr>
          <a:xfrm>
            <a:off x="14820900" y="4876800"/>
            <a:ext cx="914400" cy="914400"/>
          </a:xfrm>
          <a:prstGeom prst="rect">
            <a:avLst/>
          </a:prstGeom>
        </p:spPr>
      </p:pic>
      <p:pic>
        <p:nvPicPr>
          <p:cNvPr id="132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66">
            <a:alphaModFix amt="100000"/>
          </a:blip>
          <a:stretch/>
        </p:blipFill>
        <p:spPr>
          <a:xfrm>
            <a:off x="15735300" y="5791200"/>
            <a:ext cx="914400" cy="914400"/>
          </a:xfrm>
          <a:prstGeom prst="rect">
            <a:avLst/>
          </a:prstGeom>
        </p:spPr>
      </p:pic>
      <p:sp>
        <p:nvSpPr>
          <p:cNvPr id="132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71391" y="7353300"/>
            <a:ext cx="9777412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statistiques (3/6)</a:t>
            </a:r>
          </a:p>
        </p:txBody>
      </p:sp>
      <p:sp>
        <p:nvSpPr>
          <p:cNvPr id="132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A9A9A9">
                    <a:alpha val="80000"/>
                  </a:srgbClr>
                </a:solidFill>
                <a:latin typeface="Roboto" panose="00000700000000000000" pitchFamily="2" charset="0"/>
              </a:rPr>
              <a:t>Médiane des avis par type d'hôte (Superhost vs Non)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7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3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72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3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74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3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76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3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78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3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80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3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82">
            <a:alphaModFix amt="100000"/>
          </a:blip>
          <a:stretch/>
        </p:blipFill>
        <p:spPr>
          <a:xfrm>
            <a:off x="914400" y="0"/>
            <a:ext cx="15849600" cy="6934200"/>
          </a:xfrm>
          <a:prstGeom prst="rect">
            <a:avLst/>
          </a:prstGeom>
          <a:effectLst>
            <a:outerShdw blurRad="190500" dist="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341" name="54eccba3-8b31-43f2-b92c-626b9acc500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784">
            <a:alphaModFix amt="100000"/>
          </a:blip>
          <a:stretch/>
        </p:blipFill>
        <p:spPr>
          <a:xfrm>
            <a:off x="1028700" y="114300"/>
            <a:ext cx="15621000" cy="6591300"/>
          </a:xfrm>
          <a:prstGeom prst="rect">
            <a:avLst/>
          </a:prstGeom>
          <a:effectLst>
            <a:outerShdw blurRad="190500" dist="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34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86">
            <a:alphaModFix amt="100000"/>
          </a:blip>
          <a:stretch/>
        </p:blipFill>
        <p:spPr>
          <a:xfrm>
            <a:off x="14820900" y="4876800"/>
            <a:ext cx="914400" cy="914400"/>
          </a:xfrm>
          <a:prstGeom prst="rect">
            <a:avLst/>
          </a:prstGeom>
        </p:spPr>
      </p:pic>
      <p:pic>
        <p:nvPicPr>
          <p:cNvPr id="134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88">
            <a:alphaModFix amt="100000"/>
          </a:blip>
          <a:stretch/>
        </p:blipFill>
        <p:spPr>
          <a:xfrm>
            <a:off x="15735300" y="5791200"/>
            <a:ext cx="914400" cy="914400"/>
          </a:xfrm>
          <a:prstGeom prst="rect">
            <a:avLst/>
          </a:prstGeom>
        </p:spPr>
      </p:pic>
      <p:sp>
        <p:nvSpPr>
          <p:cNvPr id="134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35863" y="7353300"/>
            <a:ext cx="9853612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statistiques (4/6)</a:t>
            </a:r>
          </a:p>
        </p:txBody>
      </p:sp>
      <p:sp>
        <p:nvSpPr>
          <p:cNvPr id="134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A9A9A9">
                    <a:alpha val="80000"/>
                  </a:srgbClr>
                </a:solidFill>
                <a:latin typeface="Roboto" panose="00000700000000000000" pitchFamily="2" charset="0"/>
              </a:rPr>
              <a:t>La densité de logements par quartier de Paris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9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3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94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3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96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3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98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3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00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3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02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3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04">
            <a:alphaModFix amt="100000"/>
          </a:blip>
          <a:stretch/>
        </p:blipFill>
        <p:spPr>
          <a:xfrm>
            <a:off x="914400" y="0"/>
            <a:ext cx="15849600" cy="6934200"/>
          </a:xfrm>
          <a:prstGeom prst="rect">
            <a:avLst/>
          </a:prstGeom>
          <a:effectLst>
            <a:outerShdw blurRad="190500" dist="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366" name="e44addb8-9432-448b-8c17-8195d7fa9b0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06">
            <a:alphaModFix amt="100000"/>
          </a:blip>
          <a:stretch/>
        </p:blipFill>
        <p:spPr>
          <a:xfrm>
            <a:off x="1028700" y="114300"/>
            <a:ext cx="15621000" cy="6591300"/>
          </a:xfrm>
          <a:prstGeom prst="rect">
            <a:avLst/>
          </a:prstGeom>
          <a:effectLst>
            <a:outerShdw blurRad="190500" dist="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136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08">
            <a:alphaModFix amt="100000"/>
          </a:blip>
          <a:stretch/>
        </p:blipFill>
        <p:spPr>
          <a:xfrm>
            <a:off x="14820900" y="4876800"/>
            <a:ext cx="914400" cy="914400"/>
          </a:xfrm>
          <a:prstGeom prst="rect">
            <a:avLst/>
          </a:prstGeom>
        </p:spPr>
      </p:pic>
      <p:pic>
        <p:nvPicPr>
          <p:cNvPr id="137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10">
            <a:alphaModFix amt="100000"/>
          </a:blip>
          <a:stretch/>
        </p:blipFill>
        <p:spPr>
          <a:xfrm>
            <a:off x="15735300" y="5791200"/>
            <a:ext cx="914400" cy="914400"/>
          </a:xfrm>
          <a:prstGeom prst="rect">
            <a:avLst/>
          </a:prstGeom>
        </p:spPr>
      </p:pic>
      <p:sp>
        <p:nvSpPr>
          <p:cNvPr id="137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245674" y="7353300"/>
            <a:ext cx="9834562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statistiques (5/6)</a:t>
            </a:r>
          </a:p>
        </p:txBody>
      </p:sp>
      <p:sp>
        <p:nvSpPr>
          <p:cNvPr id="137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A9A9A9">
                    <a:alpha val="80000"/>
                  </a:srgbClr>
                </a:solidFill>
                <a:latin typeface="Roboto" panose="00000700000000000000" pitchFamily="2" charset="0"/>
              </a:rPr>
              <a:t>Les quartiers avec le plus fort taux de réservation par mois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9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1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3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16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13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18">
            <a:alphaModFix amt="7000"/>
          </a:blip>
          <a:stretch/>
        </p:blipFill>
        <p:spPr>
          <a:xfrm>
            <a:off x="16764448" y="2600325"/>
            <a:ext cx="1523553" cy="762000"/>
          </a:xfrm>
          <a:prstGeom prst="rect">
            <a:avLst/>
          </a:prstGeom>
        </p:spPr>
      </p:pic>
      <p:pic>
        <p:nvPicPr>
          <p:cNvPr id="13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20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13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22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13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24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13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26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13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28">
            <a:alphaModFix amt="7000"/>
          </a:blip>
          <a:stretch/>
        </p:blipFill>
        <p:spPr>
          <a:xfrm>
            <a:off x="762572" y="2267236"/>
            <a:ext cx="762000" cy="762000"/>
          </a:xfrm>
          <a:prstGeom prst="rect">
            <a:avLst/>
          </a:prstGeom>
        </p:spPr>
      </p:pic>
      <p:pic>
        <p:nvPicPr>
          <p:cNvPr id="13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30">
            <a:alphaModFix amt="7000"/>
          </a:blip>
          <a:stretch/>
        </p:blipFill>
        <p:spPr>
          <a:xfrm>
            <a:off x="1523238" y="742760"/>
            <a:ext cx="762000" cy="1524000"/>
          </a:xfrm>
          <a:prstGeom prst="rect">
            <a:avLst/>
          </a:prstGeom>
        </p:spPr>
      </p:pic>
      <p:pic>
        <p:nvPicPr>
          <p:cNvPr id="1395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33">
            <a:alphaModFix amt="100000"/>
            <a:extLst>
              <a:ext uri="{C0B084A1-E53A-433C-81DD-671A5D995592}">
                <asvg:svgBlip xmlns:r="http://schemas.openxmlformats.org/officeDocument/2006/relationships" xmlns:asvg="http://schemas.microsoft.com/office/drawing/2016/SVG/main" r:embed="rId832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14400" y="2628900"/>
            <a:ext cx="16459200" cy="6743700"/>
          </a:xfrm>
          <a:prstGeom prst="rect">
            <a:avLst/>
          </a:prstGeom>
        </p:spPr>
      </p:pic>
      <p:sp>
        <p:nvSpPr>
          <p:cNvPr id="1396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5450110"/>
            <a:ext cx="550068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Captures d'écran du tableau de bord</a:t>
            </a:r>
          </a:p>
        </p:txBody>
      </p:sp>
      <p:sp>
        <p:nvSpPr>
          <p:cNvPr id="139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5888260"/>
            <a:ext cx="55006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610"/>
              </a:lnSpc>
            </a:pPr>
            <a:r>
              <a:rPr lang="en-US" sz="18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Captures d'écran du tableau de bord BI montrant les visualisations principales.</a:t>
            </a:r>
          </a:p>
        </p:txBody>
      </p:sp>
      <p:sp>
        <p:nvSpPr>
          <p:cNvPr id="1398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902630" y="5284375"/>
            <a:ext cx="550068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Description du processus d'alimentation</a:t>
            </a:r>
          </a:p>
        </p:txBody>
      </p:sp>
      <p:sp>
        <p:nvSpPr>
          <p:cNvPr id="139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902630" y="5722525"/>
            <a:ext cx="550068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Description du processus d'alimentation depuis MongoDB vers l'outil BI avec captures d'écran étape par étape.</a:t>
            </a:r>
          </a:p>
        </p:txBody>
      </p:sp>
      <p:sp>
        <p:nvSpPr>
          <p:cNvPr id="140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Visualisations </a:t>
            </a:r>
            <a:r>
              <a:rPr lang="en-US" sz="4200" b="1" spc="-92" dirty="0">
                <a:solidFill>
                  <a:srgbClr val="FFFFFF"/>
                </a:solidFill>
                <a:latin typeface="Poppins SemiBold" panose="00000700000000000000" pitchFamily="2" charset="0"/>
              </a:rPr>
              <a:t>BI</a:t>
            </a:r>
            <a:r>
              <a:rPr lang="en-US" sz="4200" spc="-92" dirty="0">
                <a:solidFill>
                  <a:srgbClr val="FFFFFF"/>
                </a:solidFill>
                <a:latin typeface="Poppins SemiBold" panose="00000700000000000000" pitchFamily="2" charset="0"/>
              </a:rPr>
              <a:t> et alimentation des données</a:t>
            </a:r>
          </a:p>
        </p:txBody>
      </p:sp>
      <p:sp>
        <p:nvSpPr>
          <p:cNvPr id="140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Captures d'écran et processus de transfert depuis MongoDB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3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407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39">
            <a:alphaModFix amt="100000"/>
          </a:blip>
          <a:stretch/>
        </p:blipFill>
        <p:spPr>
          <a:xfrm>
            <a:off x="5857875" y="0"/>
            <a:ext cx="12430125" cy="10287000"/>
          </a:xfrm>
          <a:prstGeom prst="rect">
            <a:avLst/>
          </a:prstGeom>
        </p:spPr>
      </p:pic>
      <p:pic>
        <p:nvPicPr>
          <p:cNvPr id="140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41">
            <a:alphaModFix amt="100000"/>
          </a:blip>
          <a:stretch/>
        </p:blipFill>
        <p:spPr>
          <a:xfrm>
            <a:off x="5857875" y="1828800"/>
            <a:ext cx="1828800" cy="914400"/>
          </a:xfrm>
          <a:prstGeom prst="rect">
            <a:avLst/>
          </a:prstGeom>
        </p:spPr>
      </p:pic>
      <p:pic>
        <p:nvPicPr>
          <p:cNvPr id="141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43">
            <a:alphaModFix amt="100000"/>
          </a:blip>
          <a:stretch/>
        </p:blipFill>
        <p:spPr>
          <a:xfrm>
            <a:off x="4943475" y="0"/>
            <a:ext cx="914400" cy="1828800"/>
          </a:xfrm>
          <a:prstGeom prst="rect">
            <a:avLst/>
          </a:prstGeom>
        </p:spPr>
      </p:pic>
      <p:pic>
        <p:nvPicPr>
          <p:cNvPr id="141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45">
            <a:alphaModFix amt="100000"/>
          </a:blip>
          <a:stretch/>
        </p:blipFill>
        <p:spPr>
          <a:xfrm>
            <a:off x="4943475" y="2743200"/>
            <a:ext cx="914400" cy="914400"/>
          </a:xfrm>
          <a:prstGeom prst="rect">
            <a:avLst/>
          </a:prstGeom>
        </p:spPr>
      </p:pic>
      <p:sp>
        <p:nvSpPr>
          <p:cNvPr id="141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914400"/>
            <a:ext cx="3148012" cy="1933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953"/>
              </a:lnSpc>
            </a:pPr>
            <a:r>
              <a:rPr lang="en-US" sz="3900" spc="-119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Schéma du SI au complet </a:t>
            </a:r>
          </a:p>
        </p:txBody>
      </p:sp>
      <p:sp>
        <p:nvSpPr>
          <p:cNvPr id="141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953702"/>
            <a:ext cx="314801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100" spc="-10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combinaison MingoDB et PowerBi</a:t>
            </a:r>
          </a:p>
        </p:txBody>
      </p:sp>
      <p:sp>
        <p:nvSpPr>
          <p:cNvPr id="1419" name="Presenter Name-42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382000"/>
            <a:ext cx="31480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Architecture</a:t>
            </a:r>
          </a:p>
        </p:txBody>
      </p:sp>
      <p:sp>
        <p:nvSpPr>
          <p:cNvPr id="1421" name="Presenter Designation-41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82050"/>
            <a:ext cx="3148012" cy="600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5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- MongoDB Atlas (ou instance en ligne)</a:t>
            </a:r>
            <a:r>
              <a:rPr lang="en-US" sz="1050" spc="-9" dirty="0">
                <a:solidFill>
                  <a:srgbClr val="F0F0F0"/>
                </a:solidFill>
                <a:latin typeface="Roboto" panose="00000700000000000000" pitchFamily="2" charset="0"/>
              </a:rPr>
              <a:t>- API (accès temps réel aux données sans exposer la base.) via connecteur Web (GET)</a:t>
            </a:r>
            <a:r>
              <a:rPr lang="en-US" sz="1050" spc="-9" dirty="0">
                <a:solidFill>
                  <a:srgbClr val="F0F0F0"/>
                </a:solidFill>
                <a:latin typeface="Roboto" panose="00000700000000000000" pitchFamily="2" charset="0"/>
              </a:rPr>
              <a:t>- Toutes les heures ou selon un déclencheur transofrmation pissible en </a:t>
            </a:r>
            <a:r>
              <a:rPr lang="en-US" sz="1050" spc="-9" dirty="0">
                <a:solidFill>
                  <a:srgbClr val="F0F0F0"/>
                </a:solidFill>
                <a:latin typeface="Roboto" panose="00000700000000000000" pitchFamily="2" charset="0"/>
              </a:rPr>
              <a:t>- </a:t>
            </a:r>
          </a:p>
        </p:txBody>
      </p:sp>
      <p:pic>
        <p:nvPicPr>
          <p:cNvPr id="14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47">
            <a:alphaModFix amt="100000"/>
          </a:blip>
          <a:stretch/>
        </p:blipFill>
        <p:spPr>
          <a:xfrm>
            <a:off x="15239333" y="8763476"/>
            <a:ext cx="762000" cy="762000"/>
          </a:xfrm>
          <a:prstGeom prst="rect">
            <a:avLst/>
          </a:prstGeom>
        </p:spPr>
      </p:pic>
      <p:pic>
        <p:nvPicPr>
          <p:cNvPr id="14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49">
            <a:alphaModFix amt="100000"/>
          </a:blip>
          <a:stretch/>
        </p:blipFill>
        <p:spPr>
          <a:xfrm>
            <a:off x="16764572" y="7238905"/>
            <a:ext cx="800100" cy="1524000"/>
          </a:xfrm>
          <a:prstGeom prst="rect">
            <a:avLst/>
          </a:prstGeom>
        </p:spPr>
      </p:pic>
      <p:pic>
        <p:nvPicPr>
          <p:cNvPr id="14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51">
            <a:alphaModFix amt="100000"/>
          </a:blip>
          <a:stretch/>
        </p:blipFill>
        <p:spPr>
          <a:xfrm>
            <a:off x="16764448" y="8763447"/>
            <a:ext cx="1523553" cy="762000"/>
          </a:xfrm>
          <a:prstGeom prst="rect">
            <a:avLst/>
          </a:prstGeom>
        </p:spPr>
      </p:pic>
      <p:pic>
        <p:nvPicPr>
          <p:cNvPr id="14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53">
            <a:alphaModFix amt="100000"/>
          </a:blip>
          <a:stretch/>
        </p:blipFill>
        <p:spPr>
          <a:xfrm>
            <a:off x="16002000" y="9524619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1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5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4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59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14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61">
            <a:alphaModFix amt="7000"/>
          </a:blip>
          <a:stretch/>
        </p:blipFill>
        <p:spPr>
          <a:xfrm>
            <a:off x="16764448" y="2600325"/>
            <a:ext cx="1523553" cy="762000"/>
          </a:xfrm>
          <a:prstGeom prst="rect">
            <a:avLst/>
          </a:prstGeom>
        </p:spPr>
      </p:pic>
      <p:pic>
        <p:nvPicPr>
          <p:cNvPr id="14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63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14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65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14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67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14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69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14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71">
            <a:alphaModFix amt="7000"/>
          </a:blip>
          <a:stretch/>
        </p:blipFill>
        <p:spPr>
          <a:xfrm>
            <a:off x="762572" y="2267236"/>
            <a:ext cx="762000" cy="762000"/>
          </a:xfrm>
          <a:prstGeom prst="rect">
            <a:avLst/>
          </a:prstGeom>
        </p:spPr>
      </p:pic>
      <p:pic>
        <p:nvPicPr>
          <p:cNvPr id="14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73">
            <a:alphaModFix amt="7000"/>
          </a:blip>
          <a:stretch/>
        </p:blipFill>
        <p:spPr>
          <a:xfrm>
            <a:off x="1523238" y="742760"/>
            <a:ext cx="762000" cy="1524000"/>
          </a:xfrm>
          <a:prstGeom prst="rect">
            <a:avLst/>
          </a:prstGeom>
        </p:spPr>
      </p:pic>
      <p:pic>
        <p:nvPicPr>
          <p:cNvPr id="1450" name="circularbas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76">
            <a:alphaModFix amt="100000"/>
            <a:extLst>
              <a:ext uri="{5D660965-424F-4EF0-A323-84E783598AE9}">
                <asvg:svgBlip xmlns:r="http://schemas.openxmlformats.org/officeDocument/2006/relationships" xmlns:asvg="http://schemas.microsoft.com/office/drawing/2016/SVG/main" r:embed="rId87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14400" y="2628900"/>
            <a:ext cx="16459200" cy="6743700"/>
          </a:xfrm>
          <a:prstGeom prst="rect">
            <a:avLst/>
          </a:prstGeom>
        </p:spPr>
      </p:pic>
      <p:pic>
        <p:nvPicPr>
          <p:cNvPr id="1451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79">
            <a:alphaModFix amt="100000"/>
            <a:extLst>
              <a:ext uri="{7333AFFF-1985-4E4E-9DBF-5DA783D2A5D0}">
                <asvg:svgBlip xmlns:r="http://schemas.openxmlformats.org/officeDocument/2006/relationships" xmlns:asvg="http://schemas.microsoft.com/office/drawing/2016/SVG/main" r:embed="rId87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7452122" y="2628900"/>
            <a:ext cx="3383205" cy="6743705"/>
          </a:xfrm>
          <a:prstGeom prst="rect">
            <a:avLst/>
          </a:prstGeom>
        </p:spPr>
      </p:pic>
      <p:sp>
        <p:nvSpPr>
          <p:cNvPr id="1453" name="imageNode0">
            <a:extLst>
              <a:ext uri="{FF2B5EF4-FFF2-40B4-BE49-F238E27FC236}">
                <a16:creationId xmlns:a16="http://schemas.microsoft.com/office/drawing/2014/main" id="{10EDD564-373E-4917-F27F-5E79DA8114FF}"/>
              </a:ext>
            </a:extLst>
          </p:cNvPr>
          <p:cNvSpPr/>
          <p:nvPr/>
        </p:nvSpPr>
        <p:spPr>
          <a:xfrm>
            <a:off x="7644855" y="2776240"/>
            <a:ext cx="2997202" cy="6448526"/>
          </a:xfrm>
          <a:custGeom>
            <a:avLst/>
            <a:gdLst>
              <a:gd name="connsiteX0" fmla="*/ 2049965 w 2514969"/>
              <a:gd name="connsiteY0" fmla="*/ 5410280 h 5410360"/>
              <a:gd name="connsiteX1" fmla="*/ 313558 w 2514969"/>
              <a:gd name="connsiteY1" fmla="*/ 5410280 h 5410360"/>
              <a:gd name="connsiteX2" fmla="*/ 190685 w 2514969"/>
              <a:gd name="connsiteY2" fmla="*/ 5391230 h 5410360"/>
              <a:gd name="connsiteX3" fmla="*/ 8758 w 2514969"/>
              <a:gd name="connsiteY3" fmla="*/ 5175012 h 5410360"/>
              <a:gd name="connsiteX4" fmla="*/ 185 w 2514969"/>
              <a:gd name="connsiteY4" fmla="*/ 5053093 h 5410360"/>
              <a:gd name="connsiteX5" fmla="*/ 185 w 2514969"/>
              <a:gd name="connsiteY5" fmla="*/ 325835 h 5410360"/>
              <a:gd name="connsiteX6" fmla="*/ 1138 w 2514969"/>
              <a:gd name="connsiteY6" fmla="*/ 320120 h 5410360"/>
              <a:gd name="connsiteX7" fmla="*/ 8758 w 2514969"/>
              <a:gd name="connsiteY7" fmla="*/ 236300 h 5410360"/>
              <a:gd name="connsiteX8" fmla="*/ 190685 w 2514969"/>
              <a:gd name="connsiteY8" fmla="*/ 20082 h 5410360"/>
              <a:gd name="connsiteX9" fmla="*/ 313558 w 2514969"/>
              <a:gd name="connsiteY9" fmla="*/ 1032 h 5410360"/>
              <a:gd name="connsiteX10" fmla="*/ 551683 w 2514969"/>
              <a:gd name="connsiteY10" fmla="*/ 1032 h 5410360"/>
              <a:gd name="connsiteX11" fmla="*/ 614548 w 2514969"/>
              <a:gd name="connsiteY11" fmla="*/ 61992 h 5410360"/>
              <a:gd name="connsiteX12" fmla="*/ 615500 w 2514969"/>
              <a:gd name="connsiteY12" fmla="*/ 73422 h 5410360"/>
              <a:gd name="connsiteX13" fmla="*/ 618358 w 2514969"/>
              <a:gd name="connsiteY13" fmla="*/ 105807 h 5410360"/>
              <a:gd name="connsiteX14" fmla="*/ 711703 w 2514969"/>
              <a:gd name="connsiteY14" fmla="*/ 202010 h 5410360"/>
              <a:gd name="connsiteX15" fmla="*/ 744088 w 2514969"/>
              <a:gd name="connsiteY15" fmla="*/ 205820 h 5410360"/>
              <a:gd name="connsiteX16" fmla="*/ 1771835 w 2514969"/>
              <a:gd name="connsiteY16" fmla="*/ 205820 h 5410360"/>
              <a:gd name="connsiteX17" fmla="*/ 1803268 w 2514969"/>
              <a:gd name="connsiteY17" fmla="*/ 202010 h 5410360"/>
              <a:gd name="connsiteX18" fmla="*/ 1896613 w 2514969"/>
              <a:gd name="connsiteY18" fmla="*/ 104855 h 5410360"/>
              <a:gd name="connsiteX19" fmla="*/ 1899470 w 2514969"/>
              <a:gd name="connsiteY19" fmla="*/ 72470 h 5410360"/>
              <a:gd name="connsiteX20" fmla="*/ 1900423 w 2514969"/>
              <a:gd name="connsiteY20" fmla="*/ 61040 h 5410360"/>
              <a:gd name="connsiteX21" fmla="*/ 1963288 w 2514969"/>
              <a:gd name="connsiteY21" fmla="*/ 80 h 5410360"/>
              <a:gd name="connsiteX22" fmla="*/ 2201413 w 2514969"/>
              <a:gd name="connsiteY22" fmla="*/ 80 h 5410360"/>
              <a:gd name="connsiteX23" fmla="*/ 2324285 w 2514969"/>
              <a:gd name="connsiteY23" fmla="*/ 19130 h 5410360"/>
              <a:gd name="connsiteX24" fmla="*/ 2506213 w 2514969"/>
              <a:gd name="connsiteY24" fmla="*/ 235347 h 5410360"/>
              <a:gd name="connsiteX25" fmla="*/ 2513833 w 2514969"/>
              <a:gd name="connsiteY25" fmla="*/ 319167 h 5410360"/>
              <a:gd name="connsiteX26" fmla="*/ 2514785 w 2514969"/>
              <a:gd name="connsiteY26" fmla="*/ 324882 h 5410360"/>
              <a:gd name="connsiteX27" fmla="*/ 2514785 w 2514969"/>
              <a:gd name="connsiteY27" fmla="*/ 5052140 h 5410360"/>
              <a:gd name="connsiteX28" fmla="*/ 2506213 w 2514969"/>
              <a:gd name="connsiteY28" fmla="*/ 5174060 h 5410360"/>
              <a:gd name="connsiteX29" fmla="*/ 2324285 w 2514969"/>
              <a:gd name="connsiteY29" fmla="*/ 5390278 h 5410360"/>
              <a:gd name="connsiteX30" fmla="*/ 2201413 w 2514969"/>
              <a:gd name="connsiteY30" fmla="*/ 5409328 h 5410360"/>
              <a:gd name="connsiteX31" fmla="*/ 2049965 w 2514969"/>
              <a:gd name="connsiteY31" fmla="*/ 5409328 h 541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514969" h="5410360">
                <a:moveTo>
                  <a:pt x="2049965" y="5410280"/>
                </a:moveTo>
                <a:lnTo>
                  <a:pt x="313558" y="5410280"/>
                </a:lnTo>
                <a:cubicBezTo>
                  <a:pt x="271801" y="5411166"/>
                  <a:pt x="230214" y="5404718"/>
                  <a:pt x="190685" y="5391230"/>
                </a:cubicBezTo>
                <a:cubicBezTo>
                  <a:pt x="91625" y="5353130"/>
                  <a:pt x="30665" y="5280740"/>
                  <a:pt x="8758" y="5175012"/>
                </a:cubicBezTo>
                <a:cubicBezTo>
                  <a:pt x="2081" y="5134731"/>
                  <a:pt x="-789" y="5093907"/>
                  <a:pt x="185" y="5053093"/>
                </a:cubicBezTo>
                <a:lnTo>
                  <a:pt x="185" y="325835"/>
                </a:lnTo>
                <a:cubicBezTo>
                  <a:pt x="46" y="323881"/>
                  <a:pt x="373" y="321923"/>
                  <a:pt x="1138" y="320120"/>
                </a:cubicBezTo>
                <a:cubicBezTo>
                  <a:pt x="1267" y="292013"/>
                  <a:pt x="3816" y="263969"/>
                  <a:pt x="8758" y="236300"/>
                </a:cubicBezTo>
                <a:cubicBezTo>
                  <a:pt x="30665" y="130572"/>
                  <a:pt x="91625" y="58182"/>
                  <a:pt x="190685" y="20082"/>
                </a:cubicBezTo>
                <a:cubicBezTo>
                  <a:pt x="230214" y="6598"/>
                  <a:pt x="271801" y="149"/>
                  <a:pt x="313558" y="1032"/>
                </a:cubicBezTo>
                <a:lnTo>
                  <a:pt x="551683" y="1032"/>
                </a:lnTo>
                <a:cubicBezTo>
                  <a:pt x="585672" y="1017"/>
                  <a:pt x="613518" y="28020"/>
                  <a:pt x="614548" y="61992"/>
                </a:cubicBezTo>
                <a:cubicBezTo>
                  <a:pt x="614395" y="65827"/>
                  <a:pt x="614715" y="69666"/>
                  <a:pt x="615500" y="73422"/>
                </a:cubicBezTo>
                <a:lnTo>
                  <a:pt x="618358" y="105807"/>
                </a:lnTo>
                <a:cubicBezTo>
                  <a:pt x="625707" y="154532"/>
                  <a:pt x="663222" y="193194"/>
                  <a:pt x="711703" y="202010"/>
                </a:cubicBezTo>
                <a:cubicBezTo>
                  <a:pt x="722358" y="204273"/>
                  <a:pt x="733199" y="205548"/>
                  <a:pt x="744088" y="205820"/>
                </a:cubicBezTo>
                <a:lnTo>
                  <a:pt x="1771835" y="205820"/>
                </a:lnTo>
                <a:cubicBezTo>
                  <a:pt x="1782408" y="205490"/>
                  <a:pt x="1792924" y="204216"/>
                  <a:pt x="1803268" y="202010"/>
                </a:cubicBezTo>
                <a:cubicBezTo>
                  <a:pt x="1852045" y="193077"/>
                  <a:pt x="1889641" y="153949"/>
                  <a:pt x="1896613" y="104855"/>
                </a:cubicBezTo>
                <a:lnTo>
                  <a:pt x="1899470" y="72470"/>
                </a:lnTo>
                <a:cubicBezTo>
                  <a:pt x="1900261" y="68713"/>
                  <a:pt x="1900575" y="64875"/>
                  <a:pt x="1900423" y="61040"/>
                </a:cubicBezTo>
                <a:cubicBezTo>
                  <a:pt x="1901452" y="27067"/>
                  <a:pt x="1929303" y="65"/>
                  <a:pt x="1963288" y="80"/>
                </a:cubicBezTo>
                <a:lnTo>
                  <a:pt x="2201413" y="80"/>
                </a:lnTo>
                <a:cubicBezTo>
                  <a:pt x="2243170" y="-803"/>
                  <a:pt x="2284757" y="5645"/>
                  <a:pt x="2324285" y="19130"/>
                </a:cubicBezTo>
                <a:cubicBezTo>
                  <a:pt x="2423345" y="57230"/>
                  <a:pt x="2484305" y="129620"/>
                  <a:pt x="2506213" y="235347"/>
                </a:cubicBezTo>
                <a:cubicBezTo>
                  <a:pt x="2511156" y="263017"/>
                  <a:pt x="2513699" y="291060"/>
                  <a:pt x="2513833" y="319167"/>
                </a:cubicBezTo>
                <a:cubicBezTo>
                  <a:pt x="2514595" y="320970"/>
                  <a:pt x="2514928" y="322929"/>
                  <a:pt x="2514785" y="324882"/>
                </a:cubicBezTo>
                <a:lnTo>
                  <a:pt x="2514785" y="5052140"/>
                </a:lnTo>
                <a:cubicBezTo>
                  <a:pt x="2515757" y="5092955"/>
                  <a:pt x="2512890" y="5133779"/>
                  <a:pt x="2506213" y="5174060"/>
                </a:cubicBezTo>
                <a:cubicBezTo>
                  <a:pt x="2484305" y="5279787"/>
                  <a:pt x="2423345" y="5352178"/>
                  <a:pt x="2324285" y="5390278"/>
                </a:cubicBezTo>
                <a:cubicBezTo>
                  <a:pt x="2284757" y="5403765"/>
                  <a:pt x="2243170" y="5410213"/>
                  <a:pt x="2201413" y="5409328"/>
                </a:cubicBezTo>
                <a:lnTo>
                  <a:pt x="2049965" y="5409328"/>
                </a:lnTo>
                <a:close/>
              </a:path>
            </a:pathLst>
          </a:custGeom>
          <a:blipFill rotWithShape="1">
            <a:blip r:embed="rId880">
              <a:alphaModFix amt="100000"/>
            </a:blip>
            <a:srcRect l="0" t="0" r="0" b="0"/>
            <a:stretch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14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82">
            <a:alphaModFix amt="100000"/>
          </a:blip>
          <a:stretch/>
        </p:blipFill>
        <p:spPr>
          <a:xfrm>
            <a:off x="11296650" y="3521488"/>
            <a:ext cx="190500" cy="190500"/>
          </a:xfrm>
          <a:prstGeom prst="rect">
            <a:avLst/>
          </a:prstGeom>
        </p:spPr>
      </p:pic>
      <p:sp>
        <p:nvSpPr>
          <p:cNvPr id="145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77650" y="3153728"/>
            <a:ext cx="489108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350" spc="-32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MongoDB Atlas (ou instance en ligne)</a:t>
            </a:r>
          </a:p>
        </p:txBody>
      </p:sp>
      <p:sp>
        <p:nvSpPr>
          <p:cNvPr id="145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81663" y="3455765"/>
            <a:ext cx="4787074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La base `airbnb` contient la collection `logements-airbnb`.</a:t>
            </a:r>
          </a:p>
        </p:txBody>
      </p:sp>
      <p:pic>
        <p:nvPicPr>
          <p:cNvPr id="146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84">
            <a:alphaModFix amt="100000"/>
          </a:blip>
          <a:stretch/>
        </p:blipFill>
        <p:spPr>
          <a:xfrm>
            <a:off x="11677650" y="3539014"/>
            <a:ext cx="41523" cy="41523"/>
          </a:xfrm>
          <a:prstGeom prst="rect">
            <a:avLst/>
          </a:prstGeom>
        </p:spPr>
      </p:pic>
      <p:sp>
        <p:nvSpPr>
          <p:cNvPr id="146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81663" y="3663791"/>
            <a:ext cx="4787074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Mise en place d’un plan de sauvegarde automatique avec `mongodump` et `cron`.</a:t>
            </a:r>
          </a:p>
        </p:txBody>
      </p:sp>
      <p:pic>
        <p:nvPicPr>
          <p:cNvPr id="146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86">
            <a:alphaModFix amt="100000"/>
          </a:blip>
          <a:stretch/>
        </p:blipFill>
        <p:spPr>
          <a:xfrm>
            <a:off x="11677650" y="3747040"/>
            <a:ext cx="41523" cy="41523"/>
          </a:xfrm>
          <a:prstGeom prst="rect">
            <a:avLst/>
          </a:prstGeom>
        </p:spPr>
      </p:pic>
      <p:sp>
        <p:nvSpPr>
          <p:cNvPr id="146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81663" y="3871817"/>
            <a:ext cx="4787074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Ajout d’un </a:t>
            </a:r>
            <a:r>
              <a:rPr lang="en-US" sz="1050" b="1" spc="-6" dirty="0">
                <a:solidFill>
                  <a:srgbClr val="F0F0F0"/>
                </a:solidFill>
                <a:latin typeface="Roboto" panose="00000700000000000000" pitchFamily="2" charset="0"/>
              </a:rPr>
              <a:t>audit trail</a:t>
            </a:r>
            <a:r>
              <a:rPr lang="en-US" sz="1050" spc="-6" dirty="0">
                <a:solidFill>
                  <a:srgbClr val="F0F0F0"/>
                </a:solidFill>
                <a:latin typeface="Roboto" panose="00000700000000000000" pitchFamily="2" charset="0"/>
              </a:rPr>
              <a:t> pour détecter les modifications (utile pour l'incrémental).</a:t>
            </a:r>
          </a:p>
        </p:txBody>
      </p:sp>
      <p:pic>
        <p:nvPicPr>
          <p:cNvPr id="146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88">
            <a:alphaModFix amt="100000"/>
          </a:blip>
          <a:stretch/>
        </p:blipFill>
        <p:spPr>
          <a:xfrm>
            <a:off x="11677650" y="3954970"/>
            <a:ext cx="41523" cy="41523"/>
          </a:xfrm>
          <a:prstGeom prst="rect">
            <a:avLst/>
          </a:prstGeom>
        </p:spPr>
      </p:pic>
      <p:pic>
        <p:nvPicPr>
          <p:cNvPr id="14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90">
            <a:alphaModFix amt="100000"/>
          </a:blip>
          <a:stretch/>
        </p:blipFill>
        <p:spPr>
          <a:xfrm>
            <a:off x="12201525" y="5016913"/>
            <a:ext cx="190500" cy="190500"/>
          </a:xfrm>
          <a:prstGeom prst="rect">
            <a:avLst/>
          </a:prstGeom>
        </p:spPr>
      </p:pic>
      <p:sp>
        <p:nvSpPr>
          <p:cNvPr id="147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82525" y="4649152"/>
            <a:ext cx="395763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350" spc="-32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API REST ou MongoDB Data API</a:t>
            </a:r>
          </a:p>
        </p:txBody>
      </p:sp>
      <p:sp>
        <p:nvSpPr>
          <p:cNvPr id="147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86538" y="4951190"/>
            <a:ext cx="3853624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Expose des endpoints REST (`GET /logements`) filtrés et paginés.</a:t>
            </a:r>
          </a:p>
        </p:txBody>
      </p:sp>
      <p:pic>
        <p:nvPicPr>
          <p:cNvPr id="147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92">
            <a:alphaModFix amt="100000"/>
          </a:blip>
          <a:stretch/>
        </p:blipFill>
        <p:spPr>
          <a:xfrm>
            <a:off x="12582525" y="5034439"/>
            <a:ext cx="41523" cy="41523"/>
          </a:xfrm>
          <a:prstGeom prst="rect">
            <a:avLst/>
          </a:prstGeom>
        </p:spPr>
      </p:pic>
      <p:sp>
        <p:nvSpPr>
          <p:cNvPr id="147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86538" y="5159216"/>
            <a:ext cx="3853624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Authentification via API Key ou OAuth2.</a:t>
            </a:r>
          </a:p>
        </p:txBody>
      </p:sp>
      <p:pic>
        <p:nvPicPr>
          <p:cNvPr id="148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94">
            <a:alphaModFix amt="100000"/>
          </a:blip>
          <a:stretch/>
        </p:blipFill>
        <p:spPr>
          <a:xfrm>
            <a:off x="12582525" y="5242465"/>
            <a:ext cx="41523" cy="41523"/>
          </a:xfrm>
          <a:prstGeom prst="rect">
            <a:avLst/>
          </a:prstGeom>
        </p:spPr>
      </p:pic>
      <p:sp>
        <p:nvSpPr>
          <p:cNvPr id="148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86538" y="5367242"/>
            <a:ext cx="3853624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Permet l’accès temps réel aux données sans exposer la base.</a:t>
            </a:r>
          </a:p>
        </p:txBody>
      </p:sp>
      <p:pic>
        <p:nvPicPr>
          <p:cNvPr id="148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96">
            <a:alphaModFix amt="100000"/>
          </a:blip>
          <a:stretch/>
        </p:blipFill>
        <p:spPr>
          <a:xfrm>
            <a:off x="12582525" y="5450396"/>
            <a:ext cx="41523" cy="41523"/>
          </a:xfrm>
          <a:prstGeom prst="rect">
            <a:avLst/>
          </a:prstGeom>
        </p:spPr>
      </p:pic>
      <p:pic>
        <p:nvPicPr>
          <p:cNvPr id="14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98">
            <a:alphaModFix amt="100000"/>
          </a:blip>
          <a:stretch/>
        </p:blipFill>
        <p:spPr>
          <a:xfrm>
            <a:off x="12201525" y="6779038"/>
            <a:ext cx="190500" cy="190500"/>
          </a:xfrm>
          <a:prstGeom prst="rect">
            <a:avLst/>
          </a:prstGeom>
        </p:spPr>
      </p:pic>
      <p:sp>
        <p:nvSpPr>
          <p:cNvPr id="148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82525" y="6307360"/>
            <a:ext cx="482441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350" spc="-32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Pipeline d’extraction (ETL ou ELT)</a:t>
            </a:r>
          </a:p>
        </p:txBody>
      </p:sp>
      <p:sp>
        <p:nvSpPr>
          <p:cNvPr id="1491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86538" y="6609398"/>
            <a:ext cx="4720400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Outils recommandés : Azure Data Factory, Python script via Azure Function, ou Power Automate.</a:t>
            </a:r>
          </a:p>
        </p:txBody>
      </p:sp>
      <p:pic>
        <p:nvPicPr>
          <p:cNvPr id="149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00">
            <a:alphaModFix amt="100000"/>
          </a:blip>
          <a:stretch/>
        </p:blipFill>
        <p:spPr>
          <a:xfrm>
            <a:off x="12582525" y="6692646"/>
            <a:ext cx="41523" cy="41523"/>
          </a:xfrm>
          <a:prstGeom prst="rect">
            <a:avLst/>
          </a:prstGeom>
        </p:spPr>
      </p:pic>
      <p:sp>
        <p:nvSpPr>
          <p:cNvPr id="1495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86538" y="7025450"/>
            <a:ext cx="4720400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Mode d’actualisation : toutes les heures ou selon un déclencheur.</a:t>
            </a:r>
          </a:p>
        </p:txBody>
      </p:sp>
      <p:pic>
        <p:nvPicPr>
          <p:cNvPr id="149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02">
            <a:alphaModFix amt="100000"/>
          </a:blip>
          <a:stretch/>
        </p:blipFill>
        <p:spPr>
          <a:xfrm>
            <a:off x="12582525" y="7108603"/>
            <a:ext cx="41523" cy="41523"/>
          </a:xfrm>
          <a:prstGeom prst="rect">
            <a:avLst/>
          </a:prstGeom>
        </p:spPr>
      </p:pic>
      <p:sp>
        <p:nvSpPr>
          <p:cNvPr id="149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86538" y="7233380"/>
            <a:ext cx="4720400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Transformation possible en JSON/CSV standardisé pour Power BI.</a:t>
            </a:r>
          </a:p>
        </p:txBody>
      </p:sp>
      <p:pic>
        <p:nvPicPr>
          <p:cNvPr id="150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04">
            <a:alphaModFix amt="100000"/>
          </a:blip>
          <a:stretch/>
        </p:blipFill>
        <p:spPr>
          <a:xfrm>
            <a:off x="12582525" y="7316629"/>
            <a:ext cx="41523" cy="41523"/>
          </a:xfrm>
          <a:prstGeom prst="rect">
            <a:avLst/>
          </a:prstGeom>
        </p:spPr>
      </p:pic>
      <p:pic>
        <p:nvPicPr>
          <p:cNvPr id="15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06">
            <a:alphaModFix amt="100000"/>
          </a:blip>
          <a:stretch/>
        </p:blipFill>
        <p:spPr>
          <a:xfrm>
            <a:off x="11296650" y="8274463"/>
            <a:ext cx="190500" cy="190500"/>
          </a:xfrm>
          <a:prstGeom prst="rect">
            <a:avLst/>
          </a:prstGeom>
        </p:spPr>
      </p:pic>
      <p:sp>
        <p:nvSpPr>
          <p:cNvPr id="1505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77650" y="8010811"/>
            <a:ext cx="566261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350" spc="-32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Connexion Power BI</a:t>
            </a:r>
          </a:p>
        </p:txBody>
      </p:sp>
      <p:sp>
        <p:nvSpPr>
          <p:cNvPr id="1507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81663" y="8312848"/>
            <a:ext cx="5558600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Power BI utilise l’API via </a:t>
            </a:r>
            <a:r>
              <a:rPr lang="en-US" sz="1050" b="1" spc="-6" dirty="0">
                <a:solidFill>
                  <a:srgbClr val="F0F0F0"/>
                </a:solidFill>
                <a:latin typeface="Roboto" panose="00000700000000000000" pitchFamily="2" charset="0"/>
              </a:rPr>
              <a:t>connecteur Web (GET)</a:t>
            </a:r>
            <a:r>
              <a:rPr lang="en-US" sz="1050" spc="-6" dirty="0">
                <a:solidFill>
                  <a:srgbClr val="F0F0F0"/>
                </a:solidFill>
                <a:latin typeface="Roboto" panose="00000700000000000000" pitchFamily="2" charset="0"/>
              </a:rPr>
              <a:t> ou </a:t>
            </a:r>
            <a:r>
              <a:rPr lang="en-US" sz="1050" b="1" spc="-6" dirty="0">
                <a:solidFill>
                  <a:srgbClr val="F0F0F0"/>
                </a:solidFill>
                <a:latin typeface="Roboto" panose="00000700000000000000" pitchFamily="2" charset="0"/>
              </a:rPr>
              <a:t>Azure Blob/OneDrive</a:t>
            </a:r>
            <a:r>
              <a:rPr lang="en-US" sz="1050" spc="-6" dirty="0">
                <a:solidFill>
                  <a:srgbClr val="F0F0F0"/>
                </a:solidFill>
                <a:latin typeface="Roboto" panose="00000700000000000000" pitchFamily="2" charset="0"/>
              </a:rPr>
              <a:t> pour les fichiers plats.</a:t>
            </a:r>
          </a:p>
        </p:txBody>
      </p:sp>
      <p:pic>
        <p:nvPicPr>
          <p:cNvPr id="150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08">
            <a:alphaModFix amt="100000"/>
          </a:blip>
          <a:stretch/>
        </p:blipFill>
        <p:spPr>
          <a:xfrm>
            <a:off x="11677650" y="8396002"/>
            <a:ext cx="41523" cy="41523"/>
          </a:xfrm>
          <a:prstGeom prst="rect">
            <a:avLst/>
          </a:prstGeom>
        </p:spPr>
      </p:pic>
      <p:sp>
        <p:nvSpPr>
          <p:cNvPr id="1511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81663" y="8520874"/>
            <a:ext cx="5558600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Configuration de l’actualisation automatique (Pro/Premium nécessaire pour +8 refreshs/jour).</a:t>
            </a:r>
          </a:p>
        </p:txBody>
      </p:sp>
      <p:pic>
        <p:nvPicPr>
          <p:cNvPr id="151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10">
            <a:alphaModFix amt="100000"/>
          </a:blip>
          <a:stretch/>
        </p:blipFill>
        <p:spPr>
          <a:xfrm>
            <a:off x="11677650" y="8604028"/>
            <a:ext cx="41523" cy="41523"/>
          </a:xfrm>
          <a:prstGeom prst="rect">
            <a:avLst/>
          </a:prstGeom>
        </p:spPr>
      </p:pic>
      <p:pic>
        <p:nvPicPr>
          <p:cNvPr id="15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12">
            <a:alphaModFix amt="100000"/>
          </a:blip>
          <a:stretch/>
        </p:blipFill>
        <p:spPr>
          <a:xfrm>
            <a:off x="6486525" y="7950613"/>
            <a:ext cx="190500" cy="190500"/>
          </a:xfrm>
          <a:prstGeom prst="rect">
            <a:avLst/>
          </a:prstGeom>
        </p:spPr>
      </p:pic>
      <p:sp>
        <p:nvSpPr>
          <p:cNvPr id="1517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7478935"/>
            <a:ext cx="541496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350" spc="-32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Gestion des rôles utilisateurs</a:t>
            </a:r>
          </a:p>
        </p:txBody>
      </p:sp>
      <p:sp>
        <p:nvSpPr>
          <p:cNvPr id="1519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413" y="7780972"/>
            <a:ext cx="5310950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Admin: `readWriteAnyDatabase` sur MongoDB; Création/suppression d’API; Administration + gestion sources sur Power BI.</a:t>
            </a:r>
          </a:p>
        </p:txBody>
      </p:sp>
      <p:pic>
        <p:nvPicPr>
          <p:cNvPr id="152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14">
            <a:alphaModFix amt="100000"/>
          </a:blip>
          <a:stretch/>
        </p:blipFill>
        <p:spPr>
          <a:xfrm>
            <a:off x="914400" y="7864221"/>
            <a:ext cx="41523" cy="41523"/>
          </a:xfrm>
          <a:prstGeom prst="rect">
            <a:avLst/>
          </a:prstGeom>
        </p:spPr>
      </p:pic>
      <p:sp>
        <p:nvSpPr>
          <p:cNvPr id="1523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413" y="8197024"/>
            <a:ext cx="5310950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Lecteur: `read` sur MongoDB; Lecture via API (read-only); Accès aux rapports en lecture sur Power BI.</a:t>
            </a:r>
          </a:p>
        </p:txBody>
      </p:sp>
      <p:pic>
        <p:nvPicPr>
          <p:cNvPr id="152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16">
            <a:alphaModFix amt="100000"/>
          </a:blip>
          <a:stretch/>
        </p:blipFill>
        <p:spPr>
          <a:xfrm>
            <a:off x="914400" y="8280178"/>
            <a:ext cx="41523" cy="41523"/>
          </a:xfrm>
          <a:prstGeom prst="rect">
            <a:avLst/>
          </a:prstGeom>
        </p:spPr>
      </p:pic>
      <p:sp>
        <p:nvSpPr>
          <p:cNvPr id="1527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413" y="8612981"/>
            <a:ext cx="5310950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Analyste: `readWrite` sur collection; Lecture + requêtes spécifiques via API; Modifications des rapports sur Power BI.</a:t>
            </a:r>
          </a:p>
        </p:txBody>
      </p:sp>
      <p:pic>
        <p:nvPicPr>
          <p:cNvPr id="152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18">
            <a:alphaModFix amt="100000"/>
          </a:blip>
          <a:stretch/>
        </p:blipFill>
        <p:spPr>
          <a:xfrm>
            <a:off x="914400" y="8696230"/>
            <a:ext cx="41523" cy="41523"/>
          </a:xfrm>
          <a:prstGeom prst="rect">
            <a:avLst/>
          </a:prstGeom>
        </p:spPr>
      </p:pic>
      <p:pic>
        <p:nvPicPr>
          <p:cNvPr id="15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20">
            <a:alphaModFix amt="100000"/>
          </a:blip>
          <a:stretch/>
        </p:blipFill>
        <p:spPr>
          <a:xfrm>
            <a:off x="5762625" y="5902738"/>
            <a:ext cx="190500" cy="190500"/>
          </a:xfrm>
          <a:prstGeom prst="rect">
            <a:avLst/>
          </a:prstGeom>
        </p:spPr>
      </p:pic>
      <p:sp>
        <p:nvSpPr>
          <p:cNvPr id="1533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3099" y="5431060"/>
            <a:ext cx="4433888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350" spc="-32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Sécurité et disponibilité</a:t>
            </a:r>
          </a:p>
        </p:txBody>
      </p:sp>
      <p:sp>
        <p:nvSpPr>
          <p:cNvPr id="1535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3099" y="5733098"/>
            <a:ext cx="4433888" cy="838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Chiffrement des connexions </a:t>
            </a:r>
            <a:r>
              <a:rPr lang="en-US" sz="1050" spc="-6" dirty="0">
                <a:solidFill>
                  <a:srgbClr val="F0F0F0"/>
                </a:solidFill>
                <a:latin typeface="Roboto" panose="00000700000000000000" pitchFamily="2" charset="0"/>
              </a:rPr>
              <a:t>SSL/TLS</a:t>
            </a:r>
            <a:r>
              <a:rPr lang="en-US" sz="1050" spc="-6" dirty="0">
                <a:solidFill>
                  <a:srgbClr val="F0F0F0"/>
                </a:solidFill>
                <a:latin typeface="Roboto" panose="00000700000000000000" pitchFamily="2" charset="0"/>
              </a:rPr>
              <a:t> entre MongoDB/API/Power BI.Token ou OAuth pour authentification API.Monitoring avec alerting sur échec de l’ETL ou de l’actualisation Power BI.Accès API journalisé.</a:t>
            </a:r>
          </a:p>
        </p:txBody>
      </p:sp>
      <p:pic>
        <p:nvPicPr>
          <p:cNvPr id="15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22">
            <a:alphaModFix amt="100000"/>
          </a:blip>
          <a:stretch/>
        </p:blipFill>
        <p:spPr>
          <a:xfrm>
            <a:off x="6486525" y="3845338"/>
            <a:ext cx="190500" cy="190500"/>
          </a:xfrm>
          <a:prstGeom prst="rect">
            <a:avLst/>
          </a:prstGeom>
        </p:spPr>
      </p:pic>
      <p:sp>
        <p:nvSpPr>
          <p:cNvPr id="1539" name="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3373660"/>
            <a:ext cx="5414962" cy="27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079"/>
              </a:lnSpc>
            </a:pPr>
            <a:r>
              <a:rPr lang="en-US" sz="1350" spc="-32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Avantages de cette architecture</a:t>
            </a:r>
          </a:p>
        </p:txBody>
      </p:sp>
      <p:sp>
        <p:nvSpPr>
          <p:cNvPr id="1541" name="Description of a 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413" y="3675698"/>
            <a:ext cx="5310950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Fidélité : les données viennent directement de la source via API.</a:t>
            </a:r>
          </a:p>
        </p:txBody>
      </p:sp>
      <p:pic>
        <p:nvPicPr>
          <p:cNvPr id="154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24">
            <a:alphaModFix amt="100000"/>
          </a:blip>
          <a:stretch/>
        </p:blipFill>
        <p:spPr>
          <a:xfrm>
            <a:off x="914400" y="3758946"/>
            <a:ext cx="41523" cy="41523"/>
          </a:xfrm>
          <a:prstGeom prst="rect">
            <a:avLst/>
          </a:prstGeom>
        </p:spPr>
      </p:pic>
      <p:sp>
        <p:nvSpPr>
          <p:cNvPr id="1545" name="Description of a 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413" y="3883724"/>
            <a:ext cx="5310950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Actualité : actualisation fréquente configurée automatiquement.</a:t>
            </a:r>
          </a:p>
        </p:txBody>
      </p:sp>
      <p:pic>
        <p:nvPicPr>
          <p:cNvPr id="154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26">
            <a:alphaModFix amt="100000"/>
          </a:blip>
          <a:stretch/>
        </p:blipFill>
        <p:spPr>
          <a:xfrm>
            <a:off x="914400" y="3966877"/>
            <a:ext cx="41523" cy="41523"/>
          </a:xfrm>
          <a:prstGeom prst="rect">
            <a:avLst/>
          </a:prstGeom>
        </p:spPr>
      </p:pic>
      <p:sp>
        <p:nvSpPr>
          <p:cNvPr id="1549" name="Description of a 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413" y="4091750"/>
            <a:ext cx="5310950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Disponibilité : architecture cloud et découplée, avec redondance (sauvegarde, API, fichier intermédiaire).</a:t>
            </a:r>
          </a:p>
        </p:txBody>
      </p:sp>
      <p:pic>
        <p:nvPicPr>
          <p:cNvPr id="155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28">
            <a:alphaModFix amt="100000"/>
          </a:blip>
          <a:stretch/>
        </p:blipFill>
        <p:spPr>
          <a:xfrm>
            <a:off x="914400" y="4174903"/>
            <a:ext cx="41523" cy="41523"/>
          </a:xfrm>
          <a:prstGeom prst="rect">
            <a:avLst/>
          </a:prstGeom>
        </p:spPr>
      </p:pic>
      <p:sp>
        <p:nvSpPr>
          <p:cNvPr id="1553" name="Description of a 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413" y="4507706"/>
            <a:ext cx="5310950" cy="21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1638"/>
              </a:lnSpc>
            </a:pPr>
            <a:r>
              <a:rPr lang="en-US" sz="1050" spc="-6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Sécurité : séparation des rôles, chiffrement, audit, et contrôle d'accès.</a:t>
            </a:r>
          </a:p>
        </p:txBody>
      </p:sp>
      <p:pic>
        <p:nvPicPr>
          <p:cNvPr id="155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30">
            <a:alphaModFix amt="100000"/>
          </a:blip>
          <a:stretch/>
        </p:blipFill>
        <p:spPr>
          <a:xfrm>
            <a:off x="914400" y="4590955"/>
            <a:ext cx="41523" cy="41523"/>
          </a:xfrm>
          <a:prstGeom prst="rect">
            <a:avLst/>
          </a:prstGeom>
        </p:spPr>
      </p:pic>
      <p:sp>
        <p:nvSpPr>
          <p:cNvPr id="155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Architecture de collecte et connexion MongoDB to Power BI</a:t>
            </a:r>
          </a:p>
        </p:txBody>
      </p:sp>
      <p:sp>
        <p:nvSpPr>
          <p:cNvPr id="155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Processus, rôles, sécurité et avantages clés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3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564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936">
            <a:alphaModFix amt="100000"/>
          </a:blip>
          <a:stretch/>
        </p:blipFill>
        <p:spPr>
          <a:xfrm>
            <a:off x="5857875" y="0"/>
            <a:ext cx="12430125" cy="10287000"/>
          </a:xfrm>
          <a:prstGeom prst="rect">
            <a:avLst/>
          </a:prstGeom>
        </p:spPr>
      </p:pic>
      <p:pic>
        <p:nvPicPr>
          <p:cNvPr id="1566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38">
            <a:alphaModFix amt="100000"/>
          </a:blip>
          <a:stretch/>
        </p:blipFill>
        <p:spPr>
          <a:xfrm>
            <a:off x="5857875" y="1828800"/>
            <a:ext cx="1828800" cy="914400"/>
          </a:xfrm>
          <a:prstGeom prst="rect">
            <a:avLst/>
          </a:prstGeom>
        </p:spPr>
      </p:pic>
      <p:pic>
        <p:nvPicPr>
          <p:cNvPr id="156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40">
            <a:alphaModFix amt="100000"/>
          </a:blip>
          <a:stretch/>
        </p:blipFill>
        <p:spPr>
          <a:xfrm>
            <a:off x="4943475" y="0"/>
            <a:ext cx="914400" cy="1828800"/>
          </a:xfrm>
          <a:prstGeom prst="rect">
            <a:avLst/>
          </a:prstGeom>
        </p:spPr>
      </p:pic>
      <p:pic>
        <p:nvPicPr>
          <p:cNvPr id="157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42">
            <a:alphaModFix amt="100000"/>
          </a:blip>
          <a:stretch/>
        </p:blipFill>
        <p:spPr>
          <a:xfrm>
            <a:off x="4943475" y="2743200"/>
            <a:ext cx="914400" cy="914400"/>
          </a:xfrm>
          <a:prstGeom prst="rect">
            <a:avLst/>
          </a:prstGeom>
        </p:spPr>
      </p:pic>
      <p:sp>
        <p:nvSpPr>
          <p:cNvPr id="157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914400"/>
            <a:ext cx="3148012" cy="962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5400" spc="-119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Power BI</a:t>
            </a:r>
          </a:p>
        </p:txBody>
      </p:sp>
      <p:sp>
        <p:nvSpPr>
          <p:cNvPr id="157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983200"/>
            <a:ext cx="314801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100" spc="-10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Un exemple de visualisation</a:t>
            </a:r>
          </a:p>
        </p:txBody>
      </p:sp>
      <p:sp>
        <p:nvSpPr>
          <p:cNvPr id="1576" name="Presenter Name-49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620125"/>
            <a:ext cx="31480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My Workspace</a:t>
            </a:r>
          </a:p>
        </p:txBody>
      </p:sp>
      <p:sp>
        <p:nvSpPr>
          <p:cNvPr id="1578" name="Presenter Designation-46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9020175"/>
            <a:ext cx="314801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&gt; Explorer listing_Paris</a:t>
            </a:r>
          </a:p>
        </p:txBody>
      </p:sp>
      <p:pic>
        <p:nvPicPr>
          <p:cNvPr id="15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44">
            <a:alphaModFix amt="100000"/>
          </a:blip>
          <a:stretch/>
        </p:blipFill>
        <p:spPr>
          <a:xfrm>
            <a:off x="15239333" y="8763476"/>
            <a:ext cx="762000" cy="762000"/>
          </a:xfrm>
          <a:prstGeom prst="rect">
            <a:avLst/>
          </a:prstGeom>
        </p:spPr>
      </p:pic>
      <p:pic>
        <p:nvPicPr>
          <p:cNvPr id="15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46">
            <a:alphaModFix amt="100000"/>
          </a:blip>
          <a:stretch/>
        </p:blipFill>
        <p:spPr>
          <a:xfrm>
            <a:off x="16764572" y="7238905"/>
            <a:ext cx="800100" cy="1524000"/>
          </a:xfrm>
          <a:prstGeom prst="rect">
            <a:avLst/>
          </a:prstGeom>
        </p:spPr>
      </p:pic>
      <p:pic>
        <p:nvPicPr>
          <p:cNvPr id="15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48">
            <a:alphaModFix amt="100000"/>
          </a:blip>
          <a:stretch/>
        </p:blipFill>
        <p:spPr>
          <a:xfrm>
            <a:off x="16764448" y="8763447"/>
            <a:ext cx="1523553" cy="762000"/>
          </a:xfrm>
          <a:prstGeom prst="rect">
            <a:avLst/>
          </a:prstGeom>
        </p:spPr>
      </p:pic>
      <p:pic>
        <p:nvPicPr>
          <p:cNvPr id="15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50">
            <a:alphaModFix amt="100000"/>
          </a:blip>
          <a:stretch/>
        </p:blipFill>
        <p:spPr>
          <a:xfrm>
            <a:off x="16002000" y="9524619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5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591" name="e5237753-2ea4-41d5-8386-5368b2b997ea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956">
            <a:alphaModFix amt="100000"/>
          </a:blip>
          <a:stretch/>
        </p:blipFill>
        <p:spPr>
          <a:xfrm>
            <a:off x="723900" y="2247900"/>
            <a:ext cx="6134100" cy="8039100"/>
          </a:xfrm>
          <a:prstGeom prst="rect">
            <a:avLst/>
          </a:prstGeom>
        </p:spPr>
      </p:pic>
      <p:sp>
        <p:nvSpPr>
          <p:cNvPr id="159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4429887"/>
            <a:ext cx="9596438" cy="942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CLI Mongosh (1/6)</a:t>
            </a:r>
          </a:p>
        </p:txBody>
      </p:sp>
      <p:pic>
        <p:nvPicPr>
          <p:cNvPr id="15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5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5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60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15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62">
            <a:alphaModFix amt="100000"/>
          </a:blip>
          <a:stretch/>
        </p:blipFill>
        <p:spPr>
          <a:xfrm>
            <a:off x="762447" y="8763447"/>
            <a:ext cx="1524000" cy="762000"/>
          </a:xfrm>
          <a:prstGeom prst="rect">
            <a:avLst/>
          </a:prstGeom>
        </p:spPr>
      </p:pic>
      <p:sp>
        <p:nvSpPr>
          <p:cNvPr id="1601" name="Click here to edit label-44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4076700"/>
            <a:ext cx="959643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 b="1" spc="10" dirty="0">
                <a:solidFill>
                  <a:srgbClr val="181818">
                    <a:alpha val="100000"/>
                  </a:srgbClr>
                </a:solidFill>
                <a:latin typeface="Roboto" panose="00000700000000000000" pitchFamily="2" charset="0"/>
              </a:rPr>
              <a:t>Combien D’annonces Y A-T-Il Par Type De Location ? </a:t>
            </a:r>
          </a:p>
        </p:txBody>
      </p:sp>
      <p:sp>
        <p:nvSpPr>
          <p:cNvPr id="160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5486400"/>
            <a:ext cx="95964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db[](undefined)"logements-paris"[](undefined).aggregate&amp;lparenthesis;[ ](undefined)
[ &amp;lbrace;
    $group: ](undefined)
[&amp;lbrace;
      &amp;underscore;id: "$room&amp;underscore;type"&amp;comma; ](undefined)
[ total&amp;underscore;annonces: &amp;lbrace; $sum: 1 &amp;rbrace; ](undefined)
[ &amp;rbrace; ](undefined)
[ &amp;rbrace;&amp;comma; ](undefined)
[ &amp;lbrace; ](undefined)
[ $sort: &amp;lbrace; total&amp;underscore;annonces: -1 &amp;rbrace; ](undefined)
[ &amp;rbrace; ](undefined)
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6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6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68">
            <a:alphaModFix amt="100000"/>
          </a:blip>
          <a:stretch/>
        </p:blipFill>
        <p:spPr>
          <a:xfrm>
            <a:off x="16764448" y="0"/>
            <a:ext cx="762000" cy="762000"/>
          </a:xfrm>
          <a:prstGeom prst="rect">
            <a:avLst/>
          </a:prstGeom>
        </p:spPr>
      </p:pic>
      <p:pic>
        <p:nvPicPr>
          <p:cNvPr id="16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70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6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72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6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74">
            <a:alphaModFix amt="100000"/>
          </a:blip>
          <a:stretch/>
        </p:blipFill>
        <p:spPr>
          <a:xfrm>
            <a:off x="17525257" y="3105597"/>
            <a:ext cx="762000" cy="1524000"/>
          </a:xfrm>
          <a:prstGeom prst="rect">
            <a:avLst/>
          </a:prstGeom>
        </p:spPr>
      </p:pic>
      <p:pic>
        <p:nvPicPr>
          <p:cNvPr id="16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76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618" name="d23ee8fd-f050-47b2-a871-a2c896ceba8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978">
            <a:alphaModFix amt="100000"/>
          </a:blip>
          <a:stretch/>
        </p:blipFill>
        <p:spPr>
          <a:xfrm>
            <a:off x="914400" y="0"/>
            <a:ext cx="15849600" cy="7048500"/>
          </a:xfrm>
          <a:prstGeom prst="rect">
            <a:avLst/>
          </a:prstGeom>
        </p:spPr>
      </p:pic>
      <p:pic>
        <p:nvPicPr>
          <p:cNvPr id="162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80">
            <a:alphaModFix amt="100000"/>
          </a:blip>
          <a:stretch/>
        </p:blipFill>
        <p:spPr>
          <a:xfrm>
            <a:off x="14935200" y="5219700"/>
            <a:ext cx="914400" cy="914400"/>
          </a:xfrm>
          <a:prstGeom prst="rect">
            <a:avLst/>
          </a:prstGeom>
        </p:spPr>
      </p:pic>
      <p:pic>
        <p:nvPicPr>
          <p:cNvPr id="162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82">
            <a:alphaModFix amt="100000"/>
          </a:blip>
          <a:stretch/>
        </p:blipFill>
        <p:spPr>
          <a:xfrm>
            <a:off x="15849600" y="6134100"/>
            <a:ext cx="914400" cy="914400"/>
          </a:xfrm>
          <a:prstGeom prst="rect">
            <a:avLst/>
          </a:prstGeom>
        </p:spPr>
      </p:pic>
      <p:sp>
        <p:nvSpPr>
          <p:cNvPr id="162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590955" y="7962900"/>
            <a:ext cx="9139238" cy="942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CLI Mongosh (2/6)</a:t>
            </a:r>
          </a:p>
        </p:txBody>
      </p:sp>
      <p:sp>
        <p:nvSpPr>
          <p:cNvPr id="1626" name="Click here to edit label-44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7581900"/>
            <a:ext cx="1649253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sz="1800" b="1" spc="10" dirty="0">
                <a:solidFill>
                  <a:srgbClr val="181818">
                    <a:alpha val="100000"/>
                  </a:srgbClr>
                </a:solidFill>
                <a:latin typeface="Roboto" panose="00000700000000000000" pitchFamily="2" charset="0"/>
              </a:rPr>
              <a:t>Quelles Sont Les 5 Annonces De Location Avec Le Plus D’évaluations ? Et Combien D’évaluations Ont-Elles ?</a:t>
            </a:r>
          </a:p>
        </p:txBody>
      </p:sp>
      <p:sp>
        <p:nvSpPr>
          <p:cNvPr id="162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db["logements-paris"](undefined).find&amp;lparenthesis;
&amp;lbrace;&amp;rbrace;&amp;comma;
 &amp;lbrace; name: 1&amp;comma; number&amp;underscore;of&amp;underscore;reviews: 1&amp;comma; &amp;underscore;id: 0 &amp;rbrace; 
&amp;rparenthesis;
sort&amp;lparenthesis;&amp;lbrace; number&amp;underscore;of&amp;underscore;reviews: -1 &amp;rbrace;&amp;rparenthesis;.limit&amp;lparenthesis;5&amp;rparenthesis;
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8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6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88">
            <a:alphaModFix amt="100000"/>
          </a:blip>
          <a:stretch/>
        </p:blipFill>
        <p:spPr>
          <a:xfrm>
            <a:off x="762572" y="7429310"/>
            <a:ext cx="762000" cy="762000"/>
          </a:xfrm>
          <a:prstGeom prst="rect">
            <a:avLst/>
          </a:prstGeom>
        </p:spPr>
      </p:pic>
      <p:pic>
        <p:nvPicPr>
          <p:cNvPr id="16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90">
            <a:alphaModFix amt="100000"/>
          </a:blip>
          <a:stretch/>
        </p:blipFill>
        <p:spPr>
          <a:xfrm>
            <a:off x="0" y="6666928"/>
            <a:ext cx="762000" cy="762000"/>
          </a:xfrm>
          <a:prstGeom prst="rect">
            <a:avLst/>
          </a:prstGeom>
        </p:spPr>
      </p:pic>
      <p:pic>
        <p:nvPicPr>
          <p:cNvPr id="1637" name="49bc64df-7578-4138-8d4e-5d411964eac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992">
            <a:alphaModFix amt="100000"/>
          </a:blip>
          <a:stretch/>
        </p:blipFill>
        <p:spPr>
          <a:xfrm>
            <a:off x="2438400" y="4381500"/>
            <a:ext cx="13982700" cy="4991100"/>
          </a:xfrm>
          <a:prstGeom prst="rect">
            <a:avLst/>
          </a:prstGeom>
        </p:spPr>
      </p:pic>
      <p:pic>
        <p:nvPicPr>
          <p:cNvPr id="163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94">
            <a:alphaModFix amt="100000"/>
          </a:blip>
          <a:stretch/>
        </p:blipFill>
        <p:spPr>
          <a:xfrm>
            <a:off x="2438400" y="5905405"/>
            <a:ext cx="1523851" cy="761851"/>
          </a:xfrm>
          <a:prstGeom prst="rect">
            <a:avLst/>
          </a:prstGeom>
        </p:spPr>
      </p:pic>
      <p:pic>
        <p:nvPicPr>
          <p:cNvPr id="164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96">
            <a:alphaModFix amt="100000"/>
          </a:blip>
          <a:stretch/>
        </p:blipFill>
        <p:spPr>
          <a:xfrm>
            <a:off x="2438400" y="4381500"/>
            <a:ext cx="761851" cy="1523851"/>
          </a:xfrm>
          <a:prstGeom prst="rect">
            <a:avLst/>
          </a:prstGeom>
        </p:spPr>
      </p:pic>
      <p:sp>
        <p:nvSpPr>
          <p:cNvPr id="164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257300"/>
            <a:ext cx="16492538" cy="942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CLI Mongosh (3/6)</a:t>
            </a:r>
          </a:p>
        </p:txBody>
      </p:sp>
      <p:pic>
        <p:nvPicPr>
          <p:cNvPr id="16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98">
            <a:alphaModFix amt="100000"/>
          </a:blip>
          <a:stretch/>
        </p:blipFill>
        <p:spPr>
          <a:xfrm>
            <a:off x="15811786" y="9524619"/>
            <a:ext cx="762000" cy="762000"/>
          </a:xfrm>
          <a:prstGeom prst="rect">
            <a:avLst/>
          </a:prstGeom>
        </p:spPr>
      </p:pic>
      <p:pic>
        <p:nvPicPr>
          <p:cNvPr id="16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00">
            <a:alphaModFix amt="100000"/>
          </a:blip>
          <a:stretch/>
        </p:blipFill>
        <p:spPr>
          <a:xfrm>
            <a:off x="16574243" y="8763447"/>
            <a:ext cx="1713756" cy="762000"/>
          </a:xfrm>
          <a:prstGeom prst="rect">
            <a:avLst/>
          </a:prstGeom>
        </p:spPr>
      </p:pic>
      <p:pic>
        <p:nvPicPr>
          <p:cNvPr id="16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02">
            <a:alphaModFix amt="100000"/>
          </a:blip>
          <a:stretch/>
        </p:blipFill>
        <p:spPr>
          <a:xfrm>
            <a:off x="16574357" y="7238905"/>
            <a:ext cx="800100" cy="1524000"/>
          </a:xfrm>
          <a:prstGeom prst="rect">
            <a:avLst/>
          </a:prstGeom>
        </p:spPr>
      </p:pic>
      <p:pic>
        <p:nvPicPr>
          <p:cNvPr id="16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04">
            <a:alphaModFix amt="100000"/>
          </a:blip>
          <a:stretch/>
        </p:blipFill>
        <p:spPr>
          <a:xfrm>
            <a:off x="15049119" y="8763476"/>
            <a:ext cx="762000" cy="762000"/>
          </a:xfrm>
          <a:prstGeom prst="rect">
            <a:avLst/>
          </a:prstGeom>
        </p:spPr>
      </p:pic>
      <p:sp>
        <p:nvSpPr>
          <p:cNvPr id="1653" name="Click here to edit label-49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649253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196"/>
              </a:lnSpc>
            </a:pPr>
            <a:r>
              <a:rPr lang="en-US" sz="1800" b="1" spc="10" dirty="0">
                <a:solidFill>
                  <a:srgbClr val="181818">
                    <a:alpha val="100000"/>
                  </a:srgbClr>
                </a:solidFill>
                <a:latin typeface="Roboto" panose="00000700000000000000" pitchFamily="2" charset="0"/>
              </a:rPr>
              <a:t>Quel Est Le Nombre Total D’hôtes Différents ?</a:t>
            </a:r>
          </a:p>
        </p:txBody>
      </p:sp>
      <p:sp>
        <p:nvSpPr>
          <p:cNvPr id="165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286000"/>
            <a:ext cx="16492538" cy="1171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00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db["logements-paris"](undefined).distinct&amp;lparenthesis;"host&amp;underscore;id"&amp;rparenthesis;.length
**71979**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0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660" name="de8a3587-7d31-4663-85e9-09340083a717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010">
            <a:alphaModFix amt="100000"/>
          </a:blip>
          <a:stretch/>
        </p:blipFill>
        <p:spPr>
          <a:xfrm>
            <a:off x="723900" y="2247900"/>
            <a:ext cx="6134100" cy="8039100"/>
          </a:xfrm>
          <a:prstGeom prst="rect">
            <a:avLst/>
          </a:prstGeom>
        </p:spPr>
      </p:pic>
      <p:sp>
        <p:nvSpPr>
          <p:cNvPr id="166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3934587"/>
            <a:ext cx="9596438" cy="942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CLI Mongosh (4/6)</a:t>
            </a:r>
          </a:p>
        </p:txBody>
      </p:sp>
      <p:pic>
        <p:nvPicPr>
          <p:cNvPr id="16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12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6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14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16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16">
            <a:alphaModFix amt="100000"/>
          </a:blip>
          <a:stretch/>
        </p:blipFill>
        <p:spPr>
          <a:xfrm>
            <a:off x="762572" y="8763476"/>
            <a:ext cx="1524000" cy="762000"/>
          </a:xfrm>
          <a:prstGeom prst="rect">
            <a:avLst/>
          </a:prstGeom>
        </p:spPr>
      </p:pic>
      <p:sp>
        <p:nvSpPr>
          <p:cNvPr id="1670" name="Click here to edit label-42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3581400"/>
            <a:ext cx="959643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 b="1" spc="10" dirty="0">
                <a:solidFill>
                  <a:srgbClr val="262D36">
                    <a:alpha val="100000"/>
                  </a:srgbClr>
                </a:solidFill>
                <a:latin typeface="Roboto" panose="00000700000000000000" pitchFamily="2" charset="0"/>
              </a:rPr>
              <a:t>Quel Est Le Nombre De Locations Réservables Instantanément ? Quelle Proportion ?</a:t>
            </a:r>
          </a:p>
        </p:txBody>
      </p:sp>
      <p:sp>
        <p:nvSpPr>
          <p:cNvPr id="167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4991100"/>
            <a:ext cx="9596438" cy="1666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db["logements-paris"](undefined).aggregate&amp;lparenthesis;[
  &amp;lbrace;
    $group: &amp;lbrace;
      &amp;underscore;id: "$instant&amp;underscore;bookable"&amp;comma;
      count: &amp;lbrace; $sum: 1 &amp;rbrace;
    &amp;rbrace;
  &amp;rbrace;&amp;comma;
  &amp;lbrace;
    $group: &amp;lbrace;
      &amp;underscore;id: null&amp;comma;
      total: &amp;lbrace; $sum: "$count" &amp;rbrace;&amp;comma;
      instant&amp;underscore;bookable&amp;underscore;count: &amp;lbrace;
        $sum: &amp;lbrace;
          $cond: ](undefined) &amp;lbrace; $eq: [ "$&amp;underscore;id"&amp;comma; true ](undefined) &amp;rbrace;&amp;comma; "$count"&amp;comma; 0 [
        &amp;rbrace;
      &amp;rbrace;
    &amp;rbrace;
  &amp;rbrace;&amp;comma;
  &amp;lbrace;
    $project: &amp;lbrace;
      &amp;underscore;id: 0&amp;comma;
      total&amp;underscore;annonces: "$total"&amp;comma;
      instant&amp;underscore;bookables: "$instant&amp;underscore;bookable&amp;underscore;count"&amp;comma;
      proportion: &amp;lbrace;
        $round: ](undefined)
          &amp;lbrace; $multiply: [ &amp;lbrace; $divide: ](undefined) "$instant&amp;underscore;bookable&amp;underscore;count"&amp;comma; "$total" [ &amp;rbrace;&amp;comma; 100 ](undefined) &amp;rbrace;&amp;comma;
          2
        [
      &amp;rbrace;
    &amp;rbrace;
  &amp;rbrace;
](undefined)&amp;rparenthesis;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2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677" name="7b41d951-6057-42ec-8ff8-8cf053eaacfa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022">
            <a:alphaModFix amt="100000"/>
          </a:blip>
          <a:stretch/>
        </p:blipFill>
        <p:spPr>
          <a:xfrm>
            <a:off x="723900" y="2247900"/>
            <a:ext cx="6134100" cy="8039100"/>
          </a:xfrm>
          <a:prstGeom prst="rect">
            <a:avLst/>
          </a:prstGeom>
        </p:spPr>
      </p:pic>
      <p:sp>
        <p:nvSpPr>
          <p:cNvPr id="167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4315587"/>
            <a:ext cx="9596438" cy="942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CLI Mongosh (5/6)</a:t>
            </a:r>
          </a:p>
        </p:txBody>
      </p:sp>
      <p:pic>
        <p:nvPicPr>
          <p:cNvPr id="16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24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6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26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16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28">
            <a:alphaModFix amt="100000"/>
          </a:blip>
          <a:stretch/>
        </p:blipFill>
        <p:spPr>
          <a:xfrm>
            <a:off x="762572" y="8763476"/>
            <a:ext cx="1524000" cy="762000"/>
          </a:xfrm>
          <a:prstGeom prst="rect">
            <a:avLst/>
          </a:prstGeom>
        </p:spPr>
      </p:pic>
      <p:sp>
        <p:nvSpPr>
          <p:cNvPr id="1687" name="Click here to edit label-48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3962400"/>
            <a:ext cx="959643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 b="1" spc="10" dirty="0">
                <a:solidFill>
                  <a:srgbClr val="262D36">
                    <a:alpha val="100000"/>
                  </a:srgbClr>
                </a:solidFill>
                <a:latin typeface="Roboto" panose="00000700000000000000" pitchFamily="2" charset="0"/>
              </a:rPr>
              <a:t>Est-Ce Des Hôtes Ont Plus De 100 Annonces Sur Les Plateformes ?</a:t>
            </a:r>
          </a:p>
        </p:txBody>
      </p:sp>
      <p:sp>
        <p:nvSpPr>
          <p:cNvPr id="168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5372100"/>
            <a:ext cx="9596438" cy="895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400" b="1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Cela représente quel pourcentage des hôtes ? </a:t>
            </a:r>
            <a:r>
              <a:rPr lang="en-US" sz="2400" spc="-9" dirty="0">
                <a:solidFill>
                  <a:srgbClr val="262D36"/>
                </a:solidFill>
                <a:latin typeface="Roboto" panose="00000700000000000000" pitchFamily="2" charset="0"/>
              </a:rPr>
              <a:t> </a:t>
            </a:r>
            <a:r>
              <a:rPr lang="en-US" sz="2400" spc="-9" dirty="0">
                <a:solidFill>
                  <a:srgbClr val="262D36"/>
                </a:solidFill>
                <a:latin typeface="Roboto" panose="00000700000000000000" pitchFamily="2" charset="0"/>
              </a:rPr>
              <a:t>Réponse :  3%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3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694" name="a8bd5eb7-202c-4d38-bbc9-fd6cc62a838a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034">
            <a:alphaModFix amt="100000"/>
          </a:blip>
          <a:stretch/>
        </p:blipFill>
        <p:spPr>
          <a:xfrm>
            <a:off x="723900" y="2247900"/>
            <a:ext cx="6134100" cy="8039100"/>
          </a:xfrm>
          <a:prstGeom prst="rect">
            <a:avLst/>
          </a:prstGeom>
        </p:spPr>
      </p:pic>
      <p:sp>
        <p:nvSpPr>
          <p:cNvPr id="169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4838700"/>
            <a:ext cx="9596438" cy="942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CLI Mongosh (5/6)</a:t>
            </a:r>
          </a:p>
        </p:txBody>
      </p:sp>
      <p:pic>
        <p:nvPicPr>
          <p:cNvPr id="16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36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7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38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17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40">
            <a:alphaModFix amt="100000"/>
          </a:blip>
          <a:stretch/>
        </p:blipFill>
        <p:spPr>
          <a:xfrm>
            <a:off x="762572" y="8763476"/>
            <a:ext cx="1524000" cy="762000"/>
          </a:xfrm>
          <a:prstGeom prst="rect">
            <a:avLst/>
          </a:prstGeom>
        </p:spPr>
      </p:pic>
      <p:sp>
        <p:nvSpPr>
          <p:cNvPr id="1704" name="Click here to edit label-43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0500" y="4457700"/>
            <a:ext cx="9596438" cy="295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1800" b="1" spc="10" dirty="0">
                <a:solidFill>
                  <a:srgbClr val="262D36">
                    <a:alpha val="100000"/>
                  </a:srgbClr>
                </a:solidFill>
                <a:latin typeface="Roboto" panose="00000700000000000000" pitchFamily="2" charset="0"/>
              </a:rPr>
              <a:t>Combien Y A-T-Il De Super Hôtes Différents ? 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4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46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7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48">
            <a:alphaModFix amt="100000"/>
          </a:blip>
          <a:stretch/>
        </p:blipFill>
        <p:spPr>
          <a:xfrm>
            <a:off x="17525428" y="0"/>
            <a:ext cx="762000" cy="762000"/>
          </a:xfrm>
          <a:prstGeom prst="rect">
            <a:avLst/>
          </a:prstGeom>
        </p:spPr>
      </p:pic>
      <p:pic>
        <p:nvPicPr>
          <p:cNvPr id="1713" name="3712f566-655f-4207-90b7-2e75f35d475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05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52">
            <a:alphaModFix amt="100000"/>
          </a:blip>
          <a:stretch/>
        </p:blipFill>
        <p:spPr>
          <a:xfrm>
            <a:off x="11391900" y="2329309"/>
            <a:ext cx="5977831" cy="1661070"/>
          </a:xfrm>
          <a:prstGeom prst="rect">
            <a:avLst/>
          </a:prstGeom>
        </p:spPr>
      </p:pic>
      <p:sp>
        <p:nvSpPr>
          <p:cNvPr id="171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96700" y="2634139"/>
            <a:ext cx="54054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Objectif</a:t>
            </a:r>
          </a:p>
        </p:txBody>
      </p:sp>
      <p:sp>
        <p:nvSpPr>
          <p:cNvPr id="171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96700" y="3072289"/>
            <a:ext cx="5405438" cy="619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transmettre les résultats à l’équipe parisienne de l’association. </a:t>
            </a:r>
          </a:p>
        </p:txBody>
      </p:sp>
      <p:pic>
        <p:nvPicPr>
          <p:cNvPr id="17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54">
            <a:alphaModFix amt="100000"/>
          </a:blip>
          <a:stretch/>
        </p:blipFill>
        <p:spPr>
          <a:xfrm>
            <a:off x="11391900" y="4175225"/>
            <a:ext cx="5977831" cy="3794670"/>
          </a:xfrm>
          <a:prstGeom prst="rect">
            <a:avLst/>
          </a:prstGeom>
        </p:spPr>
      </p:pic>
      <p:sp>
        <p:nvSpPr>
          <p:cNvPr id="172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96700" y="4480084"/>
            <a:ext cx="54054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Requêtes à exécuter</a:t>
            </a:r>
          </a:p>
        </p:txBody>
      </p:sp>
      <p:sp>
        <p:nvSpPr>
          <p:cNvPr id="172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00548" y="4918234"/>
            <a:ext cx="5100638" cy="619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Calculer le taux de réservation moyen par mois par type de logement</a:t>
            </a:r>
          </a:p>
        </p:txBody>
      </p:sp>
      <p:sp>
        <p:nvSpPr>
          <p:cNvPr id="1727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07178" y="4903946"/>
            <a:ext cx="250508" cy="33242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1.</a:t>
            </a:r>
          </a:p>
        </p:txBody>
      </p:sp>
      <p:sp>
        <p:nvSpPr>
          <p:cNvPr id="172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00548" y="5525929"/>
            <a:ext cx="5100638" cy="619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Calculer la médiane des nombre d’avis pour tous les logements</a:t>
            </a:r>
          </a:p>
        </p:txBody>
      </p:sp>
      <p:sp>
        <p:nvSpPr>
          <p:cNvPr id="1731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07178" y="5511641"/>
            <a:ext cx="250508" cy="33242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2.</a:t>
            </a:r>
          </a:p>
        </p:txBody>
      </p:sp>
      <p:sp>
        <p:nvSpPr>
          <p:cNvPr id="173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00548" y="6133624"/>
            <a:ext cx="5100638" cy="619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Calculer la médiane des nombre d’avis par catégorie d’hôte</a:t>
            </a:r>
          </a:p>
        </p:txBody>
      </p:sp>
      <p:sp>
        <p:nvSpPr>
          <p:cNvPr id="1735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07178" y="6119336"/>
            <a:ext cx="250508" cy="33242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3.</a:t>
            </a:r>
          </a:p>
        </p:txBody>
      </p:sp>
      <p:sp>
        <p:nvSpPr>
          <p:cNvPr id="173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00548" y="6741319"/>
            <a:ext cx="5100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Calculer la densité de logements par quartier de Paris</a:t>
            </a:r>
          </a:p>
        </p:txBody>
      </p:sp>
      <p:sp>
        <p:nvSpPr>
          <p:cNvPr id="1739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07178" y="6727031"/>
            <a:ext cx="250508" cy="33242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4.</a:t>
            </a:r>
          </a:p>
        </p:txBody>
      </p:sp>
      <p:sp>
        <p:nvSpPr>
          <p:cNvPr id="174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00548" y="7045166"/>
            <a:ext cx="5100638" cy="619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Identifier les quartiers avec le plus fort taux de réservation par mois</a:t>
            </a:r>
          </a:p>
        </p:txBody>
      </p:sp>
      <p:sp>
        <p:nvSpPr>
          <p:cNvPr id="1743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07178" y="7030879"/>
            <a:ext cx="250508" cy="332422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5.</a:t>
            </a:r>
          </a:p>
        </p:txBody>
      </p:sp>
      <p:sp>
        <p:nvSpPr>
          <p:cNvPr id="174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4009454"/>
            <a:ext cx="4529138" cy="2200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Requêtes complexes avec Polars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5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60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7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62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7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64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7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66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7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6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760" name="e7ea928a-eed5-45d5-bd2d-6e5e1d53478f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070">
            <a:alphaModFix amt="100000"/>
          </a:blip>
          <a:stretch/>
        </p:blipFill>
        <p:spPr>
          <a:xfrm>
            <a:off x="914400" y="0"/>
            <a:ext cx="15849600" cy="6819900"/>
          </a:xfrm>
          <a:prstGeom prst="rect">
            <a:avLst/>
          </a:prstGeom>
        </p:spPr>
      </p:pic>
      <p:pic>
        <p:nvPicPr>
          <p:cNvPr id="176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72">
            <a:alphaModFix amt="100000"/>
          </a:blip>
          <a:stretch/>
        </p:blipFill>
        <p:spPr>
          <a:xfrm>
            <a:off x="14935200" y="4991100"/>
            <a:ext cx="914400" cy="914400"/>
          </a:xfrm>
          <a:prstGeom prst="rect">
            <a:avLst/>
          </a:prstGeom>
        </p:spPr>
      </p:pic>
      <p:pic>
        <p:nvPicPr>
          <p:cNvPr id="176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74">
            <a:alphaModFix amt="100000"/>
          </a:blip>
          <a:stretch/>
        </p:blipFill>
        <p:spPr>
          <a:xfrm>
            <a:off x="15849600" y="5905500"/>
            <a:ext cx="914400" cy="914400"/>
          </a:xfrm>
          <a:prstGeom prst="rect">
            <a:avLst/>
          </a:prstGeom>
        </p:spPr>
      </p:pic>
      <p:sp>
        <p:nvSpPr>
          <p:cNvPr id="176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84465" y="7353300"/>
            <a:ext cx="934878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++ (1/5)</a:t>
            </a:r>
          </a:p>
        </p:txBody>
      </p:sp>
      <p:sp>
        <p:nvSpPr>
          <p:cNvPr id="176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Taux de réservation moyen par mois par type de logement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7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80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7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82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7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84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7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86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7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8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783" name="37eeff23-199b-4be7-b3e7-dbb2ff7b623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090">
            <a:alphaModFix amt="100000"/>
          </a:blip>
          <a:stretch/>
        </p:blipFill>
        <p:spPr>
          <a:xfrm>
            <a:off x="914400" y="0"/>
            <a:ext cx="15849600" cy="6819900"/>
          </a:xfrm>
          <a:prstGeom prst="rect">
            <a:avLst/>
          </a:prstGeom>
        </p:spPr>
      </p:pic>
      <p:pic>
        <p:nvPicPr>
          <p:cNvPr id="178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92">
            <a:alphaModFix amt="100000"/>
          </a:blip>
          <a:stretch/>
        </p:blipFill>
        <p:spPr>
          <a:xfrm>
            <a:off x="14935200" y="4991100"/>
            <a:ext cx="914400" cy="914400"/>
          </a:xfrm>
          <a:prstGeom prst="rect">
            <a:avLst/>
          </a:prstGeom>
        </p:spPr>
      </p:pic>
      <p:pic>
        <p:nvPicPr>
          <p:cNvPr id="178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94">
            <a:alphaModFix amt="100000"/>
          </a:blip>
          <a:stretch/>
        </p:blipFill>
        <p:spPr>
          <a:xfrm>
            <a:off x="15849600" y="5905500"/>
            <a:ext cx="914400" cy="914400"/>
          </a:xfrm>
          <a:prstGeom prst="rect">
            <a:avLst/>
          </a:prstGeom>
        </p:spPr>
      </p:pic>
      <p:sp>
        <p:nvSpPr>
          <p:cNvPr id="178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84465" y="7353300"/>
            <a:ext cx="934878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++ (1/5)</a:t>
            </a:r>
          </a:p>
        </p:txBody>
      </p:sp>
      <p:sp>
        <p:nvSpPr>
          <p:cNvPr id="179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Taux de réservation moyen par mois par type de logement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9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00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7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02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8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04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8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06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8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0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806" name="7436303b-a97d-4144-a561-db2cc33e553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110">
            <a:alphaModFix amt="100000"/>
          </a:blip>
          <a:stretch/>
        </p:blipFill>
        <p:spPr>
          <a:xfrm>
            <a:off x="914400" y="0"/>
            <a:ext cx="15849600" cy="6819900"/>
          </a:xfrm>
          <a:prstGeom prst="rect">
            <a:avLst/>
          </a:prstGeom>
        </p:spPr>
      </p:pic>
      <p:pic>
        <p:nvPicPr>
          <p:cNvPr id="1808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12">
            <a:alphaModFix amt="100000"/>
          </a:blip>
          <a:stretch/>
        </p:blipFill>
        <p:spPr>
          <a:xfrm>
            <a:off x="14935200" y="4991100"/>
            <a:ext cx="914400" cy="914400"/>
          </a:xfrm>
          <a:prstGeom prst="rect">
            <a:avLst/>
          </a:prstGeom>
        </p:spPr>
      </p:pic>
      <p:pic>
        <p:nvPicPr>
          <p:cNvPr id="181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14">
            <a:alphaModFix amt="100000"/>
          </a:blip>
          <a:stretch/>
        </p:blipFill>
        <p:spPr>
          <a:xfrm>
            <a:off x="15849600" y="5905500"/>
            <a:ext cx="914400" cy="914400"/>
          </a:xfrm>
          <a:prstGeom prst="rect">
            <a:avLst/>
          </a:prstGeom>
        </p:spPr>
      </p:pic>
      <p:sp>
        <p:nvSpPr>
          <p:cNvPr id="181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63307" y="7353300"/>
            <a:ext cx="95964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++ (2/5)</a:t>
            </a:r>
          </a:p>
        </p:txBody>
      </p:sp>
      <p:sp>
        <p:nvSpPr>
          <p:cNvPr id="181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Calculer la médiane des nombre d’avis pour tous les logements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1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20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8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22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8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24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8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26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8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2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829" name="b8431db1-69db-441a-8dc9-8a4af81c084a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130">
            <a:alphaModFix amt="100000"/>
          </a:blip>
          <a:stretch/>
        </p:blipFill>
        <p:spPr>
          <a:xfrm>
            <a:off x="914400" y="0"/>
            <a:ext cx="15849600" cy="6819900"/>
          </a:xfrm>
          <a:prstGeom prst="rect">
            <a:avLst/>
          </a:prstGeom>
        </p:spPr>
      </p:pic>
      <p:pic>
        <p:nvPicPr>
          <p:cNvPr id="183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32">
            <a:alphaModFix amt="100000"/>
          </a:blip>
          <a:stretch/>
        </p:blipFill>
        <p:spPr>
          <a:xfrm>
            <a:off x="14935200" y="4991100"/>
            <a:ext cx="914400" cy="914400"/>
          </a:xfrm>
          <a:prstGeom prst="rect">
            <a:avLst/>
          </a:prstGeom>
        </p:spPr>
      </p:pic>
      <p:pic>
        <p:nvPicPr>
          <p:cNvPr id="183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34">
            <a:alphaModFix amt="100000"/>
          </a:blip>
          <a:stretch/>
        </p:blipFill>
        <p:spPr>
          <a:xfrm>
            <a:off x="15849600" y="5905500"/>
            <a:ext cx="914400" cy="914400"/>
          </a:xfrm>
          <a:prstGeom prst="rect">
            <a:avLst/>
          </a:prstGeom>
        </p:spPr>
      </p:pic>
      <p:sp>
        <p:nvSpPr>
          <p:cNvPr id="183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63307" y="7353300"/>
            <a:ext cx="95964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++ (2/5)</a:t>
            </a:r>
          </a:p>
        </p:txBody>
      </p:sp>
      <p:sp>
        <p:nvSpPr>
          <p:cNvPr id="183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Calculer la médiane des nombre d’avis pour tous les logements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3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40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8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42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8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44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8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46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8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4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852" name="044f5c68-aebf-4a93-9430-cb2fd09891bf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150">
            <a:alphaModFix amt="100000"/>
          </a:blip>
          <a:stretch/>
        </p:blipFill>
        <p:spPr>
          <a:xfrm>
            <a:off x="914400" y="0"/>
            <a:ext cx="15849600" cy="6819900"/>
          </a:xfrm>
          <a:prstGeom prst="rect">
            <a:avLst/>
          </a:prstGeom>
        </p:spPr>
      </p:pic>
      <p:pic>
        <p:nvPicPr>
          <p:cNvPr id="1854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52">
            <a:alphaModFix amt="100000"/>
          </a:blip>
          <a:stretch/>
        </p:blipFill>
        <p:spPr>
          <a:xfrm>
            <a:off x="14935200" y="4991100"/>
            <a:ext cx="914400" cy="914400"/>
          </a:xfrm>
          <a:prstGeom prst="rect">
            <a:avLst/>
          </a:prstGeom>
        </p:spPr>
      </p:pic>
      <p:pic>
        <p:nvPicPr>
          <p:cNvPr id="185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54">
            <a:alphaModFix amt="100000"/>
          </a:blip>
          <a:stretch/>
        </p:blipFill>
        <p:spPr>
          <a:xfrm>
            <a:off x="15849600" y="5905500"/>
            <a:ext cx="914400" cy="914400"/>
          </a:xfrm>
          <a:prstGeom prst="rect">
            <a:avLst/>
          </a:prstGeom>
        </p:spPr>
      </p:pic>
      <p:sp>
        <p:nvSpPr>
          <p:cNvPr id="185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49020" y="7353300"/>
            <a:ext cx="9625012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++ (3/5)</a:t>
            </a:r>
          </a:p>
        </p:txBody>
      </p:sp>
      <p:sp>
        <p:nvSpPr>
          <p:cNvPr id="186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Calculer la médiane des nombre d’avis par catégorie d’hôte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5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60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86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62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8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64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8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66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8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6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875" name="5f165bd2-4ec3-4cc6-95e5-afa8822a061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170">
            <a:alphaModFix amt="100000"/>
          </a:blip>
          <a:stretch/>
        </p:blipFill>
        <p:spPr>
          <a:xfrm>
            <a:off x="914400" y="0"/>
            <a:ext cx="15849600" cy="6819900"/>
          </a:xfrm>
          <a:prstGeom prst="rect">
            <a:avLst/>
          </a:prstGeom>
        </p:spPr>
      </p:pic>
      <p:pic>
        <p:nvPicPr>
          <p:cNvPr id="187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72">
            <a:alphaModFix amt="100000"/>
          </a:blip>
          <a:stretch/>
        </p:blipFill>
        <p:spPr>
          <a:xfrm>
            <a:off x="14935200" y="4991100"/>
            <a:ext cx="914400" cy="914400"/>
          </a:xfrm>
          <a:prstGeom prst="rect">
            <a:avLst/>
          </a:prstGeom>
        </p:spPr>
      </p:pic>
      <p:pic>
        <p:nvPicPr>
          <p:cNvPr id="187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74">
            <a:alphaModFix amt="100000"/>
          </a:blip>
          <a:stretch/>
        </p:blipFill>
        <p:spPr>
          <a:xfrm>
            <a:off x="15849600" y="5905500"/>
            <a:ext cx="914400" cy="914400"/>
          </a:xfrm>
          <a:prstGeom prst="rect">
            <a:avLst/>
          </a:prstGeom>
        </p:spPr>
      </p:pic>
      <p:sp>
        <p:nvSpPr>
          <p:cNvPr id="188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49020" y="7353300"/>
            <a:ext cx="9625012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++ (3/5)</a:t>
            </a:r>
          </a:p>
        </p:txBody>
      </p:sp>
      <p:sp>
        <p:nvSpPr>
          <p:cNvPr id="188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Calculer la médiane des nombre d’avis par catégorie d’hôte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7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8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80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8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82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8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84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8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86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8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8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898" name="868b6627-1c33-4253-afde-a7bd9b9d24b6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190">
            <a:alphaModFix amt="100000"/>
          </a:blip>
          <a:stretch/>
        </p:blipFill>
        <p:spPr>
          <a:xfrm>
            <a:off x="914400" y="0"/>
            <a:ext cx="15849600" cy="6819900"/>
          </a:xfrm>
          <a:prstGeom prst="rect">
            <a:avLst/>
          </a:prstGeom>
        </p:spPr>
      </p:pic>
      <p:pic>
        <p:nvPicPr>
          <p:cNvPr id="190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92">
            <a:alphaModFix amt="100000"/>
          </a:blip>
          <a:stretch/>
        </p:blipFill>
        <p:spPr>
          <a:xfrm>
            <a:off x="14935200" y="4991100"/>
            <a:ext cx="914400" cy="914400"/>
          </a:xfrm>
          <a:prstGeom prst="rect">
            <a:avLst/>
          </a:prstGeom>
        </p:spPr>
      </p:pic>
      <p:pic>
        <p:nvPicPr>
          <p:cNvPr id="190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94">
            <a:alphaModFix amt="100000"/>
          </a:blip>
          <a:stretch/>
        </p:blipFill>
        <p:spPr>
          <a:xfrm>
            <a:off x="15849600" y="5905500"/>
            <a:ext cx="914400" cy="914400"/>
          </a:xfrm>
          <a:prstGeom prst="rect">
            <a:avLst/>
          </a:prstGeom>
        </p:spPr>
      </p:pic>
      <p:sp>
        <p:nvSpPr>
          <p:cNvPr id="190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13682" y="7353300"/>
            <a:ext cx="969168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++ (4/5)</a:t>
            </a:r>
          </a:p>
        </p:txBody>
      </p:sp>
      <p:sp>
        <p:nvSpPr>
          <p:cNvPr id="190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Calculer la médiane des nombre d’avis par catégorie d’hôte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9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9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00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9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02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9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04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9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06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9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0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921" name="8f59ca85-15c9-4c2d-a0ca-edc7f8ea8a7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210">
            <a:alphaModFix amt="100000"/>
          </a:blip>
          <a:stretch/>
        </p:blipFill>
        <p:spPr>
          <a:xfrm>
            <a:off x="914400" y="0"/>
            <a:ext cx="15849600" cy="6743700"/>
          </a:xfrm>
          <a:prstGeom prst="rect">
            <a:avLst/>
          </a:prstGeom>
        </p:spPr>
      </p:pic>
      <p:pic>
        <p:nvPicPr>
          <p:cNvPr id="192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12">
            <a:alphaModFix amt="100000"/>
          </a:blip>
          <a:stretch/>
        </p:blipFill>
        <p:spPr>
          <a:xfrm>
            <a:off x="14935200" y="4914900"/>
            <a:ext cx="914400" cy="914400"/>
          </a:xfrm>
          <a:prstGeom prst="rect">
            <a:avLst/>
          </a:prstGeom>
        </p:spPr>
      </p:pic>
      <p:pic>
        <p:nvPicPr>
          <p:cNvPr id="192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14">
            <a:alphaModFix amt="100000"/>
          </a:blip>
          <a:stretch/>
        </p:blipFill>
        <p:spPr>
          <a:xfrm>
            <a:off x="15849600" y="5829300"/>
            <a:ext cx="914400" cy="914400"/>
          </a:xfrm>
          <a:prstGeom prst="rect">
            <a:avLst/>
          </a:prstGeom>
        </p:spPr>
      </p:pic>
      <p:sp>
        <p:nvSpPr>
          <p:cNvPr id="192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13682" y="7315200"/>
            <a:ext cx="969168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++ (4/5)</a:t>
            </a:r>
          </a:p>
        </p:txBody>
      </p:sp>
      <p:sp>
        <p:nvSpPr>
          <p:cNvPr id="192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53500"/>
            <a:ext cx="1649253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00" b="1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Médiane des nombre d’avis par catégorie d’hôte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1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9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20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9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22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9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24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9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26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9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2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944" name="b8fc0984-d39e-4dd9-b0de-de62ccf1d94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230">
            <a:alphaModFix amt="100000"/>
          </a:blip>
          <a:stretch/>
        </p:blipFill>
        <p:spPr>
          <a:xfrm>
            <a:off x="914400" y="0"/>
            <a:ext cx="15849600" cy="6819900"/>
          </a:xfrm>
          <a:prstGeom prst="rect">
            <a:avLst/>
          </a:prstGeom>
        </p:spPr>
      </p:pic>
      <p:pic>
        <p:nvPicPr>
          <p:cNvPr id="1946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32">
            <a:alphaModFix amt="100000"/>
          </a:blip>
          <a:stretch/>
        </p:blipFill>
        <p:spPr>
          <a:xfrm>
            <a:off x="14935200" y="4991100"/>
            <a:ext cx="914400" cy="914400"/>
          </a:xfrm>
          <a:prstGeom prst="rect">
            <a:avLst/>
          </a:prstGeom>
        </p:spPr>
      </p:pic>
      <p:pic>
        <p:nvPicPr>
          <p:cNvPr id="194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34">
            <a:alphaModFix amt="100000"/>
          </a:blip>
          <a:stretch/>
        </p:blipFill>
        <p:spPr>
          <a:xfrm>
            <a:off x="15849600" y="5905500"/>
            <a:ext cx="914400" cy="914400"/>
          </a:xfrm>
          <a:prstGeom prst="rect">
            <a:avLst/>
          </a:prstGeom>
        </p:spPr>
      </p:pic>
      <p:sp>
        <p:nvSpPr>
          <p:cNvPr id="195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23302" y="7353300"/>
            <a:ext cx="96726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++ (5/5)</a:t>
            </a:r>
          </a:p>
        </p:txBody>
      </p:sp>
      <p:sp>
        <p:nvSpPr>
          <p:cNvPr id="195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Identifier les quartiers avec le plus fort taux de réservation par mois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3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9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40">
            <a:alphaModFix amt="100000"/>
          </a:blip>
          <a:stretch/>
        </p:blipFill>
        <p:spPr>
          <a:xfrm>
            <a:off x="16764572" y="0"/>
            <a:ext cx="762000" cy="762000"/>
          </a:xfrm>
          <a:prstGeom prst="rect">
            <a:avLst/>
          </a:prstGeom>
        </p:spPr>
      </p:pic>
      <p:pic>
        <p:nvPicPr>
          <p:cNvPr id="19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42">
            <a:alphaModFix amt="100000"/>
          </a:blip>
          <a:stretch/>
        </p:blipFill>
        <p:spPr>
          <a:xfrm>
            <a:off x="16764572" y="1523428"/>
            <a:ext cx="1524000" cy="1581150"/>
          </a:xfrm>
          <a:prstGeom prst="rect">
            <a:avLst/>
          </a:prstGeom>
        </p:spPr>
      </p:pic>
      <p:pic>
        <p:nvPicPr>
          <p:cNvPr id="19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44">
            <a:alphaModFix amt="100000"/>
          </a:blip>
          <a:stretch/>
        </p:blipFill>
        <p:spPr>
          <a:xfrm>
            <a:off x="16002000" y="762286"/>
            <a:ext cx="762000" cy="762000"/>
          </a:xfrm>
          <a:prstGeom prst="rect">
            <a:avLst/>
          </a:prstGeom>
        </p:spPr>
      </p:pic>
      <p:pic>
        <p:nvPicPr>
          <p:cNvPr id="19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46">
            <a:alphaModFix amt="100000"/>
          </a:blip>
          <a:stretch/>
        </p:blipFill>
        <p:spPr>
          <a:xfrm>
            <a:off x="17525333" y="3105626"/>
            <a:ext cx="762000" cy="1524000"/>
          </a:xfrm>
          <a:prstGeom prst="rect">
            <a:avLst/>
          </a:prstGeom>
        </p:spPr>
      </p:pic>
      <p:pic>
        <p:nvPicPr>
          <p:cNvPr id="19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48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1967" name="bff7cd47-78bf-4a23-b318-f35a9791d1fc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250">
            <a:alphaModFix amt="100000"/>
          </a:blip>
          <a:stretch/>
        </p:blipFill>
        <p:spPr>
          <a:xfrm>
            <a:off x="914400" y="0"/>
            <a:ext cx="15849600" cy="6819900"/>
          </a:xfrm>
          <a:prstGeom prst="rect">
            <a:avLst/>
          </a:prstGeom>
        </p:spPr>
      </p:pic>
      <p:pic>
        <p:nvPicPr>
          <p:cNvPr id="196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52">
            <a:alphaModFix amt="100000"/>
          </a:blip>
          <a:stretch/>
        </p:blipFill>
        <p:spPr>
          <a:xfrm>
            <a:off x="14935200" y="4991100"/>
            <a:ext cx="914400" cy="914400"/>
          </a:xfrm>
          <a:prstGeom prst="rect">
            <a:avLst/>
          </a:prstGeom>
        </p:spPr>
      </p:pic>
      <p:pic>
        <p:nvPicPr>
          <p:cNvPr id="197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54">
            <a:alphaModFix amt="100000"/>
          </a:blip>
          <a:stretch/>
        </p:blipFill>
        <p:spPr>
          <a:xfrm>
            <a:off x="15849600" y="5905500"/>
            <a:ext cx="914400" cy="914400"/>
          </a:xfrm>
          <a:prstGeom prst="rect">
            <a:avLst/>
          </a:prstGeom>
        </p:spPr>
      </p:pic>
      <p:sp>
        <p:nvSpPr>
          <p:cNvPr id="197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23302" y="7353300"/>
            <a:ext cx="9672638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Requête ++ (5/5)</a:t>
            </a:r>
          </a:p>
        </p:txBody>
      </p:sp>
      <p:sp>
        <p:nvSpPr>
          <p:cNvPr id="197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991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181818">
                    <a:alpha val="80000"/>
                  </a:srgbClr>
                </a:solidFill>
                <a:latin typeface="Roboto" panose="00000700000000000000" pitchFamily="2" charset="0"/>
              </a:rPr>
              <a:t>Identifier les quartiers avec le plus fort taux de réservation par mois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5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9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60">
            <a:alphaModFix amt="100000"/>
          </a:blip>
          <a:stretch/>
        </p:blipFill>
        <p:spPr>
          <a:xfrm>
            <a:off x="16764572" y="4076700"/>
            <a:ext cx="1524000" cy="762000"/>
          </a:xfrm>
          <a:prstGeom prst="rect">
            <a:avLst/>
          </a:prstGeom>
        </p:spPr>
      </p:pic>
      <p:pic>
        <p:nvPicPr>
          <p:cNvPr id="19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62">
            <a:alphaModFix amt="100000"/>
          </a:blip>
          <a:stretch/>
        </p:blipFill>
        <p:spPr>
          <a:xfrm>
            <a:off x="16764572" y="2552128"/>
            <a:ext cx="800100" cy="1524000"/>
          </a:xfrm>
          <a:prstGeom prst="rect">
            <a:avLst/>
          </a:prstGeom>
        </p:spPr>
      </p:pic>
      <p:pic>
        <p:nvPicPr>
          <p:cNvPr id="19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64">
            <a:alphaModFix amt="100000"/>
          </a:blip>
          <a:stretch/>
        </p:blipFill>
        <p:spPr>
          <a:xfrm>
            <a:off x="0" y="0"/>
            <a:ext cx="914400" cy="1524000"/>
          </a:xfrm>
          <a:prstGeom prst="rect">
            <a:avLst/>
          </a:prstGeom>
        </p:spPr>
      </p:pic>
      <p:pic>
        <p:nvPicPr>
          <p:cNvPr id="19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66">
            <a:alphaModFix amt="100000"/>
          </a:blip>
          <a:stretch/>
        </p:blipFill>
        <p:spPr>
          <a:xfrm>
            <a:off x="0" y="2285810"/>
            <a:ext cx="914400" cy="762000"/>
          </a:xfrm>
          <a:prstGeom prst="rect">
            <a:avLst/>
          </a:prstGeom>
        </p:spPr>
      </p:pic>
      <p:pic>
        <p:nvPicPr>
          <p:cNvPr id="1988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268">
            <a:alphaModFix amt="100000"/>
          </a:blip>
          <a:stretch/>
        </p:blipFill>
        <p:spPr>
          <a:xfrm>
            <a:off x="914400" y="0"/>
            <a:ext cx="16002000" cy="7019925"/>
          </a:xfrm>
          <a:prstGeom prst="rect">
            <a:avLst/>
          </a:prstGeom>
        </p:spPr>
      </p:pic>
      <p:pic>
        <p:nvPicPr>
          <p:cNvPr id="199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70">
            <a:alphaModFix amt="100000"/>
          </a:blip>
          <a:stretch/>
        </p:blipFill>
        <p:spPr>
          <a:xfrm>
            <a:off x="15087600" y="5189982"/>
            <a:ext cx="914400" cy="914400"/>
          </a:xfrm>
          <a:prstGeom prst="rect">
            <a:avLst/>
          </a:prstGeom>
        </p:spPr>
      </p:pic>
      <p:pic>
        <p:nvPicPr>
          <p:cNvPr id="199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72">
            <a:alphaModFix amt="100000"/>
          </a:blip>
          <a:stretch/>
        </p:blipFill>
        <p:spPr>
          <a:xfrm>
            <a:off x="16002000" y="6104382"/>
            <a:ext cx="914400" cy="914400"/>
          </a:xfrm>
          <a:prstGeom prst="rect">
            <a:avLst/>
          </a:prstGeom>
        </p:spPr>
      </p:pic>
      <p:sp>
        <p:nvSpPr>
          <p:cNvPr id="199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7933182"/>
            <a:ext cx="16492538" cy="962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Utilisation de Tableau</a:t>
            </a:r>
          </a:p>
        </p:txBody>
      </p:sp>
      <p:sp>
        <p:nvSpPr>
          <p:cNvPr id="199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9001982"/>
            <a:ext cx="16492538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100" spc="-10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Téléchargement d'un export csv  de la base Mongo DB</a:t>
            </a:r>
          </a:p>
        </p:txBody>
      </p:sp>
      <p:pic>
        <p:nvPicPr>
          <p:cNvPr id="19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74">
            <a:alphaModFix amt="100000"/>
          </a:blip>
          <a:stretch/>
        </p:blipFill>
        <p:spPr>
          <a:xfrm>
            <a:off x="914400" y="1523905"/>
            <a:ext cx="1524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1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7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0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80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20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82">
            <a:alphaModFix amt="7000"/>
          </a:blip>
          <a:stretch/>
        </p:blipFill>
        <p:spPr>
          <a:xfrm>
            <a:off x="16764572" y="2600420"/>
            <a:ext cx="1524000" cy="762000"/>
          </a:xfrm>
          <a:prstGeom prst="rect">
            <a:avLst/>
          </a:prstGeom>
        </p:spPr>
      </p:pic>
      <p:pic>
        <p:nvPicPr>
          <p:cNvPr id="20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84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20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86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20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88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20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90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20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92">
            <a:alphaModFix amt="7000"/>
          </a:blip>
          <a:stretch/>
        </p:blipFill>
        <p:spPr>
          <a:xfrm>
            <a:off x="762572" y="2267236"/>
            <a:ext cx="762000" cy="762000"/>
          </a:xfrm>
          <a:prstGeom prst="rect">
            <a:avLst/>
          </a:prstGeom>
        </p:spPr>
      </p:pic>
      <p:pic>
        <p:nvPicPr>
          <p:cNvPr id="20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94">
            <a:alphaModFix amt="7000"/>
          </a:blip>
          <a:stretch/>
        </p:blipFill>
        <p:spPr>
          <a:xfrm>
            <a:off x="1523238" y="742760"/>
            <a:ext cx="762000" cy="1524000"/>
          </a:xfrm>
          <a:prstGeom prst="rect">
            <a:avLst/>
          </a:prstGeom>
        </p:spPr>
      </p:pic>
      <p:pic>
        <p:nvPicPr>
          <p:cNvPr id="2019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97">
            <a:alphaModFix amt="100000"/>
            <a:extLst>
              <a:ext uri="{2FBA38B4-FD58-4DD4-9CA7-496207FEA100}">
                <asvg:svgBlip xmlns:r="http://schemas.openxmlformats.org/officeDocument/2006/relationships" xmlns:asvg="http://schemas.microsoft.com/office/drawing/2016/SVG/main" r:embed="rId129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14400" y="2743200"/>
            <a:ext cx="16459200" cy="6629400"/>
          </a:xfrm>
          <a:prstGeom prst="rect">
            <a:avLst/>
          </a:prstGeom>
        </p:spPr>
      </p:pic>
      <p:sp>
        <p:nvSpPr>
          <p:cNvPr id="202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145726" y="3125152"/>
            <a:ext cx="4957762" cy="523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Répliquer les données</a:t>
            </a:r>
          </a:p>
        </p:txBody>
      </p:sp>
      <p:sp>
        <p:nvSpPr>
          <p:cNvPr id="202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145726" y="3753802"/>
            <a:ext cx="4957762" cy="895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4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Importation complèteSpécifier une logique de réplication</a:t>
            </a:r>
          </a:p>
        </p:txBody>
      </p:sp>
      <p:sp>
        <p:nvSpPr>
          <p:cNvPr id="202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0" y="7257478"/>
            <a:ext cx="7100888" cy="523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Distribuer les données</a:t>
            </a:r>
          </a:p>
        </p:txBody>
      </p:sp>
      <p:sp>
        <p:nvSpPr>
          <p:cNvPr id="202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0" y="7886128"/>
            <a:ext cx="710088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4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Distribuer les données — instructions étape 3 : étapes détaillées pour la distribution vers consommateurs et BI.</a:t>
            </a:r>
          </a:p>
        </p:txBody>
      </p:sp>
      <p:sp>
        <p:nvSpPr>
          <p:cNvPr id="202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Répliquer et distribuer les </a:t>
            </a:r>
            <a:r>
              <a:rPr lang="en-US" sz="4200" b="1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données</a:t>
            </a:r>
            <a:r>
              <a:rPr lang="en-US" sz="4200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 efficacement</a:t>
            </a:r>
          </a:p>
        </p:txBody>
      </p:sp>
      <p:sp>
        <p:nvSpPr>
          <p:cNvPr id="202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457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4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Étapes claires pour la réplication et la distribution vers consommateurs et ouitils de BI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0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0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03">
            <a:alphaModFix amt="100000"/>
          </a:blip>
          <a:stretch/>
        </p:blipFill>
        <p:spPr>
          <a:xfrm>
            <a:off x="16764572" y="4076700"/>
            <a:ext cx="1524000" cy="762000"/>
          </a:xfrm>
          <a:prstGeom prst="rect">
            <a:avLst/>
          </a:prstGeom>
        </p:spPr>
      </p:pic>
      <p:pic>
        <p:nvPicPr>
          <p:cNvPr id="20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05">
            <a:alphaModFix amt="100000"/>
          </a:blip>
          <a:stretch/>
        </p:blipFill>
        <p:spPr>
          <a:xfrm>
            <a:off x="16764572" y="2552128"/>
            <a:ext cx="800100" cy="1524000"/>
          </a:xfrm>
          <a:prstGeom prst="rect">
            <a:avLst/>
          </a:prstGeom>
        </p:spPr>
      </p:pic>
      <p:pic>
        <p:nvPicPr>
          <p:cNvPr id="20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07">
            <a:alphaModFix amt="100000"/>
          </a:blip>
          <a:stretch/>
        </p:blipFill>
        <p:spPr>
          <a:xfrm>
            <a:off x="0" y="0"/>
            <a:ext cx="914400" cy="1524000"/>
          </a:xfrm>
          <a:prstGeom prst="rect">
            <a:avLst/>
          </a:prstGeom>
        </p:spPr>
      </p:pic>
      <p:pic>
        <p:nvPicPr>
          <p:cNvPr id="20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09">
            <a:alphaModFix amt="100000"/>
          </a:blip>
          <a:stretch/>
        </p:blipFill>
        <p:spPr>
          <a:xfrm>
            <a:off x="0" y="2285810"/>
            <a:ext cx="914400" cy="762000"/>
          </a:xfrm>
          <a:prstGeom prst="rect">
            <a:avLst/>
          </a:prstGeom>
        </p:spPr>
      </p:pic>
      <p:pic>
        <p:nvPicPr>
          <p:cNvPr id="2039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311">
            <a:alphaModFix amt="100000"/>
          </a:blip>
          <a:stretch/>
        </p:blipFill>
        <p:spPr>
          <a:xfrm>
            <a:off x="914400" y="0"/>
            <a:ext cx="16002000" cy="7124700"/>
          </a:xfrm>
          <a:prstGeom prst="rect">
            <a:avLst/>
          </a:prstGeom>
        </p:spPr>
      </p:pic>
      <p:pic>
        <p:nvPicPr>
          <p:cNvPr id="2041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13">
            <a:alphaModFix amt="100000"/>
          </a:blip>
          <a:stretch/>
        </p:blipFill>
        <p:spPr>
          <a:xfrm>
            <a:off x="15087600" y="5300186"/>
            <a:ext cx="914400" cy="914400"/>
          </a:xfrm>
          <a:prstGeom prst="rect">
            <a:avLst/>
          </a:prstGeom>
        </p:spPr>
      </p:pic>
      <p:pic>
        <p:nvPicPr>
          <p:cNvPr id="204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15">
            <a:alphaModFix amt="100000"/>
          </a:blip>
          <a:stretch/>
        </p:blipFill>
        <p:spPr>
          <a:xfrm>
            <a:off x="16002000" y="6214586"/>
            <a:ext cx="914400" cy="914400"/>
          </a:xfrm>
          <a:prstGeom prst="rect">
            <a:avLst/>
          </a:prstGeom>
        </p:spPr>
      </p:pic>
      <p:sp>
        <p:nvSpPr>
          <p:cNvPr id="204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043386"/>
            <a:ext cx="16492538" cy="8572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096"/>
              </a:lnSpc>
            </a:pPr>
            <a:r>
              <a:rPr lang="en-US" sz="48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Import dans collection temporaire des données de Lyon</a:t>
            </a:r>
          </a:p>
        </p:txBody>
      </p:sp>
      <p:sp>
        <p:nvSpPr>
          <p:cNvPr id="204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9001982"/>
            <a:ext cx="16492538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100" spc="-10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mongoimport --uri="mongodb://localhost:27017" --db airbnb --collection logements_temp --type csv --headerline --file listings_Lyon+(1).csv</a:t>
            </a:r>
          </a:p>
        </p:txBody>
      </p:sp>
      <p:pic>
        <p:nvPicPr>
          <p:cNvPr id="20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17">
            <a:alphaModFix amt="100000"/>
          </a:blip>
          <a:stretch/>
        </p:blipFill>
        <p:spPr>
          <a:xfrm>
            <a:off x="914400" y="1523905"/>
            <a:ext cx="1524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2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0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23">
            <a:alphaModFix amt="100000"/>
          </a:blip>
          <a:stretch/>
        </p:blipFill>
        <p:spPr>
          <a:xfrm>
            <a:off x="16764572" y="4076700"/>
            <a:ext cx="1524000" cy="762000"/>
          </a:xfrm>
          <a:prstGeom prst="rect">
            <a:avLst/>
          </a:prstGeom>
        </p:spPr>
      </p:pic>
      <p:pic>
        <p:nvPicPr>
          <p:cNvPr id="20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25">
            <a:alphaModFix amt="100000"/>
          </a:blip>
          <a:stretch/>
        </p:blipFill>
        <p:spPr>
          <a:xfrm>
            <a:off x="16764572" y="2552128"/>
            <a:ext cx="800100" cy="1524000"/>
          </a:xfrm>
          <a:prstGeom prst="rect">
            <a:avLst/>
          </a:prstGeom>
        </p:spPr>
      </p:pic>
      <p:pic>
        <p:nvPicPr>
          <p:cNvPr id="20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27">
            <a:alphaModFix amt="100000"/>
          </a:blip>
          <a:stretch/>
        </p:blipFill>
        <p:spPr>
          <a:xfrm>
            <a:off x="0" y="0"/>
            <a:ext cx="914400" cy="1524000"/>
          </a:xfrm>
          <a:prstGeom prst="rect">
            <a:avLst/>
          </a:prstGeom>
        </p:spPr>
      </p:pic>
      <p:pic>
        <p:nvPicPr>
          <p:cNvPr id="20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29">
            <a:alphaModFix amt="100000"/>
          </a:blip>
          <a:stretch/>
        </p:blipFill>
        <p:spPr>
          <a:xfrm>
            <a:off x="0" y="2285810"/>
            <a:ext cx="914400" cy="762000"/>
          </a:xfrm>
          <a:prstGeom prst="rect">
            <a:avLst/>
          </a:prstGeom>
        </p:spPr>
      </p:pic>
      <p:pic>
        <p:nvPicPr>
          <p:cNvPr id="2062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331">
            <a:alphaModFix amt="100000"/>
          </a:blip>
          <a:stretch/>
        </p:blipFill>
        <p:spPr>
          <a:xfrm>
            <a:off x="914400" y="0"/>
            <a:ext cx="16002000" cy="7124700"/>
          </a:xfrm>
          <a:prstGeom prst="rect">
            <a:avLst/>
          </a:prstGeom>
        </p:spPr>
      </p:pic>
      <p:pic>
        <p:nvPicPr>
          <p:cNvPr id="2064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33">
            <a:alphaModFix amt="100000"/>
          </a:blip>
          <a:stretch/>
        </p:blipFill>
        <p:spPr>
          <a:xfrm>
            <a:off x="15087600" y="5300186"/>
            <a:ext cx="914400" cy="914400"/>
          </a:xfrm>
          <a:prstGeom prst="rect">
            <a:avLst/>
          </a:prstGeom>
        </p:spPr>
      </p:pic>
      <p:pic>
        <p:nvPicPr>
          <p:cNvPr id="206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35">
            <a:alphaModFix amt="100000"/>
          </a:blip>
          <a:stretch/>
        </p:blipFill>
        <p:spPr>
          <a:xfrm>
            <a:off x="16002000" y="6214586"/>
            <a:ext cx="914400" cy="914400"/>
          </a:xfrm>
          <a:prstGeom prst="rect">
            <a:avLst/>
          </a:prstGeom>
        </p:spPr>
      </p:pic>
      <p:sp>
        <p:nvSpPr>
          <p:cNvPr id="206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043386"/>
            <a:ext cx="16492538" cy="8572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096"/>
              </a:lnSpc>
            </a:pPr>
            <a:r>
              <a:rPr lang="en-US" sz="48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Insérer uniquement les nouveaux id (évite doublons)</a:t>
            </a:r>
          </a:p>
        </p:txBody>
      </p:sp>
      <p:sp>
        <p:nvSpPr>
          <p:cNvPr id="207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9001982"/>
            <a:ext cx="16492538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100" spc="-10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db["logements_temp"].find().forEach(doc =&gt; { if (!db["logements-paris"].findOne({ id: doc.id })) { db["logements-paris"].insertOne(doc) } })</a:t>
            </a:r>
          </a:p>
        </p:txBody>
      </p:sp>
      <p:pic>
        <p:nvPicPr>
          <p:cNvPr id="20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37">
            <a:alphaModFix amt="100000"/>
          </a:blip>
          <a:stretch/>
        </p:blipFill>
        <p:spPr>
          <a:xfrm>
            <a:off x="914400" y="1523905"/>
            <a:ext cx="1524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4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4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0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43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20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45">
            <a:alphaModFix amt="100000"/>
          </a:blip>
          <a:stretch/>
        </p:blipFill>
        <p:spPr>
          <a:xfrm>
            <a:off x="17525428" y="0"/>
            <a:ext cx="762000" cy="762000"/>
          </a:xfrm>
          <a:prstGeom prst="rect">
            <a:avLst/>
          </a:prstGeom>
        </p:spPr>
      </p:pic>
      <p:pic>
        <p:nvPicPr>
          <p:cNvPr id="2081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48">
            <a:alphaModFix amt="100000"/>
            <a:extLst>
              <a:ext uri="{C6EC8501-7591-4EEF-AC64-EE5617407DBD}">
                <asvg:svgBlip xmlns:r="http://schemas.openxmlformats.org/officeDocument/2006/relationships" xmlns:asvg="http://schemas.microsoft.com/office/drawing/2016/SVG/main" r:embed="rId1347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5029200" y="2171700"/>
            <a:ext cx="8229600" cy="8115300"/>
          </a:xfrm>
          <a:prstGeom prst="rect">
            <a:avLst/>
          </a:prstGeom>
        </p:spPr>
      </p:pic>
      <p:sp>
        <p:nvSpPr>
          <p:cNvPr id="2082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2600" y="5672042"/>
            <a:ext cx="36052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Primary</a:t>
            </a:r>
          </a:p>
        </p:txBody>
      </p:sp>
      <p:sp>
        <p:nvSpPr>
          <p:cNvPr id="208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2600" y="6110192"/>
            <a:ext cx="36052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dans la région principale (ex : Paris)</a:t>
            </a:r>
          </a:p>
        </p:txBody>
      </p:sp>
      <p:sp>
        <p:nvSpPr>
          <p:cNvPr id="208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52600" y="6441662"/>
            <a:ext cx="36052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Noeud principal d'écriture.</a:t>
            </a:r>
          </a:p>
        </p:txBody>
      </p:sp>
      <p:sp>
        <p:nvSpPr>
          <p:cNvPr id="208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51904" y="3643217"/>
            <a:ext cx="30813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Secondary </a:t>
            </a:r>
          </a:p>
        </p:txBody>
      </p:sp>
      <p:sp>
        <p:nvSpPr>
          <p:cNvPr id="208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51904" y="4081367"/>
            <a:ext cx="30813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(à Lyon)</a:t>
            </a:r>
          </a:p>
        </p:txBody>
      </p:sp>
      <p:sp>
        <p:nvSpPr>
          <p:cNvPr id="208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51904" y="4412837"/>
            <a:ext cx="30813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Réplica pour reprise ou lecture</a:t>
            </a:r>
          </a:p>
        </p:txBody>
      </p:sp>
      <p:sp>
        <p:nvSpPr>
          <p:cNvPr id="2088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51904" y="7866602"/>
            <a:ext cx="33861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Arbiter</a:t>
            </a:r>
          </a:p>
        </p:txBody>
      </p:sp>
      <p:sp>
        <p:nvSpPr>
          <p:cNvPr id="208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51904" y="8304752"/>
            <a:ext cx="33861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Vote uniquement, aucune donnée</a:t>
            </a:r>
          </a:p>
        </p:txBody>
      </p:sp>
      <p:sp>
        <p:nvSpPr>
          <p:cNvPr id="209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2396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Replica Set réparti géographiquement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5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095" name="01e88085-8cc9-4fb1-b6e4-fddc5fa4342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354">
            <a:alphaModFix amt="100000"/>
          </a:blip>
          <a:stretch/>
        </p:blipFill>
        <p:spPr>
          <a:xfrm>
            <a:off x="914400" y="4762500"/>
            <a:ext cx="16459200" cy="4610100"/>
          </a:xfrm>
          <a:prstGeom prst="rect">
            <a:avLst/>
          </a:prstGeom>
        </p:spPr>
      </p:pic>
      <p:pic>
        <p:nvPicPr>
          <p:cNvPr id="2097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56">
            <a:alphaModFix amt="100000"/>
          </a:blip>
          <a:stretch/>
        </p:blipFill>
        <p:spPr>
          <a:xfrm>
            <a:off x="914400" y="6286405"/>
            <a:ext cx="1523851" cy="761851"/>
          </a:xfrm>
          <a:prstGeom prst="rect">
            <a:avLst/>
          </a:prstGeom>
        </p:spPr>
      </p:pic>
      <p:pic>
        <p:nvPicPr>
          <p:cNvPr id="209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58">
            <a:alphaModFix amt="100000"/>
          </a:blip>
          <a:stretch/>
        </p:blipFill>
        <p:spPr>
          <a:xfrm>
            <a:off x="914400" y="4762500"/>
            <a:ext cx="761851" cy="1523851"/>
          </a:xfrm>
          <a:prstGeom prst="rect">
            <a:avLst/>
          </a:prstGeom>
        </p:spPr>
      </p:pic>
      <p:sp>
        <p:nvSpPr>
          <p:cNvPr id="210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4301"/>
            <a:ext cx="8224838" cy="2962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MongoDB Compass</a:t>
            </a:r>
          </a:p>
        </p:txBody>
      </p:sp>
      <p:sp>
        <p:nvSpPr>
          <p:cNvPr id="210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58400" y="1866900"/>
            <a:ext cx="734853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Database name : airbnb 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Collection : logements-paris-lyon  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Storage Size : 106.82 MB  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105858 documents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mais 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73262 seulement sur paris seul et Lyon  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6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108" name="dad3a50d-17bd-4457-a49d-5d08f5fa1c2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364">
            <a:alphaModFix amt="100000"/>
          </a:blip>
          <a:stretch/>
        </p:blipFill>
        <p:spPr>
          <a:xfrm>
            <a:off x="914400" y="4762500"/>
            <a:ext cx="16459200" cy="4610100"/>
          </a:xfrm>
          <a:prstGeom prst="rect">
            <a:avLst/>
          </a:prstGeom>
        </p:spPr>
      </p:pic>
      <p:pic>
        <p:nvPicPr>
          <p:cNvPr id="211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66">
            <a:alphaModFix amt="100000"/>
          </a:blip>
          <a:stretch/>
        </p:blipFill>
        <p:spPr>
          <a:xfrm>
            <a:off x="914400" y="6286405"/>
            <a:ext cx="1523851" cy="761851"/>
          </a:xfrm>
          <a:prstGeom prst="rect">
            <a:avLst/>
          </a:prstGeom>
        </p:spPr>
      </p:pic>
      <p:pic>
        <p:nvPicPr>
          <p:cNvPr id="211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68">
            <a:alphaModFix amt="100000"/>
          </a:blip>
          <a:stretch/>
        </p:blipFill>
        <p:spPr>
          <a:xfrm>
            <a:off x="914400" y="4762500"/>
            <a:ext cx="761851" cy="1523851"/>
          </a:xfrm>
          <a:prstGeom prst="rect">
            <a:avLst/>
          </a:prstGeom>
        </p:spPr>
      </p:pic>
      <p:sp>
        <p:nvSpPr>
          <p:cNvPr id="211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4301"/>
            <a:ext cx="8224838" cy="2962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1250"/>
              </a:lnSpc>
            </a:pPr>
            <a:r>
              <a:rPr lang="en-US" sz="9000" spc="-19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MongoDB Compass</a:t>
            </a:r>
          </a:p>
        </p:txBody>
      </p:sp>
      <p:sp>
        <p:nvSpPr>
          <p:cNvPr id="211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58400" y="2171700"/>
            <a:ext cx="7348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b="1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21077 documents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 ne concernent ni Paris ni Lyon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7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1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7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12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76">
            <a:alphaModFix amt="100000"/>
          </a:blip>
          <a:stretch/>
        </p:blipFill>
        <p:spPr>
          <a:xfrm>
            <a:off x="4972050" y="0"/>
            <a:ext cx="476250" cy="6789390"/>
          </a:xfrm>
          <a:prstGeom prst="rect">
            <a:avLst/>
          </a:prstGeom>
        </p:spPr>
      </p:pic>
      <p:pic>
        <p:nvPicPr>
          <p:cNvPr id="212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78">
            <a:alphaModFix amt="100000"/>
          </a:blip>
          <a:stretch/>
        </p:blipFill>
        <p:spPr>
          <a:xfrm>
            <a:off x="4972050" y="7830502"/>
            <a:ext cx="476250" cy="2456408"/>
          </a:xfrm>
          <a:prstGeom prst="rect">
            <a:avLst/>
          </a:prstGeom>
        </p:spPr>
      </p:pic>
      <p:pic>
        <p:nvPicPr>
          <p:cNvPr id="21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80">
            <a:alphaModFix amt="100000"/>
          </a:blip>
          <a:stretch/>
        </p:blipFill>
        <p:spPr>
          <a:xfrm>
            <a:off x="6438900" y="914400"/>
            <a:ext cx="3529906" cy="1365795"/>
          </a:xfrm>
          <a:prstGeom prst="rect">
            <a:avLst/>
          </a:prstGeom>
        </p:spPr>
      </p:pic>
      <p:pic>
        <p:nvPicPr>
          <p:cNvPr id="212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82">
            <a:alphaModFix amt="100000"/>
          </a:blip>
          <a:stretch/>
        </p:blipFill>
        <p:spPr>
          <a:xfrm>
            <a:off x="6446490" y="921990"/>
            <a:ext cx="3516511" cy="1350615"/>
          </a:xfrm>
          <a:prstGeom prst="rect">
            <a:avLst/>
          </a:prstGeom>
        </p:spPr>
      </p:pic>
      <p:sp>
        <p:nvSpPr>
          <p:cNvPr id="2130" name="text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729538" y="1426178"/>
            <a:ext cx="9858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Test</a:t>
            </a:r>
          </a:p>
        </p:txBody>
      </p:sp>
      <p:pic>
        <p:nvPicPr>
          <p:cNvPr id="21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84">
            <a:alphaModFix amt="100000"/>
          </a:blip>
          <a:stretch/>
        </p:blipFill>
        <p:spPr>
          <a:xfrm>
            <a:off x="9972675" y="914400"/>
            <a:ext cx="4072831" cy="1365795"/>
          </a:xfrm>
          <a:prstGeom prst="rect">
            <a:avLst/>
          </a:prstGeom>
        </p:spPr>
      </p:pic>
      <p:pic>
        <p:nvPicPr>
          <p:cNvPr id="21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86">
            <a:alphaModFix amt="100000"/>
          </a:blip>
          <a:stretch/>
        </p:blipFill>
        <p:spPr>
          <a:xfrm>
            <a:off x="9980266" y="921990"/>
            <a:ext cx="4059436" cy="1350615"/>
          </a:xfrm>
          <a:prstGeom prst="rect">
            <a:avLst/>
          </a:prstGeom>
        </p:spPr>
      </p:pic>
      <p:sp>
        <p:nvSpPr>
          <p:cNvPr id="2136" name="text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531822" y="1426178"/>
            <a:ext cx="9858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Objectif</a:t>
            </a:r>
          </a:p>
        </p:txBody>
      </p:sp>
      <p:pic>
        <p:nvPicPr>
          <p:cNvPr id="21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88">
            <a:alphaModFix amt="100000"/>
          </a:blip>
          <a:stretch/>
        </p:blipFill>
        <p:spPr>
          <a:xfrm>
            <a:off x="14043269" y="914400"/>
            <a:ext cx="3253681" cy="1365795"/>
          </a:xfrm>
          <a:prstGeom prst="rect">
            <a:avLst/>
          </a:prstGeom>
        </p:spPr>
      </p:pic>
      <p:pic>
        <p:nvPicPr>
          <p:cNvPr id="21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90">
            <a:alphaModFix amt="100000"/>
          </a:blip>
          <a:stretch/>
        </p:blipFill>
        <p:spPr>
          <a:xfrm>
            <a:off x="14050861" y="921990"/>
            <a:ext cx="3240286" cy="1350615"/>
          </a:xfrm>
          <a:prstGeom prst="rect">
            <a:avLst/>
          </a:prstGeom>
        </p:spPr>
      </p:pic>
      <p:sp>
        <p:nvSpPr>
          <p:cNvPr id="2142" name="text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835664" y="1426178"/>
            <a:ext cx="17002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Ce qui est validé</a:t>
            </a:r>
          </a:p>
        </p:txBody>
      </p:sp>
      <p:pic>
        <p:nvPicPr>
          <p:cNvPr id="21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92">
            <a:alphaModFix amt="100000"/>
          </a:blip>
          <a:stretch/>
        </p:blipFill>
        <p:spPr>
          <a:xfrm>
            <a:off x="6438900" y="2269331"/>
            <a:ext cx="3529906" cy="2842170"/>
          </a:xfrm>
          <a:prstGeom prst="rect">
            <a:avLst/>
          </a:prstGeom>
        </p:spPr>
      </p:pic>
      <p:pic>
        <p:nvPicPr>
          <p:cNvPr id="21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94">
            <a:alphaModFix amt="100000"/>
          </a:blip>
          <a:stretch/>
        </p:blipFill>
        <p:spPr>
          <a:xfrm>
            <a:off x="6446490" y="2276922"/>
            <a:ext cx="3516511" cy="2836515"/>
          </a:xfrm>
          <a:prstGeom prst="rect">
            <a:avLst/>
          </a:prstGeom>
        </p:spPr>
      </p:pic>
      <p:sp>
        <p:nvSpPr>
          <p:cNvPr id="2148" name="Label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76060" y="3522440"/>
            <a:ext cx="32908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✅ 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Test 1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 : réplication</a:t>
            </a:r>
          </a:p>
        </p:txBody>
      </p:sp>
      <p:pic>
        <p:nvPicPr>
          <p:cNvPr id="21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96">
            <a:alphaModFix amt="100000"/>
          </a:blip>
          <a:stretch/>
        </p:blipFill>
        <p:spPr>
          <a:xfrm>
            <a:off x="9972675" y="2269331"/>
            <a:ext cx="4072831" cy="2842170"/>
          </a:xfrm>
          <a:prstGeom prst="rect">
            <a:avLst/>
          </a:prstGeom>
        </p:spPr>
      </p:pic>
      <p:pic>
        <p:nvPicPr>
          <p:cNvPr id="21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98">
            <a:alphaModFix amt="100000"/>
          </a:blip>
          <a:stretch/>
        </p:blipFill>
        <p:spPr>
          <a:xfrm>
            <a:off x="9980266" y="2276922"/>
            <a:ext cx="4059436" cy="2836515"/>
          </a:xfrm>
          <a:prstGeom prst="rect">
            <a:avLst/>
          </a:prstGeom>
        </p:spPr>
      </p:pic>
      <p:sp>
        <p:nvSpPr>
          <p:cNvPr id="2154" name="Label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09930" y="3190970"/>
            <a:ext cx="3833812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Que les données insérées sur le PRIMARY sont visibles sur le SECONDARY</a:t>
            </a:r>
          </a:p>
        </p:txBody>
      </p:sp>
      <p:pic>
        <p:nvPicPr>
          <p:cNvPr id="21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00">
            <a:alphaModFix amt="100000"/>
          </a:blip>
          <a:stretch/>
        </p:blipFill>
        <p:spPr>
          <a:xfrm>
            <a:off x="14043269" y="2269331"/>
            <a:ext cx="3253681" cy="2842170"/>
          </a:xfrm>
          <a:prstGeom prst="rect">
            <a:avLst/>
          </a:prstGeom>
        </p:spPr>
      </p:pic>
      <p:pic>
        <p:nvPicPr>
          <p:cNvPr id="21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02">
            <a:alphaModFix amt="100000"/>
          </a:blip>
          <a:stretch/>
        </p:blipFill>
        <p:spPr>
          <a:xfrm>
            <a:off x="14050861" y="2276922"/>
            <a:ext cx="3240286" cy="2836515"/>
          </a:xfrm>
          <a:prstGeom prst="rect">
            <a:avLst/>
          </a:prstGeom>
        </p:spPr>
      </p:pic>
      <p:sp>
        <p:nvSpPr>
          <p:cNvPr id="2160" name="Label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80439" y="3356705"/>
            <a:ext cx="301466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➕ INSERT sur PRIMARY ➡️ 👀 READ sur SECONDARY</a:t>
            </a:r>
          </a:p>
        </p:txBody>
      </p:sp>
      <p:pic>
        <p:nvPicPr>
          <p:cNvPr id="21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04">
            <a:alphaModFix amt="100000"/>
          </a:blip>
          <a:stretch/>
        </p:blipFill>
        <p:spPr>
          <a:xfrm>
            <a:off x="6438900" y="5107186"/>
            <a:ext cx="3529906" cy="2108745"/>
          </a:xfrm>
          <a:prstGeom prst="rect">
            <a:avLst/>
          </a:prstGeom>
        </p:spPr>
      </p:pic>
      <p:pic>
        <p:nvPicPr>
          <p:cNvPr id="21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06">
            <a:alphaModFix amt="100000"/>
          </a:blip>
          <a:stretch/>
        </p:blipFill>
        <p:spPr>
          <a:xfrm>
            <a:off x="6446490" y="5114776"/>
            <a:ext cx="3516511" cy="2093565"/>
          </a:xfrm>
          <a:prstGeom prst="rect">
            <a:avLst/>
          </a:prstGeom>
        </p:spPr>
      </p:pic>
      <p:sp>
        <p:nvSpPr>
          <p:cNvPr id="2166" name="Label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76060" y="5823966"/>
            <a:ext cx="32908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✅ 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Test 2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 : lecture bloquée sur SECONDARY sans autorisation</a:t>
            </a:r>
          </a:p>
        </p:txBody>
      </p:sp>
      <p:pic>
        <p:nvPicPr>
          <p:cNvPr id="21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08">
            <a:alphaModFix amt="100000"/>
          </a:blip>
          <a:stretch/>
        </p:blipFill>
        <p:spPr>
          <a:xfrm>
            <a:off x="9972675" y="5107186"/>
            <a:ext cx="4072831" cy="2108745"/>
          </a:xfrm>
          <a:prstGeom prst="rect">
            <a:avLst/>
          </a:prstGeom>
        </p:spPr>
      </p:pic>
      <p:pic>
        <p:nvPicPr>
          <p:cNvPr id="21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10">
            <a:alphaModFix amt="100000"/>
          </a:blip>
          <a:stretch/>
        </p:blipFill>
        <p:spPr>
          <a:xfrm>
            <a:off x="9980266" y="5114776"/>
            <a:ext cx="4059436" cy="2093565"/>
          </a:xfrm>
          <a:prstGeom prst="rect">
            <a:avLst/>
          </a:prstGeom>
        </p:spPr>
      </p:pic>
      <p:sp>
        <p:nvSpPr>
          <p:cNvPr id="2172" name="Label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09930" y="5823966"/>
            <a:ext cx="38338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Que les nœuds secondaires ne sont 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pas lisibles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 sans permission explicite</a:t>
            </a:r>
          </a:p>
        </p:txBody>
      </p:sp>
      <p:pic>
        <p:nvPicPr>
          <p:cNvPr id="21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12">
            <a:alphaModFix amt="100000"/>
          </a:blip>
          <a:stretch/>
        </p:blipFill>
        <p:spPr>
          <a:xfrm>
            <a:off x="14043269" y="5107186"/>
            <a:ext cx="3253681" cy="2108745"/>
          </a:xfrm>
          <a:prstGeom prst="rect">
            <a:avLst/>
          </a:prstGeom>
        </p:spPr>
      </p:pic>
      <p:pic>
        <p:nvPicPr>
          <p:cNvPr id="21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14">
            <a:alphaModFix amt="100000"/>
          </a:blip>
          <a:stretch/>
        </p:blipFill>
        <p:spPr>
          <a:xfrm>
            <a:off x="14050861" y="5114776"/>
            <a:ext cx="3240286" cy="2093565"/>
          </a:xfrm>
          <a:prstGeom prst="rect">
            <a:avLst/>
          </a:prstGeom>
        </p:spPr>
      </p:pic>
      <p:sp>
        <p:nvSpPr>
          <p:cNvPr id="2178" name="Label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80439" y="5989701"/>
            <a:ext cx="3014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🛑 sécurité par défaut</a:t>
            </a:r>
          </a:p>
        </p:txBody>
      </p:sp>
      <p:pic>
        <p:nvPicPr>
          <p:cNvPr id="21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16">
            <a:alphaModFix amt="100000"/>
          </a:blip>
          <a:stretch/>
        </p:blipFill>
        <p:spPr>
          <a:xfrm>
            <a:off x="6438900" y="7203578"/>
            <a:ext cx="3529906" cy="2108745"/>
          </a:xfrm>
          <a:prstGeom prst="rect">
            <a:avLst/>
          </a:prstGeom>
        </p:spPr>
      </p:pic>
      <p:pic>
        <p:nvPicPr>
          <p:cNvPr id="21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18">
            <a:alphaModFix amt="100000"/>
          </a:blip>
          <a:stretch/>
        </p:blipFill>
        <p:spPr>
          <a:xfrm>
            <a:off x="6446490" y="7211169"/>
            <a:ext cx="3516511" cy="2093565"/>
          </a:xfrm>
          <a:prstGeom prst="rect">
            <a:avLst/>
          </a:prstGeom>
        </p:spPr>
      </p:pic>
      <p:sp>
        <p:nvSpPr>
          <p:cNvPr id="2184" name="Label-3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76060" y="7920418"/>
            <a:ext cx="329088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✅ 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Test 3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 : simulation de panne et vote de l’arbiter</a:t>
            </a:r>
          </a:p>
        </p:txBody>
      </p:sp>
      <p:pic>
        <p:nvPicPr>
          <p:cNvPr id="21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20">
            <a:alphaModFix amt="100000"/>
          </a:blip>
          <a:stretch/>
        </p:blipFill>
        <p:spPr>
          <a:xfrm>
            <a:off x="9972675" y="7203578"/>
            <a:ext cx="4072831" cy="2108745"/>
          </a:xfrm>
          <a:prstGeom prst="rect">
            <a:avLst/>
          </a:prstGeom>
        </p:spPr>
      </p:pic>
      <p:pic>
        <p:nvPicPr>
          <p:cNvPr id="21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22">
            <a:alphaModFix amt="100000"/>
          </a:blip>
          <a:stretch/>
        </p:blipFill>
        <p:spPr>
          <a:xfrm>
            <a:off x="9980266" y="7211169"/>
            <a:ext cx="4059436" cy="2093565"/>
          </a:xfrm>
          <a:prstGeom prst="rect">
            <a:avLst/>
          </a:prstGeom>
        </p:spPr>
      </p:pic>
      <p:sp>
        <p:nvSpPr>
          <p:cNvPr id="2190" name="Label-3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09930" y="7920418"/>
            <a:ext cx="383381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Que l’arbiter joue son rôle pour élire un nouveau PRIMARY</a:t>
            </a:r>
          </a:p>
        </p:txBody>
      </p:sp>
      <p:pic>
        <p:nvPicPr>
          <p:cNvPr id="21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24">
            <a:alphaModFix amt="100000"/>
          </a:blip>
          <a:stretch/>
        </p:blipFill>
        <p:spPr>
          <a:xfrm>
            <a:off x="14043269" y="7203578"/>
            <a:ext cx="3253681" cy="2108745"/>
          </a:xfrm>
          <a:prstGeom prst="rect">
            <a:avLst/>
          </a:prstGeom>
        </p:spPr>
      </p:pic>
      <p:pic>
        <p:nvPicPr>
          <p:cNvPr id="21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26">
            <a:alphaModFix amt="100000"/>
          </a:blip>
          <a:stretch/>
        </p:blipFill>
        <p:spPr>
          <a:xfrm>
            <a:off x="14050861" y="7211169"/>
            <a:ext cx="3240286" cy="2093565"/>
          </a:xfrm>
          <a:prstGeom prst="rect">
            <a:avLst/>
          </a:prstGeom>
        </p:spPr>
      </p:pic>
      <p:sp>
        <p:nvSpPr>
          <p:cNvPr id="2196" name="Label-3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80439" y="8086154"/>
            <a:ext cx="3014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⚙️ failover + quorum</a:t>
            </a:r>
          </a:p>
        </p:txBody>
      </p:sp>
      <p:sp>
        <p:nvSpPr>
          <p:cNvPr id="219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2743200"/>
            <a:ext cx="3614738" cy="3638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200" b="1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Pistes tests</a:t>
            </a:r>
            <a:r>
              <a:rPr lang="en-US" sz="4200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 de réplication et de haute disponibilité</a:t>
            </a:r>
          </a:p>
        </p:txBody>
      </p:sp>
      <p:sp>
        <p:nvSpPr>
          <p:cNvPr id="220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6477000"/>
            <a:ext cx="3614738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Vérifier réplication, contrôle d'accès en lecture et comportement d'arbiter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8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3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05" name="15f6669c-b845-404f-9890-dfe2d90f09f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432">
            <a:alphaModFix amt="100000"/>
          </a:blip>
          <a:stretch/>
        </p:blipFill>
        <p:spPr>
          <a:xfrm>
            <a:off x="762000" y="2628900"/>
            <a:ext cx="10325100" cy="6743700"/>
          </a:xfrm>
          <a:prstGeom prst="rect">
            <a:avLst/>
          </a:prstGeom>
        </p:spPr>
      </p:pic>
      <p:pic>
        <p:nvPicPr>
          <p:cNvPr id="22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34">
            <a:alphaModFix amt="100000"/>
          </a:blip>
          <a:stretch/>
        </p:blipFill>
        <p:spPr>
          <a:xfrm>
            <a:off x="11582400" y="3876675"/>
            <a:ext cx="1853506" cy="4251870"/>
          </a:xfrm>
          <a:prstGeom prst="rect">
            <a:avLst/>
          </a:prstGeom>
        </p:spPr>
      </p:pic>
      <p:pic>
        <p:nvPicPr>
          <p:cNvPr id="22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36">
            <a:alphaModFix amt="100000"/>
          </a:blip>
          <a:stretch/>
        </p:blipFill>
        <p:spPr>
          <a:xfrm>
            <a:off x="11985403" y="4276725"/>
            <a:ext cx="1047750" cy="1047750"/>
          </a:xfrm>
          <a:prstGeom prst="rect">
            <a:avLst/>
          </a:prstGeom>
        </p:spPr>
      </p:pic>
      <p:pic>
        <p:nvPicPr>
          <p:cNvPr id="2211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39">
            <a:alphaModFix amt="100000"/>
            <a:extLst>
              <a:ext uri="{64DC5B66-5883-4535-9CF5-982EED377373}">
                <asvg:svgBlip xmlns:r="http://schemas.openxmlformats.org/officeDocument/2006/relationships" xmlns:asvg="http://schemas.microsoft.com/office/drawing/2016/SVG/main" r:embed="rId143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248293" y="4539615"/>
            <a:ext cx="525780" cy="525780"/>
          </a:xfrm>
          <a:prstGeom prst="rect">
            <a:avLst/>
          </a:prstGeom>
        </p:spPr>
      </p:pic>
      <p:sp>
        <p:nvSpPr>
          <p:cNvPr id="221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87295" y="5728335"/>
            <a:ext cx="1281112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Nodes definition ✅</a:t>
            </a:r>
          </a:p>
        </p:txBody>
      </p:sp>
      <p:pic>
        <p:nvPicPr>
          <p:cNvPr id="22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41">
            <a:alphaModFix amt="100000"/>
          </a:blip>
          <a:stretch/>
        </p:blipFill>
        <p:spPr>
          <a:xfrm>
            <a:off x="13576249" y="3876675"/>
            <a:ext cx="1853506" cy="4261395"/>
          </a:xfrm>
          <a:prstGeom prst="rect">
            <a:avLst/>
          </a:prstGeom>
        </p:spPr>
      </p:pic>
      <p:pic>
        <p:nvPicPr>
          <p:cNvPr id="22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43">
            <a:alphaModFix amt="100000"/>
          </a:blip>
          <a:stretch/>
        </p:blipFill>
        <p:spPr>
          <a:xfrm>
            <a:off x="13979271" y="4276725"/>
            <a:ext cx="1047750" cy="1047750"/>
          </a:xfrm>
          <a:prstGeom prst="rect">
            <a:avLst/>
          </a:prstGeom>
        </p:spPr>
      </p:pic>
      <p:pic>
        <p:nvPicPr>
          <p:cNvPr id="2219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46">
            <a:alphaModFix amt="100000"/>
            <a:extLst>
              <a:ext uri="{1952CBD6-9036-47BB-8586-D756DA34FD68}">
                <asvg:svgBlip xmlns:r="http://schemas.openxmlformats.org/officeDocument/2006/relationships" xmlns:asvg="http://schemas.microsoft.com/office/drawing/2016/SVG/main" r:embed="rId144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4242161" y="4539615"/>
            <a:ext cx="525780" cy="525780"/>
          </a:xfrm>
          <a:prstGeom prst="rect">
            <a:avLst/>
          </a:prstGeom>
        </p:spPr>
      </p:pic>
      <p:sp>
        <p:nvSpPr>
          <p:cNvPr id="2221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81164" y="5728335"/>
            <a:ext cx="1281112" cy="2009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Create data folders if needed ✅</a:t>
            </a:r>
          </a:p>
        </p:txBody>
      </p:sp>
      <p:pic>
        <p:nvPicPr>
          <p:cNvPr id="22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48">
            <a:alphaModFix amt="100000"/>
          </a:blip>
          <a:stretch/>
        </p:blipFill>
        <p:spPr>
          <a:xfrm>
            <a:off x="15570136" y="3876675"/>
            <a:ext cx="1853506" cy="4251870"/>
          </a:xfrm>
          <a:prstGeom prst="rect">
            <a:avLst/>
          </a:prstGeom>
        </p:spPr>
      </p:pic>
      <p:pic>
        <p:nvPicPr>
          <p:cNvPr id="22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50">
            <a:alphaModFix amt="100000"/>
          </a:blip>
          <a:stretch/>
        </p:blipFill>
        <p:spPr>
          <a:xfrm>
            <a:off x="15973044" y="4276725"/>
            <a:ext cx="1047750" cy="1047750"/>
          </a:xfrm>
          <a:prstGeom prst="rect">
            <a:avLst/>
          </a:prstGeom>
        </p:spPr>
      </p:pic>
      <p:pic>
        <p:nvPicPr>
          <p:cNvPr id="2227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53">
            <a:alphaModFix amt="100000"/>
            <a:extLst>
              <a:ext uri="{E0D0BD34-31FD-4F89-BDC9-B9E7F65392D8}">
                <asvg:svgBlip xmlns:r="http://schemas.openxmlformats.org/officeDocument/2006/relationships" xmlns:asvg="http://schemas.microsoft.com/office/drawing/2016/SVG/main" r:embed="rId1452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6235934" y="4539615"/>
            <a:ext cx="525780" cy="525780"/>
          </a:xfrm>
          <a:prstGeom prst="rect">
            <a:avLst/>
          </a:prstGeom>
        </p:spPr>
      </p:pic>
      <p:sp>
        <p:nvSpPr>
          <p:cNvPr id="222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874936" y="5728335"/>
            <a:ext cx="1281112" cy="1609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Start each mongod</a:t>
            </a:r>
            <a:r>
              <a:rPr lang="en-US" sz="2100" spc="-38" dirty="0">
                <a:solidFill>
                  <a:srgbClr val="000000"/>
                </a:solidFill>
                <a:latin typeface="Poppins SemiBold" panose="00000700000000000000" pitchFamily="2" charset="0"/>
              </a:rPr>
              <a:t> ✅</a:t>
            </a:r>
          </a:p>
        </p:txBody>
      </p:sp>
      <p:sp>
        <p:nvSpPr>
          <p:cNvPr id="223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Test 1a)</a:t>
            </a:r>
          </a:p>
        </p:txBody>
      </p:sp>
      <p:pic>
        <p:nvPicPr>
          <p:cNvPr id="22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55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22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57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22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59">
            <a:alphaModFix amt="100000"/>
          </a:blip>
          <a:stretch/>
        </p:blipFill>
        <p:spPr>
          <a:xfrm>
            <a:off x="762572" y="8763476"/>
            <a:ext cx="1524000" cy="762000"/>
          </a:xfrm>
          <a:prstGeom prst="rect">
            <a:avLst/>
          </a:prstGeom>
        </p:spPr>
      </p:pic>
      <p:sp>
        <p:nvSpPr>
          <p:cNvPr id="223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Le sript shell :  test-replication-manuel.ps1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9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6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44" name="e06efe50-d4de-48da-9b90-52ff6dc46287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465">
            <a:alphaModFix amt="100000"/>
          </a:blip>
          <a:stretch/>
        </p:blipFill>
        <p:spPr>
          <a:xfrm>
            <a:off x="762000" y="2667000"/>
            <a:ext cx="10668000" cy="6705600"/>
          </a:xfrm>
          <a:prstGeom prst="rect">
            <a:avLst/>
          </a:prstGeom>
        </p:spPr>
      </p:pic>
      <p:pic>
        <p:nvPicPr>
          <p:cNvPr id="22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67">
            <a:alphaModFix amt="100000"/>
          </a:blip>
          <a:stretch/>
        </p:blipFill>
        <p:spPr>
          <a:xfrm>
            <a:off x="12349162" y="4076700"/>
            <a:ext cx="4596706" cy="3889920"/>
          </a:xfrm>
          <a:prstGeom prst="rect">
            <a:avLst/>
          </a:prstGeom>
        </p:spPr>
      </p:pic>
      <p:pic>
        <p:nvPicPr>
          <p:cNvPr id="22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69">
            <a:alphaModFix amt="100000"/>
          </a:blip>
          <a:stretch/>
        </p:blipFill>
        <p:spPr>
          <a:xfrm>
            <a:off x="12653962" y="4476750"/>
            <a:ext cx="2286000" cy="2286000"/>
          </a:xfrm>
          <a:prstGeom prst="rect">
            <a:avLst/>
          </a:prstGeom>
        </p:spPr>
      </p:pic>
      <p:pic>
        <p:nvPicPr>
          <p:cNvPr id="2250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72">
            <a:alphaModFix amt="100000"/>
            <a:extLst>
              <a:ext uri="{0E419A5C-0E9F-453C-ACFB-EF5F301F55B9}">
                <asvg:svgBlip xmlns:r="http://schemas.openxmlformats.org/officeDocument/2006/relationships" xmlns:asvg="http://schemas.microsoft.com/office/drawing/2016/SVG/main" r:embed="rId147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3225462" y="5048250"/>
            <a:ext cx="1143000" cy="1143000"/>
          </a:xfrm>
          <a:prstGeom prst="rect">
            <a:avLst/>
          </a:prstGeom>
        </p:spPr>
      </p:pic>
      <p:sp>
        <p:nvSpPr>
          <p:cNvPr id="2252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53962" y="7162800"/>
            <a:ext cx="40243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Lecture depuis SECONDARY	✅</a:t>
            </a:r>
          </a:p>
        </p:txBody>
      </p:sp>
      <p:sp>
        <p:nvSpPr>
          <p:cNvPr id="225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Test a) </a:t>
            </a:r>
          </a:p>
        </p:txBody>
      </p:sp>
      <p:pic>
        <p:nvPicPr>
          <p:cNvPr id="22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74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22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76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22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78">
            <a:alphaModFix amt="100000"/>
          </a:blip>
          <a:stretch/>
        </p:blipFill>
        <p:spPr>
          <a:xfrm>
            <a:off x="762572" y="8763476"/>
            <a:ext cx="1524000" cy="762000"/>
          </a:xfrm>
          <a:prstGeom prst="rect">
            <a:avLst/>
          </a:prstGeom>
        </p:spPr>
      </p:pic>
      <p:sp>
        <p:nvSpPr>
          <p:cNvPr id="226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Vérification rapide des opérations de réplication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0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8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267" name="a78e1791-0a90-4b29-a664-ed67227c90b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484">
            <a:alphaModFix amt="100000"/>
          </a:blip>
          <a:stretch/>
        </p:blipFill>
        <p:spPr>
          <a:xfrm>
            <a:off x="762000" y="2628900"/>
            <a:ext cx="8229600" cy="6743700"/>
          </a:xfrm>
          <a:prstGeom prst="rect">
            <a:avLst/>
          </a:prstGeom>
        </p:spPr>
      </p:pic>
      <p:pic>
        <p:nvPicPr>
          <p:cNvPr id="22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86">
            <a:alphaModFix amt="100000"/>
          </a:blip>
          <a:stretch/>
        </p:blipFill>
        <p:spPr>
          <a:xfrm>
            <a:off x="9486900" y="3957638"/>
            <a:ext cx="2501206" cy="4089945"/>
          </a:xfrm>
          <a:prstGeom prst="rect">
            <a:avLst/>
          </a:prstGeom>
        </p:spPr>
      </p:pic>
      <p:pic>
        <p:nvPicPr>
          <p:cNvPr id="22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88">
            <a:alphaModFix amt="100000"/>
          </a:blip>
          <a:stretch/>
        </p:blipFill>
        <p:spPr>
          <a:xfrm>
            <a:off x="9825038" y="4357688"/>
            <a:ext cx="1828800" cy="1828800"/>
          </a:xfrm>
          <a:prstGeom prst="rect">
            <a:avLst/>
          </a:prstGeom>
        </p:spPr>
      </p:pic>
      <p:pic>
        <p:nvPicPr>
          <p:cNvPr id="2273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91">
            <a:alphaModFix amt="100000"/>
            <a:extLst>
              <a:ext uri="{A4B8506E-71AC-463F-9046-16A4E3026597}">
                <asvg:svgBlip xmlns:r="http://schemas.openxmlformats.org/officeDocument/2006/relationships" xmlns:asvg="http://schemas.microsoft.com/office/drawing/2016/SVG/main" r:embed="rId149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0282238" y="4814888"/>
            <a:ext cx="914400" cy="914400"/>
          </a:xfrm>
          <a:prstGeom prst="rect">
            <a:avLst/>
          </a:prstGeom>
        </p:spPr>
      </p:pic>
      <p:sp>
        <p:nvSpPr>
          <p:cNvPr id="227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91700" y="6586538"/>
            <a:ext cx="1928812" cy="714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</a:pPr>
            <a:r>
              <a:rPr lang="en-US" sz="1800" spc="-3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Panne simulée du PRIMARY ✅</a:t>
            </a:r>
          </a:p>
        </p:txBody>
      </p:sp>
      <p:pic>
        <p:nvPicPr>
          <p:cNvPr id="22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93">
            <a:alphaModFix amt="100000"/>
          </a:blip>
          <a:stretch/>
        </p:blipFill>
        <p:spPr>
          <a:xfrm>
            <a:off x="12179236" y="3957638"/>
            <a:ext cx="2501206" cy="4089945"/>
          </a:xfrm>
          <a:prstGeom prst="rect">
            <a:avLst/>
          </a:prstGeom>
        </p:spPr>
      </p:pic>
      <p:pic>
        <p:nvPicPr>
          <p:cNvPr id="22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95">
            <a:alphaModFix amt="100000"/>
          </a:blip>
          <a:stretch/>
        </p:blipFill>
        <p:spPr>
          <a:xfrm>
            <a:off x="12517374" y="4357688"/>
            <a:ext cx="1828800" cy="1828800"/>
          </a:xfrm>
          <a:prstGeom prst="rect">
            <a:avLst/>
          </a:prstGeom>
        </p:spPr>
      </p:pic>
      <p:pic>
        <p:nvPicPr>
          <p:cNvPr id="2281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98">
            <a:alphaModFix amt="100000"/>
            <a:extLst>
              <a:ext uri="{F3FF173F-1950-4D92-AA79-C2B60110A605}">
                <asvg:svgBlip xmlns:r="http://schemas.openxmlformats.org/officeDocument/2006/relationships" xmlns:asvg="http://schemas.microsoft.com/office/drawing/2016/SVG/main" r:embed="rId1497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974574" y="4814888"/>
            <a:ext cx="914400" cy="914400"/>
          </a:xfrm>
          <a:prstGeom prst="rect">
            <a:avLst/>
          </a:prstGeom>
        </p:spPr>
      </p:pic>
      <p:sp>
        <p:nvSpPr>
          <p:cNvPr id="228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484036" y="6586538"/>
            <a:ext cx="1928812" cy="714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</a:pPr>
            <a:r>
              <a:rPr lang="en-US" sz="1800" spc="-3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Election automatique✅</a:t>
            </a:r>
          </a:p>
        </p:txBody>
      </p:sp>
      <p:pic>
        <p:nvPicPr>
          <p:cNvPr id="22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00">
            <a:alphaModFix amt="100000"/>
          </a:blip>
          <a:stretch/>
        </p:blipFill>
        <p:spPr>
          <a:xfrm>
            <a:off x="14871668" y="3957638"/>
            <a:ext cx="2501206" cy="4089945"/>
          </a:xfrm>
          <a:prstGeom prst="rect">
            <a:avLst/>
          </a:prstGeom>
        </p:spPr>
      </p:pic>
      <p:pic>
        <p:nvPicPr>
          <p:cNvPr id="22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02">
            <a:alphaModFix amt="100000"/>
          </a:blip>
          <a:stretch/>
        </p:blipFill>
        <p:spPr>
          <a:xfrm>
            <a:off x="15209806" y="4357688"/>
            <a:ext cx="1828800" cy="1828800"/>
          </a:xfrm>
          <a:prstGeom prst="rect">
            <a:avLst/>
          </a:prstGeom>
        </p:spPr>
      </p:pic>
      <p:pic>
        <p:nvPicPr>
          <p:cNvPr id="2289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05">
            <a:alphaModFix amt="100000"/>
            <a:extLst>
              <a:ext uri="{088EA94D-36CE-4681-9E83-75C5328814B2}">
                <asvg:svgBlip xmlns:r="http://schemas.openxmlformats.org/officeDocument/2006/relationships" xmlns:asvg="http://schemas.microsoft.com/office/drawing/2016/SVG/main" r:embed="rId150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5667006" y="4814888"/>
            <a:ext cx="914400" cy="914400"/>
          </a:xfrm>
          <a:prstGeom prst="rect">
            <a:avLst/>
          </a:prstGeom>
        </p:spPr>
      </p:pic>
      <p:sp>
        <p:nvSpPr>
          <p:cNvPr id="229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176468" y="6586538"/>
            <a:ext cx="1928812" cy="10668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</a:pPr>
            <a:r>
              <a:rPr lang="en-US" sz="1800" spc="-3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SECONDARY devient PRIMARY ✅</a:t>
            </a:r>
          </a:p>
        </p:txBody>
      </p:sp>
      <p:sp>
        <p:nvSpPr>
          <p:cNvPr id="229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Test b) </a:t>
            </a:r>
          </a:p>
        </p:txBody>
      </p:sp>
      <p:pic>
        <p:nvPicPr>
          <p:cNvPr id="22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07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22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09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22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11">
            <a:alphaModFix amt="100000"/>
          </a:blip>
          <a:stretch/>
        </p:blipFill>
        <p:spPr>
          <a:xfrm>
            <a:off x="762572" y="8763476"/>
            <a:ext cx="1524000" cy="762000"/>
          </a:xfrm>
          <a:prstGeom prst="rect">
            <a:avLst/>
          </a:prstGeom>
        </p:spPr>
      </p:pic>
      <p:sp>
        <p:nvSpPr>
          <p:cNvPr id="230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Valider qu’en cas de panne du PRIMARY (Paris, port 27017) Le SECONDARY (Lyon, 27018) devient automatiquement PRIMARY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1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1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306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17">
            <a:alphaModFix amt="100000"/>
          </a:blip>
          <a:stretch/>
        </p:blipFill>
        <p:spPr>
          <a:xfrm>
            <a:off x="6610350" y="0"/>
            <a:ext cx="476250" cy="6789390"/>
          </a:xfrm>
          <a:prstGeom prst="rect">
            <a:avLst/>
          </a:prstGeom>
        </p:spPr>
      </p:pic>
      <p:pic>
        <p:nvPicPr>
          <p:cNvPr id="230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19">
            <a:alphaModFix amt="100000"/>
          </a:blip>
          <a:stretch/>
        </p:blipFill>
        <p:spPr>
          <a:xfrm>
            <a:off x="6610350" y="7830502"/>
            <a:ext cx="476250" cy="2456408"/>
          </a:xfrm>
          <a:prstGeom prst="rect">
            <a:avLst/>
          </a:prstGeom>
        </p:spPr>
      </p:pic>
      <p:pic>
        <p:nvPicPr>
          <p:cNvPr id="23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21">
            <a:alphaModFix amt="100000"/>
          </a:blip>
          <a:stretch/>
        </p:blipFill>
        <p:spPr>
          <a:xfrm>
            <a:off x="8077200" y="1181100"/>
            <a:ext cx="2872681" cy="7928520"/>
          </a:xfrm>
          <a:prstGeom prst="rect">
            <a:avLst/>
          </a:prstGeom>
        </p:spPr>
      </p:pic>
      <p:pic>
        <p:nvPicPr>
          <p:cNvPr id="2312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24">
            <a:alphaModFix amt="100000"/>
            <a:extLst>
              <a:ext uri="{75F1E103-6061-46A2-91C5-3403A0D148AB}">
                <asvg:svgBlip xmlns:r="http://schemas.openxmlformats.org/officeDocument/2006/relationships" xmlns:asvg="http://schemas.microsoft.com/office/drawing/2016/SVG/main" r:embed="rId1523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192387" y="1581150"/>
            <a:ext cx="640080" cy="640080"/>
          </a:xfrm>
          <a:prstGeom prst="rect">
            <a:avLst/>
          </a:prstGeom>
        </p:spPr>
      </p:pic>
      <p:sp>
        <p:nvSpPr>
          <p:cNvPr id="2314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82095" y="2621280"/>
            <a:ext cx="229076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But général</a:t>
            </a:r>
          </a:p>
        </p:txBody>
      </p:sp>
      <p:sp>
        <p:nvSpPr>
          <p:cNvPr id="231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382095" y="3135630"/>
            <a:ext cx="2290762" cy="18288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Distribuer intelligemment les </a:t>
            </a:r>
            <a:r>
              <a:rPr lang="en-US" sz="1650" b="1" spc="-8" dirty="0">
                <a:solidFill>
                  <a:srgbClr val="262D36"/>
                </a:solidFill>
                <a:latin typeface="Roboto" panose="00000700000000000000" pitchFamily="2" charset="0"/>
              </a:rPr>
              <a:t>données et la charge de travail</a:t>
            </a:r>
            <a:r>
              <a:rPr lang="en-US" sz="1650" spc="-8" dirty="0">
                <a:solidFill>
                  <a:srgbClr val="262D36"/>
                </a:solidFill>
                <a:latin typeface="Roboto" panose="00000700000000000000" pitchFamily="2" charset="0"/>
              </a:rPr>
              <a:t> (écritures + lectures) entre plusieurs serveurs (shards)</a:t>
            </a:r>
          </a:p>
        </p:txBody>
      </p:sp>
      <p:pic>
        <p:nvPicPr>
          <p:cNvPr id="23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26">
            <a:alphaModFix amt="100000"/>
          </a:blip>
          <a:stretch/>
        </p:blipFill>
        <p:spPr>
          <a:xfrm>
            <a:off x="7867745" y="971550"/>
            <a:ext cx="457200" cy="457200"/>
          </a:xfrm>
          <a:prstGeom prst="rect">
            <a:avLst/>
          </a:prstGeom>
        </p:spPr>
      </p:pic>
      <p:sp>
        <p:nvSpPr>
          <p:cNvPr id="2320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992618" y="1045845"/>
            <a:ext cx="24288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01</a:t>
            </a:r>
          </a:p>
        </p:txBody>
      </p:sp>
      <p:pic>
        <p:nvPicPr>
          <p:cNvPr id="23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28">
            <a:alphaModFix amt="100000"/>
          </a:blip>
          <a:stretch/>
        </p:blipFill>
        <p:spPr>
          <a:xfrm>
            <a:off x="11290364" y="1181100"/>
            <a:ext cx="2872681" cy="7928520"/>
          </a:xfrm>
          <a:prstGeom prst="rect">
            <a:avLst/>
          </a:prstGeom>
        </p:spPr>
      </p:pic>
      <p:pic>
        <p:nvPicPr>
          <p:cNvPr id="2324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31">
            <a:alphaModFix amt="100000"/>
            <a:extLst>
              <a:ext uri="{0FF8F799-8A1D-4C34-B1C3-BDE5E43820D4}">
                <asvg:svgBlip xmlns:r="http://schemas.openxmlformats.org/officeDocument/2006/relationships" xmlns:asvg="http://schemas.microsoft.com/office/drawing/2016/SVG/main" r:embed="rId153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405360" y="1581150"/>
            <a:ext cx="640080" cy="640080"/>
          </a:xfrm>
          <a:prstGeom prst="rect">
            <a:avLst/>
          </a:prstGeom>
        </p:spPr>
      </p:pic>
      <p:sp>
        <p:nvSpPr>
          <p:cNvPr id="232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595164" y="2621280"/>
            <a:ext cx="229076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Objectifs clés</a:t>
            </a:r>
          </a:p>
        </p:txBody>
      </p:sp>
      <p:sp>
        <p:nvSpPr>
          <p:cNvPr id="232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47087" y="3135630"/>
            <a:ext cx="2138839" cy="1228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🔁 </a:t>
            </a:r>
            <a:r>
              <a:rPr lang="en-US" sz="1650" b="1" spc="-8" dirty="0">
                <a:solidFill>
                  <a:srgbClr val="262D36"/>
                </a:solidFill>
                <a:latin typeface="Roboto" panose="00000700000000000000" pitchFamily="2" charset="0"/>
              </a:rPr>
              <a:t>Scalabilité horizontale</a:t>
            </a:r>
            <a:r>
              <a:rPr lang="en-US" sz="1650" spc="-8" dirty="0">
                <a:solidFill>
                  <a:srgbClr val="262D36"/>
                </a:solidFill>
                <a:latin typeface="Roboto" panose="00000700000000000000" pitchFamily="2" charset="0"/>
              </a:rPr>
              <a:t> : Répartir la donnée entre plusieurs machines</a:t>
            </a:r>
          </a:p>
        </p:txBody>
      </p:sp>
      <p:pic>
        <p:nvPicPr>
          <p:cNvPr id="233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33">
            <a:alphaModFix amt="100000"/>
          </a:blip>
          <a:stretch/>
        </p:blipFill>
        <p:spPr>
          <a:xfrm>
            <a:off x="11595164" y="3257169"/>
            <a:ext cx="60722" cy="60722"/>
          </a:xfrm>
          <a:prstGeom prst="rect">
            <a:avLst/>
          </a:prstGeom>
        </p:spPr>
      </p:pic>
      <p:sp>
        <p:nvSpPr>
          <p:cNvPr id="233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47087" y="4351020"/>
            <a:ext cx="2138839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⚡ </a:t>
            </a:r>
            <a:r>
              <a:rPr lang="en-US" sz="1650" b="1" spc="-8" dirty="0">
                <a:solidFill>
                  <a:srgbClr val="262D36"/>
                </a:solidFill>
                <a:latin typeface="Roboto" panose="00000700000000000000" pitchFamily="2" charset="0"/>
              </a:rPr>
              <a:t>Performances</a:t>
            </a:r>
            <a:r>
              <a:rPr lang="en-US" sz="1650" spc="-8" dirty="0">
                <a:solidFill>
                  <a:srgbClr val="262D36"/>
                </a:solidFill>
                <a:latin typeface="Roboto" panose="00000700000000000000" pitchFamily="2" charset="0"/>
              </a:rPr>
              <a:t> : Réduire le nombre de documents lus/analysés par serveur</a:t>
            </a:r>
          </a:p>
        </p:txBody>
      </p:sp>
      <p:pic>
        <p:nvPicPr>
          <p:cNvPr id="233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35">
            <a:alphaModFix amt="100000"/>
          </a:blip>
          <a:stretch/>
        </p:blipFill>
        <p:spPr>
          <a:xfrm>
            <a:off x="11595164" y="4472559"/>
            <a:ext cx="60722" cy="60722"/>
          </a:xfrm>
          <a:prstGeom prst="rect">
            <a:avLst/>
          </a:prstGeom>
        </p:spPr>
      </p:pic>
      <p:sp>
        <p:nvSpPr>
          <p:cNvPr id="233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47087" y="5870258"/>
            <a:ext cx="2138839" cy="923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📦 </a:t>
            </a:r>
            <a:r>
              <a:rPr lang="en-US" sz="1650" b="1" spc="-8" dirty="0">
                <a:solidFill>
                  <a:srgbClr val="262D36"/>
                </a:solidFill>
                <a:latin typeface="Roboto" panose="00000700000000000000" pitchFamily="2" charset="0"/>
              </a:rPr>
              <a:t>Haute disponibilité</a:t>
            </a:r>
            <a:r>
              <a:rPr lang="en-US" sz="1650" spc="-8" dirty="0">
                <a:solidFill>
                  <a:srgbClr val="262D36"/>
                </a:solidFill>
                <a:latin typeface="Roboto" panose="00000700000000000000" pitchFamily="2" charset="0"/>
              </a:rPr>
              <a:t> : Chaque shard est un Replica Set</a:t>
            </a:r>
          </a:p>
        </p:txBody>
      </p:sp>
      <p:pic>
        <p:nvPicPr>
          <p:cNvPr id="233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37">
            <a:alphaModFix amt="100000"/>
          </a:blip>
          <a:stretch/>
        </p:blipFill>
        <p:spPr>
          <a:xfrm>
            <a:off x="11595164" y="5991796"/>
            <a:ext cx="60722" cy="60722"/>
          </a:xfrm>
          <a:prstGeom prst="rect">
            <a:avLst/>
          </a:prstGeom>
        </p:spPr>
      </p:pic>
      <p:sp>
        <p:nvSpPr>
          <p:cNvPr id="234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47087" y="6781800"/>
            <a:ext cx="2138839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🔐 </a:t>
            </a:r>
            <a:r>
              <a:rPr lang="en-US" sz="1650" b="1" spc="-8" dirty="0">
                <a:solidFill>
                  <a:srgbClr val="262D36"/>
                </a:solidFill>
                <a:latin typeface="Roboto" panose="00000700000000000000" pitchFamily="2" charset="0"/>
              </a:rPr>
              <a:t>Isolation logique</a:t>
            </a:r>
            <a:r>
              <a:rPr lang="en-US" sz="1650" spc="-8" dirty="0">
                <a:solidFill>
                  <a:srgbClr val="262D36"/>
                </a:solidFill>
                <a:latin typeface="Roboto" panose="00000700000000000000" pitchFamily="2" charset="0"/>
              </a:rPr>
              <a:t> : Permet de séparer selon des règles métiers (ex : zones, rôles, entités...)</a:t>
            </a:r>
          </a:p>
        </p:txBody>
      </p:sp>
      <p:pic>
        <p:nvPicPr>
          <p:cNvPr id="234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39">
            <a:alphaModFix amt="100000"/>
          </a:blip>
          <a:stretch/>
        </p:blipFill>
        <p:spPr>
          <a:xfrm>
            <a:off x="11595164" y="6903339"/>
            <a:ext cx="60722" cy="60722"/>
          </a:xfrm>
          <a:prstGeom prst="rect">
            <a:avLst/>
          </a:prstGeom>
        </p:spPr>
      </p:pic>
      <p:pic>
        <p:nvPicPr>
          <p:cNvPr id="23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41">
            <a:alphaModFix amt="100000"/>
          </a:blip>
          <a:stretch/>
        </p:blipFill>
        <p:spPr>
          <a:xfrm>
            <a:off x="11080814" y="971550"/>
            <a:ext cx="457200" cy="457200"/>
          </a:xfrm>
          <a:prstGeom prst="rect">
            <a:avLst/>
          </a:prstGeom>
        </p:spPr>
      </p:pic>
      <p:sp>
        <p:nvSpPr>
          <p:cNvPr id="2346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83779" y="1045845"/>
            <a:ext cx="28098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02</a:t>
            </a:r>
          </a:p>
        </p:txBody>
      </p:sp>
      <p:pic>
        <p:nvPicPr>
          <p:cNvPr id="23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43">
            <a:alphaModFix amt="100000"/>
          </a:blip>
          <a:stretch/>
        </p:blipFill>
        <p:spPr>
          <a:xfrm>
            <a:off x="14503336" y="1181100"/>
            <a:ext cx="2872681" cy="7928520"/>
          </a:xfrm>
          <a:prstGeom prst="rect">
            <a:avLst/>
          </a:prstGeom>
        </p:spPr>
      </p:pic>
      <p:pic>
        <p:nvPicPr>
          <p:cNvPr id="2350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46">
            <a:alphaModFix amt="100000"/>
            <a:extLst>
              <a:ext uri="{322A6B0A-DA88-44EA-AC22-E22880AF081B}">
                <asvg:svgBlip xmlns:r="http://schemas.openxmlformats.org/officeDocument/2006/relationships" xmlns:asvg="http://schemas.microsoft.com/office/drawing/2016/SVG/main" r:embed="rId154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5618333" y="1581150"/>
            <a:ext cx="640080" cy="640080"/>
          </a:xfrm>
          <a:prstGeom prst="rect">
            <a:avLst/>
          </a:prstGeom>
        </p:spPr>
      </p:pic>
      <p:sp>
        <p:nvSpPr>
          <p:cNvPr id="235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808136" y="2621280"/>
            <a:ext cx="229076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Contexte spécifique</a:t>
            </a:r>
          </a:p>
        </p:txBody>
      </p:sp>
      <p:sp>
        <p:nvSpPr>
          <p:cNvPr id="2354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960060" y="3535680"/>
            <a:ext cx="2138839" cy="1533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IL n'y a </a:t>
            </a:r>
            <a:r>
              <a:rPr lang="en-US" sz="1650" b="1" spc="-8" dirty="0">
                <a:solidFill>
                  <a:srgbClr val="262D36"/>
                </a:solidFill>
                <a:latin typeface="Roboto" panose="00000700000000000000" pitchFamily="2" charset="0"/>
              </a:rPr>
              <a:t>pas qu'un seul entrepôt géographique</a:t>
            </a:r>
            <a:r>
              <a:rPr lang="en-US" sz="1650" spc="-8" dirty="0">
                <a:solidFill>
                  <a:srgbClr val="262D36"/>
                </a:solidFill>
                <a:latin typeface="Roboto" panose="00000700000000000000" pitchFamily="2" charset="0"/>
              </a:rPr>
              <a:t>, mais une </a:t>
            </a:r>
            <a:r>
              <a:rPr lang="en-US" sz="1650" b="1" spc="-8" dirty="0">
                <a:solidFill>
                  <a:srgbClr val="262D36"/>
                </a:solidFill>
                <a:latin typeface="Roboto" panose="00000700000000000000" pitchFamily="2" charset="0"/>
              </a:rPr>
              <a:t>structure binodale</a:t>
            </a:r>
            <a:r>
              <a:rPr lang="en-US" sz="1650" spc="-8" dirty="0">
                <a:solidFill>
                  <a:srgbClr val="262D36"/>
                </a:solidFill>
                <a:latin typeface="Roboto" panose="00000700000000000000" pitchFamily="2" charset="0"/>
              </a:rPr>
              <a:t> :</a:t>
            </a:r>
          </a:p>
        </p:txBody>
      </p:sp>
      <p:pic>
        <p:nvPicPr>
          <p:cNvPr id="235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48">
            <a:alphaModFix amt="100000"/>
          </a:blip>
          <a:stretch/>
        </p:blipFill>
        <p:spPr>
          <a:xfrm>
            <a:off x="14808136" y="3657219"/>
            <a:ext cx="60722" cy="60722"/>
          </a:xfrm>
          <a:prstGeom prst="rect">
            <a:avLst/>
          </a:prstGeom>
        </p:spPr>
      </p:pic>
      <p:sp>
        <p:nvSpPr>
          <p:cNvPr id="235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960060" y="5054918"/>
            <a:ext cx="2138839" cy="923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📍 Paris : majorité des logements dans cette ville</a:t>
            </a:r>
          </a:p>
        </p:txBody>
      </p:sp>
      <p:pic>
        <p:nvPicPr>
          <p:cNvPr id="236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50">
            <a:alphaModFix amt="100000"/>
          </a:blip>
          <a:stretch/>
        </p:blipFill>
        <p:spPr>
          <a:xfrm>
            <a:off x="14808136" y="5176456"/>
            <a:ext cx="60722" cy="60722"/>
          </a:xfrm>
          <a:prstGeom prst="rect">
            <a:avLst/>
          </a:prstGeom>
        </p:spPr>
      </p:pic>
      <p:sp>
        <p:nvSpPr>
          <p:cNvPr id="2362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960060" y="5966460"/>
            <a:ext cx="2138839" cy="923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📍 Lyon : autre base importante, autre siège de l'association</a:t>
            </a:r>
          </a:p>
        </p:txBody>
      </p:sp>
      <p:pic>
        <p:nvPicPr>
          <p:cNvPr id="236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52">
            <a:alphaModFix amt="100000"/>
          </a:blip>
          <a:stretch/>
        </p:blipFill>
        <p:spPr>
          <a:xfrm>
            <a:off x="14808136" y="6087999"/>
            <a:ext cx="60722" cy="60722"/>
          </a:xfrm>
          <a:prstGeom prst="rect">
            <a:avLst/>
          </a:prstGeom>
        </p:spPr>
      </p:pic>
      <p:sp>
        <p:nvSpPr>
          <p:cNvPr id="2366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960060" y="6878002"/>
            <a:ext cx="2138839" cy="18288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1650" spc="-8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🧠 Objectif à moyen terme : distribuer la </a:t>
            </a:r>
            <a:r>
              <a:rPr lang="en-US" sz="1650" b="1" spc="-8" dirty="0">
                <a:solidFill>
                  <a:srgbClr val="262D36"/>
                </a:solidFill>
                <a:latin typeface="Roboto" panose="00000700000000000000" pitchFamily="2" charset="0"/>
              </a:rPr>
              <a:t>charge</a:t>
            </a:r>
            <a:r>
              <a:rPr lang="en-US" sz="1650" spc="-8" dirty="0">
                <a:solidFill>
                  <a:srgbClr val="262D36"/>
                </a:solidFill>
                <a:latin typeface="Roboto" panose="00000700000000000000" pitchFamily="2" charset="0"/>
              </a:rPr>
              <a:t>, la </a:t>
            </a:r>
            <a:r>
              <a:rPr lang="en-US" sz="1650" b="1" spc="-8" dirty="0">
                <a:solidFill>
                  <a:srgbClr val="262D36"/>
                </a:solidFill>
                <a:latin typeface="Roboto" panose="00000700000000000000" pitchFamily="2" charset="0"/>
              </a:rPr>
              <a:t>donnée</a:t>
            </a:r>
            <a:r>
              <a:rPr lang="en-US" sz="1650" spc="-8" dirty="0">
                <a:solidFill>
                  <a:srgbClr val="262D36"/>
                </a:solidFill>
                <a:latin typeface="Roboto" panose="00000700000000000000" pitchFamily="2" charset="0"/>
              </a:rPr>
              <a:t>, et garantir </a:t>
            </a:r>
            <a:r>
              <a:rPr lang="en-US" sz="1650" b="1" spc="-8" dirty="0">
                <a:solidFill>
                  <a:srgbClr val="262D36"/>
                </a:solidFill>
                <a:latin typeface="Roboto" panose="00000700000000000000" pitchFamily="2" charset="0"/>
              </a:rPr>
              <a:t>tolérance aux pannes</a:t>
            </a:r>
            <a:r>
              <a:rPr lang="en-US" sz="1650" spc="-8" dirty="0">
                <a:solidFill>
                  <a:srgbClr val="262D36"/>
                </a:solidFill>
                <a:latin typeface="Roboto" panose="00000700000000000000" pitchFamily="2" charset="0"/>
              </a:rPr>
              <a:t> + </a:t>
            </a:r>
            <a:r>
              <a:rPr lang="en-US" sz="1650" b="1" spc="-8" dirty="0">
                <a:solidFill>
                  <a:srgbClr val="262D36"/>
                </a:solidFill>
                <a:latin typeface="Roboto" panose="00000700000000000000" pitchFamily="2" charset="0"/>
              </a:rPr>
              <a:t>gestion localisée des données</a:t>
            </a:r>
          </a:p>
        </p:txBody>
      </p:sp>
      <p:pic>
        <p:nvPicPr>
          <p:cNvPr id="236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54">
            <a:alphaModFix amt="100000"/>
          </a:blip>
          <a:stretch/>
        </p:blipFill>
        <p:spPr>
          <a:xfrm>
            <a:off x="14808136" y="6999542"/>
            <a:ext cx="60722" cy="60722"/>
          </a:xfrm>
          <a:prstGeom prst="rect">
            <a:avLst/>
          </a:prstGeom>
        </p:spPr>
      </p:pic>
      <p:pic>
        <p:nvPicPr>
          <p:cNvPr id="23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56">
            <a:alphaModFix amt="100000"/>
          </a:blip>
          <a:stretch/>
        </p:blipFill>
        <p:spPr>
          <a:xfrm>
            <a:off x="14293786" y="971550"/>
            <a:ext cx="457200" cy="457200"/>
          </a:xfrm>
          <a:prstGeom prst="rect">
            <a:avLst/>
          </a:prstGeom>
        </p:spPr>
      </p:pic>
      <p:sp>
        <p:nvSpPr>
          <p:cNvPr id="2372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394275" y="1045845"/>
            <a:ext cx="290512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03</a:t>
            </a:r>
          </a:p>
        </p:txBody>
      </p:sp>
      <p:sp>
        <p:nvSpPr>
          <p:cNvPr id="237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2909316"/>
            <a:ext cx="5253038" cy="3638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Stratégie de distribution MongoDB: optimiser </a:t>
            </a:r>
            <a:r>
              <a:rPr lang="en-US" sz="4200" b="1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données</a:t>
            </a:r>
            <a:r>
              <a:rPr lang="en-US" sz="4200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 et charge</a:t>
            </a:r>
          </a:p>
        </p:txBody>
      </p:sp>
      <p:sp>
        <p:nvSpPr>
          <p:cNvPr id="237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6667500"/>
            <a:ext cx="52530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Quand et pourquoi sharder (scalabilité, performance et résilience..)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6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3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6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3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64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23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66">
            <a:alphaModFix amt="7000"/>
          </a:blip>
          <a:stretch/>
        </p:blipFill>
        <p:spPr>
          <a:xfrm>
            <a:off x="16764572" y="2600420"/>
            <a:ext cx="1524000" cy="762000"/>
          </a:xfrm>
          <a:prstGeom prst="rect">
            <a:avLst/>
          </a:prstGeom>
        </p:spPr>
      </p:pic>
      <p:pic>
        <p:nvPicPr>
          <p:cNvPr id="23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68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23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0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23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2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23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4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23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6">
            <a:alphaModFix amt="7000"/>
          </a:blip>
          <a:stretch/>
        </p:blipFill>
        <p:spPr>
          <a:xfrm>
            <a:off x="762572" y="2267236"/>
            <a:ext cx="762000" cy="762000"/>
          </a:xfrm>
          <a:prstGeom prst="rect">
            <a:avLst/>
          </a:prstGeom>
        </p:spPr>
      </p:pic>
      <p:pic>
        <p:nvPicPr>
          <p:cNvPr id="23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8">
            <a:alphaModFix amt="7000"/>
          </a:blip>
          <a:stretch/>
        </p:blipFill>
        <p:spPr>
          <a:xfrm>
            <a:off x="1523238" y="742760"/>
            <a:ext cx="762000" cy="1524000"/>
          </a:xfrm>
          <a:prstGeom prst="rect">
            <a:avLst/>
          </a:prstGeom>
        </p:spPr>
      </p:pic>
      <p:pic>
        <p:nvPicPr>
          <p:cNvPr id="23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80">
            <a:alphaModFix amt="100000"/>
          </a:blip>
          <a:stretch/>
        </p:blipFill>
        <p:spPr>
          <a:xfrm>
            <a:off x="914400" y="2628900"/>
            <a:ext cx="4006156" cy="1337220"/>
          </a:xfrm>
          <a:prstGeom prst="rect">
            <a:avLst/>
          </a:prstGeom>
        </p:spPr>
      </p:pic>
      <p:pic>
        <p:nvPicPr>
          <p:cNvPr id="24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82">
            <a:alphaModFix amt="100000"/>
          </a:blip>
          <a:stretch/>
        </p:blipFill>
        <p:spPr>
          <a:xfrm>
            <a:off x="921990" y="2636490"/>
            <a:ext cx="3992761" cy="1331565"/>
          </a:xfrm>
          <a:prstGeom prst="rect">
            <a:avLst/>
          </a:prstGeom>
        </p:spPr>
      </p:pic>
      <p:sp>
        <p:nvSpPr>
          <p:cNvPr id="2402" name="text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441543" y="3130296"/>
            <a:ext cx="9858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Shard</a:t>
            </a:r>
          </a:p>
        </p:txBody>
      </p:sp>
      <p:pic>
        <p:nvPicPr>
          <p:cNvPr id="24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84">
            <a:alphaModFix amt="100000"/>
          </a:blip>
          <a:stretch/>
        </p:blipFill>
        <p:spPr>
          <a:xfrm>
            <a:off x="4921002" y="2628900"/>
            <a:ext cx="6254056" cy="1337220"/>
          </a:xfrm>
          <a:prstGeom prst="rect">
            <a:avLst/>
          </a:prstGeom>
        </p:spPr>
      </p:pic>
      <p:pic>
        <p:nvPicPr>
          <p:cNvPr id="24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86">
            <a:alphaModFix amt="100000"/>
          </a:blip>
          <a:stretch/>
        </p:blipFill>
        <p:spPr>
          <a:xfrm>
            <a:off x="4928592" y="2636490"/>
            <a:ext cx="6240661" cy="1331565"/>
          </a:xfrm>
          <a:prstGeom prst="rect">
            <a:avLst/>
          </a:prstGeom>
        </p:spPr>
      </p:pic>
      <p:sp>
        <p:nvSpPr>
          <p:cNvPr id="2408" name="text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943344" y="3130296"/>
            <a:ext cx="22431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Localisation physique</a:t>
            </a:r>
          </a:p>
        </p:txBody>
      </p:sp>
      <p:pic>
        <p:nvPicPr>
          <p:cNvPr id="24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88">
            <a:alphaModFix amt="100000"/>
          </a:blip>
          <a:stretch/>
        </p:blipFill>
        <p:spPr>
          <a:xfrm>
            <a:off x="11178330" y="2628900"/>
            <a:ext cx="6120706" cy="1337220"/>
          </a:xfrm>
          <a:prstGeom prst="rect">
            <a:avLst/>
          </a:prstGeom>
        </p:spPr>
      </p:pic>
      <p:pic>
        <p:nvPicPr>
          <p:cNvPr id="24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90">
            <a:alphaModFix amt="100000"/>
          </a:blip>
          <a:stretch/>
        </p:blipFill>
        <p:spPr>
          <a:xfrm>
            <a:off x="11185922" y="2636490"/>
            <a:ext cx="6107311" cy="1331565"/>
          </a:xfrm>
          <a:prstGeom prst="rect">
            <a:avLst/>
          </a:prstGeom>
        </p:spPr>
      </p:pic>
      <p:sp>
        <p:nvSpPr>
          <p:cNvPr id="2414" name="text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81329" y="3130296"/>
            <a:ext cx="11477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Ville ciblée</a:t>
            </a:r>
          </a:p>
        </p:txBody>
      </p:sp>
      <p:pic>
        <p:nvPicPr>
          <p:cNvPr id="24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92">
            <a:alphaModFix amt="100000"/>
          </a:blip>
          <a:stretch/>
        </p:blipFill>
        <p:spPr>
          <a:xfrm>
            <a:off x="914400" y="3963144"/>
            <a:ext cx="4006156" cy="1337220"/>
          </a:xfrm>
          <a:prstGeom prst="rect">
            <a:avLst/>
          </a:prstGeom>
        </p:spPr>
      </p:pic>
      <p:pic>
        <p:nvPicPr>
          <p:cNvPr id="24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94">
            <a:alphaModFix amt="100000"/>
          </a:blip>
          <a:stretch/>
        </p:blipFill>
        <p:spPr>
          <a:xfrm>
            <a:off x="921990" y="3970734"/>
            <a:ext cx="3992761" cy="1331565"/>
          </a:xfrm>
          <a:prstGeom prst="rect">
            <a:avLst/>
          </a:prstGeom>
        </p:spPr>
      </p:pic>
      <p:sp>
        <p:nvSpPr>
          <p:cNvPr id="2420" name="Label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4464463"/>
            <a:ext cx="37671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Shard 1 (shardParis)</a:t>
            </a:r>
          </a:p>
        </p:txBody>
      </p:sp>
      <p:pic>
        <p:nvPicPr>
          <p:cNvPr id="24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96">
            <a:alphaModFix amt="100000"/>
          </a:blip>
          <a:stretch/>
        </p:blipFill>
        <p:spPr>
          <a:xfrm>
            <a:off x="4921002" y="3963144"/>
            <a:ext cx="6254056" cy="1337220"/>
          </a:xfrm>
          <a:prstGeom prst="rect">
            <a:avLst/>
          </a:prstGeom>
        </p:spPr>
      </p:pic>
      <p:pic>
        <p:nvPicPr>
          <p:cNvPr id="24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98">
            <a:alphaModFix amt="100000"/>
          </a:blip>
          <a:stretch/>
        </p:blipFill>
        <p:spPr>
          <a:xfrm>
            <a:off x="4928711" y="3970782"/>
            <a:ext cx="6240661" cy="1331565"/>
          </a:xfrm>
          <a:prstGeom prst="rect">
            <a:avLst/>
          </a:prstGeom>
        </p:spPr>
      </p:pic>
      <p:sp>
        <p:nvSpPr>
          <p:cNvPr id="2426" name="Label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58251" y="4464463"/>
            <a:ext cx="6015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Serveur MongoDB à Paris</a:t>
            </a:r>
          </a:p>
        </p:txBody>
      </p:sp>
      <p:pic>
        <p:nvPicPr>
          <p:cNvPr id="242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00">
            <a:alphaModFix amt="100000"/>
          </a:blip>
          <a:stretch/>
        </p:blipFill>
        <p:spPr>
          <a:xfrm>
            <a:off x="11178330" y="3963144"/>
            <a:ext cx="6120706" cy="1337220"/>
          </a:xfrm>
          <a:prstGeom prst="rect">
            <a:avLst/>
          </a:prstGeom>
        </p:spPr>
      </p:pic>
      <p:pic>
        <p:nvPicPr>
          <p:cNvPr id="24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02">
            <a:alphaModFix amt="100000"/>
          </a:blip>
          <a:stretch/>
        </p:blipFill>
        <p:spPr>
          <a:xfrm>
            <a:off x="11185922" y="3970734"/>
            <a:ext cx="6107311" cy="1331565"/>
          </a:xfrm>
          <a:prstGeom prst="rect">
            <a:avLst/>
          </a:prstGeom>
        </p:spPr>
      </p:pic>
      <p:sp>
        <p:nvSpPr>
          <p:cNvPr id="2432" name="Label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15605" y="4464463"/>
            <a:ext cx="58816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host-location: "Paris, .."</a:t>
            </a:r>
          </a:p>
        </p:txBody>
      </p:sp>
      <p:pic>
        <p:nvPicPr>
          <p:cNvPr id="24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04">
            <a:alphaModFix amt="100000"/>
          </a:blip>
          <a:stretch/>
        </p:blipFill>
        <p:spPr>
          <a:xfrm>
            <a:off x="914400" y="5297329"/>
            <a:ext cx="4006156" cy="1337220"/>
          </a:xfrm>
          <a:prstGeom prst="rect">
            <a:avLst/>
          </a:prstGeom>
        </p:spPr>
      </p:pic>
      <p:pic>
        <p:nvPicPr>
          <p:cNvPr id="24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06">
            <a:alphaModFix amt="100000"/>
          </a:blip>
          <a:stretch/>
        </p:blipFill>
        <p:spPr>
          <a:xfrm>
            <a:off x="922020" y="5304949"/>
            <a:ext cx="3992761" cy="1331565"/>
          </a:xfrm>
          <a:prstGeom prst="rect">
            <a:avLst/>
          </a:prstGeom>
        </p:spPr>
      </p:pic>
      <p:sp>
        <p:nvSpPr>
          <p:cNvPr id="2438" name="Label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5798725"/>
            <a:ext cx="37671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Shard 2 (shardLyon)</a:t>
            </a:r>
          </a:p>
        </p:txBody>
      </p:sp>
      <p:pic>
        <p:nvPicPr>
          <p:cNvPr id="24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08">
            <a:alphaModFix amt="100000"/>
          </a:blip>
          <a:stretch/>
        </p:blipFill>
        <p:spPr>
          <a:xfrm>
            <a:off x="4921091" y="5297329"/>
            <a:ext cx="6254056" cy="1337220"/>
          </a:xfrm>
          <a:prstGeom prst="rect">
            <a:avLst/>
          </a:prstGeom>
        </p:spPr>
      </p:pic>
      <p:pic>
        <p:nvPicPr>
          <p:cNvPr id="24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10">
            <a:alphaModFix amt="100000"/>
          </a:blip>
          <a:stretch/>
        </p:blipFill>
        <p:spPr>
          <a:xfrm>
            <a:off x="4928711" y="5304949"/>
            <a:ext cx="6240661" cy="1331565"/>
          </a:xfrm>
          <a:prstGeom prst="rect">
            <a:avLst/>
          </a:prstGeom>
        </p:spPr>
      </p:pic>
      <p:sp>
        <p:nvSpPr>
          <p:cNvPr id="2444" name="Label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58251" y="5798725"/>
            <a:ext cx="6015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Serveur MongoDB à Lyon</a:t>
            </a:r>
          </a:p>
        </p:txBody>
      </p:sp>
      <p:pic>
        <p:nvPicPr>
          <p:cNvPr id="24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12">
            <a:alphaModFix amt="100000"/>
          </a:blip>
          <a:stretch/>
        </p:blipFill>
        <p:spPr>
          <a:xfrm>
            <a:off x="11178445" y="5297329"/>
            <a:ext cx="6120706" cy="1337220"/>
          </a:xfrm>
          <a:prstGeom prst="rect">
            <a:avLst/>
          </a:prstGeom>
        </p:spPr>
      </p:pic>
      <p:pic>
        <p:nvPicPr>
          <p:cNvPr id="24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14">
            <a:alphaModFix amt="100000"/>
          </a:blip>
          <a:stretch/>
        </p:blipFill>
        <p:spPr>
          <a:xfrm>
            <a:off x="11186065" y="5304949"/>
            <a:ext cx="6107311" cy="1331565"/>
          </a:xfrm>
          <a:prstGeom prst="rect">
            <a:avLst/>
          </a:prstGeom>
        </p:spPr>
      </p:pic>
      <p:sp>
        <p:nvSpPr>
          <p:cNvPr id="2450" name="Label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15605" y="5798725"/>
            <a:ext cx="58816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host-location: "Lyon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 .."</a:t>
            </a:r>
          </a:p>
        </p:txBody>
      </p:sp>
      <p:pic>
        <p:nvPicPr>
          <p:cNvPr id="24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16">
            <a:alphaModFix amt="100000"/>
          </a:blip>
          <a:stretch/>
        </p:blipFill>
        <p:spPr>
          <a:xfrm>
            <a:off x="914400" y="6631591"/>
            <a:ext cx="4006156" cy="1337220"/>
          </a:xfrm>
          <a:prstGeom prst="rect">
            <a:avLst/>
          </a:prstGeom>
        </p:spPr>
      </p:pic>
      <p:pic>
        <p:nvPicPr>
          <p:cNvPr id="24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18">
            <a:alphaModFix amt="100000"/>
          </a:blip>
          <a:stretch/>
        </p:blipFill>
        <p:spPr>
          <a:xfrm>
            <a:off x="922020" y="6639211"/>
            <a:ext cx="3992761" cy="1331565"/>
          </a:xfrm>
          <a:prstGeom prst="rect">
            <a:avLst/>
          </a:prstGeom>
        </p:spPr>
      </p:pic>
      <p:sp>
        <p:nvSpPr>
          <p:cNvPr id="2456" name="Label-3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7132892"/>
            <a:ext cx="37671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Shard 3 (shardBonus)</a:t>
            </a:r>
          </a:p>
        </p:txBody>
      </p:sp>
      <p:pic>
        <p:nvPicPr>
          <p:cNvPr id="24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20">
            <a:alphaModFix amt="100000"/>
          </a:blip>
          <a:stretch/>
        </p:blipFill>
        <p:spPr>
          <a:xfrm>
            <a:off x="4921091" y="6631591"/>
            <a:ext cx="6254056" cy="1337220"/>
          </a:xfrm>
          <a:prstGeom prst="rect">
            <a:avLst/>
          </a:prstGeom>
        </p:spPr>
      </p:pic>
      <p:pic>
        <p:nvPicPr>
          <p:cNvPr id="24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22">
            <a:alphaModFix amt="100000"/>
          </a:blip>
          <a:stretch/>
        </p:blipFill>
        <p:spPr>
          <a:xfrm>
            <a:off x="4928711" y="6639211"/>
            <a:ext cx="6240661" cy="1331565"/>
          </a:xfrm>
          <a:prstGeom prst="rect">
            <a:avLst/>
          </a:prstGeom>
        </p:spPr>
      </p:pic>
      <p:sp>
        <p:nvSpPr>
          <p:cNvPr id="2462" name="Label-3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58251" y="7132892"/>
            <a:ext cx="6015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Hors Paris et Lyon</a:t>
            </a:r>
          </a:p>
        </p:txBody>
      </p:sp>
      <p:pic>
        <p:nvPicPr>
          <p:cNvPr id="24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24">
            <a:alphaModFix amt="100000"/>
          </a:blip>
          <a:stretch/>
        </p:blipFill>
        <p:spPr>
          <a:xfrm>
            <a:off x="11178445" y="6631591"/>
            <a:ext cx="6120706" cy="1337220"/>
          </a:xfrm>
          <a:prstGeom prst="rect">
            <a:avLst/>
          </a:prstGeom>
        </p:spPr>
      </p:pic>
      <p:pic>
        <p:nvPicPr>
          <p:cNvPr id="24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26">
            <a:alphaModFix amt="100000"/>
          </a:blip>
          <a:stretch/>
        </p:blipFill>
        <p:spPr>
          <a:xfrm>
            <a:off x="11186065" y="6639211"/>
            <a:ext cx="6107311" cy="1331565"/>
          </a:xfrm>
          <a:prstGeom prst="rect">
            <a:avLst/>
          </a:prstGeom>
        </p:spPr>
      </p:pic>
      <p:sp>
        <p:nvSpPr>
          <p:cNvPr id="2468" name="Label-3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15605" y="7132892"/>
            <a:ext cx="58816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host-location: Hors Paris et Lyon</a:t>
            </a:r>
          </a:p>
        </p:txBody>
      </p:sp>
      <p:pic>
        <p:nvPicPr>
          <p:cNvPr id="24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28">
            <a:alphaModFix amt="100000"/>
          </a:blip>
          <a:stretch/>
        </p:blipFill>
        <p:spPr>
          <a:xfrm>
            <a:off x="914400" y="7965728"/>
            <a:ext cx="4006156" cy="1346745"/>
          </a:xfrm>
          <a:prstGeom prst="rect">
            <a:avLst/>
          </a:prstGeom>
        </p:spPr>
      </p:pic>
      <p:pic>
        <p:nvPicPr>
          <p:cNvPr id="24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30">
            <a:alphaModFix amt="100000"/>
          </a:blip>
          <a:stretch/>
        </p:blipFill>
        <p:spPr>
          <a:xfrm>
            <a:off x="921990" y="7973318"/>
            <a:ext cx="3992761" cy="1331565"/>
          </a:xfrm>
          <a:prstGeom prst="rect">
            <a:avLst/>
          </a:prstGeom>
        </p:spPr>
      </p:pic>
      <p:sp>
        <p:nvSpPr>
          <p:cNvPr id="2474" name="Label-4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8467249"/>
            <a:ext cx="37671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Shard 3' (shardCloud)</a:t>
            </a:r>
          </a:p>
        </p:txBody>
      </p:sp>
      <p:pic>
        <p:nvPicPr>
          <p:cNvPr id="24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32">
            <a:alphaModFix amt="100000"/>
          </a:blip>
          <a:stretch/>
        </p:blipFill>
        <p:spPr>
          <a:xfrm>
            <a:off x="4921002" y="7965728"/>
            <a:ext cx="6254056" cy="1346745"/>
          </a:xfrm>
          <a:prstGeom prst="rect">
            <a:avLst/>
          </a:prstGeom>
        </p:spPr>
      </p:pic>
      <p:pic>
        <p:nvPicPr>
          <p:cNvPr id="24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34">
            <a:alphaModFix amt="100000"/>
          </a:blip>
          <a:stretch/>
        </p:blipFill>
        <p:spPr>
          <a:xfrm>
            <a:off x="4928592" y="7973318"/>
            <a:ext cx="6240661" cy="1331565"/>
          </a:xfrm>
          <a:prstGeom prst="rect">
            <a:avLst/>
          </a:prstGeom>
        </p:spPr>
      </p:pic>
      <p:sp>
        <p:nvSpPr>
          <p:cNvPr id="2480" name="Label-4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58251" y="8467249"/>
            <a:ext cx="6015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Cloud 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ou future ville.autre</a:t>
            </a:r>
            <a:r>
              <a:rPr lang="en-US" sz="1800" spc="-9" dirty="0">
                <a:solidFill>
                  <a:srgbClr val="262D36"/>
                </a:solidFill>
                <a:latin typeface="Roboto" panose="00000700000000000000" pitchFamily="2" charset="0"/>
              </a:rPr>
              <a:t> ou autre</a:t>
            </a:r>
          </a:p>
        </p:txBody>
      </p:sp>
      <p:pic>
        <p:nvPicPr>
          <p:cNvPr id="24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36">
            <a:alphaModFix amt="100000"/>
          </a:blip>
          <a:stretch/>
        </p:blipFill>
        <p:spPr>
          <a:xfrm>
            <a:off x="11178330" y="7965728"/>
            <a:ext cx="6120706" cy="1346745"/>
          </a:xfrm>
          <a:prstGeom prst="rect">
            <a:avLst/>
          </a:prstGeom>
        </p:spPr>
      </p:pic>
      <p:pic>
        <p:nvPicPr>
          <p:cNvPr id="24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38">
            <a:alphaModFix amt="100000"/>
          </a:blip>
          <a:stretch/>
        </p:blipFill>
        <p:spPr>
          <a:xfrm>
            <a:off x="11185922" y="7973318"/>
            <a:ext cx="6107311" cy="1331565"/>
          </a:xfrm>
          <a:prstGeom prst="rect">
            <a:avLst/>
          </a:prstGeom>
        </p:spPr>
      </p:pic>
      <p:sp>
        <p:nvSpPr>
          <p:cNvPr id="2486" name="Label-4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15605" y="8467249"/>
            <a:ext cx="58816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Pour extensions ou backup général</a:t>
            </a:r>
          </a:p>
        </p:txBody>
      </p:sp>
      <p:sp>
        <p:nvSpPr>
          <p:cNvPr id="248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Sharding par clé : </a:t>
            </a:r>
            <a:r>
              <a:rPr lang="en-US" sz="4200" b="1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ville </a:t>
            </a:r>
          </a:p>
        </p:txBody>
      </p:sp>
      <p:sp>
        <p:nvSpPr>
          <p:cNvPr id="249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Représenter la structure réelle, extensible, ciblé, logique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3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4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4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4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4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46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24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48">
            <a:alphaModFix amt="7000"/>
          </a:blip>
          <a:stretch/>
        </p:blipFill>
        <p:spPr>
          <a:xfrm>
            <a:off x="16764572" y="2600420"/>
            <a:ext cx="1524000" cy="762000"/>
          </a:xfrm>
          <a:prstGeom prst="rect">
            <a:avLst/>
          </a:prstGeom>
        </p:spPr>
      </p:pic>
      <p:pic>
        <p:nvPicPr>
          <p:cNvPr id="25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50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25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52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25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54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25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56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25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58">
            <a:alphaModFix amt="7000"/>
          </a:blip>
          <a:stretch/>
        </p:blipFill>
        <p:spPr>
          <a:xfrm>
            <a:off x="762572" y="2267236"/>
            <a:ext cx="762000" cy="762000"/>
          </a:xfrm>
          <a:prstGeom prst="rect">
            <a:avLst/>
          </a:prstGeom>
        </p:spPr>
      </p:pic>
      <p:pic>
        <p:nvPicPr>
          <p:cNvPr id="25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60">
            <a:alphaModFix amt="7000"/>
          </a:blip>
          <a:stretch/>
        </p:blipFill>
        <p:spPr>
          <a:xfrm>
            <a:off x="1523238" y="742760"/>
            <a:ext cx="762000" cy="1524000"/>
          </a:xfrm>
          <a:prstGeom prst="rect">
            <a:avLst/>
          </a:prstGeom>
        </p:spPr>
      </p:pic>
      <p:pic>
        <p:nvPicPr>
          <p:cNvPr id="25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62">
            <a:alphaModFix amt="100000"/>
          </a:blip>
          <a:stretch/>
        </p:blipFill>
        <p:spPr>
          <a:xfrm>
            <a:off x="914400" y="2628900"/>
            <a:ext cx="3148906" cy="613321"/>
          </a:xfrm>
          <a:prstGeom prst="rect">
            <a:avLst/>
          </a:prstGeom>
        </p:spPr>
      </p:pic>
      <p:pic>
        <p:nvPicPr>
          <p:cNvPr id="25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64">
            <a:alphaModFix amt="100000"/>
          </a:blip>
          <a:stretch/>
        </p:blipFill>
        <p:spPr>
          <a:xfrm>
            <a:off x="921990" y="2636490"/>
            <a:ext cx="3135511" cy="607665"/>
          </a:xfrm>
          <a:prstGeom prst="rect">
            <a:avLst/>
          </a:prstGeom>
        </p:spPr>
      </p:pic>
      <p:sp>
        <p:nvSpPr>
          <p:cNvPr id="2516" name="text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904333" y="2766060"/>
            <a:ext cx="12049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Composant</a:t>
            </a:r>
          </a:p>
        </p:txBody>
      </p:sp>
      <p:pic>
        <p:nvPicPr>
          <p:cNvPr id="25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66">
            <a:alphaModFix amt="100000"/>
          </a:blip>
          <a:stretch/>
        </p:blipFill>
        <p:spPr>
          <a:xfrm>
            <a:off x="4063455" y="2628900"/>
            <a:ext cx="4691956" cy="613321"/>
          </a:xfrm>
          <a:prstGeom prst="rect">
            <a:avLst/>
          </a:prstGeom>
        </p:spPr>
      </p:pic>
      <p:pic>
        <p:nvPicPr>
          <p:cNvPr id="25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68">
            <a:alphaModFix amt="100000"/>
          </a:blip>
          <a:stretch/>
        </p:blipFill>
        <p:spPr>
          <a:xfrm>
            <a:off x="4071194" y="2636490"/>
            <a:ext cx="4678561" cy="607665"/>
          </a:xfrm>
          <a:prstGeom prst="rect">
            <a:avLst/>
          </a:prstGeom>
        </p:spPr>
      </p:pic>
      <p:sp>
        <p:nvSpPr>
          <p:cNvPr id="2522" name="text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932932" y="2766060"/>
            <a:ext cx="9858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Rôle</a:t>
            </a:r>
          </a:p>
        </p:txBody>
      </p:sp>
      <p:pic>
        <p:nvPicPr>
          <p:cNvPr id="25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0">
            <a:alphaModFix amt="100000"/>
          </a:blip>
          <a:stretch/>
        </p:blipFill>
        <p:spPr>
          <a:xfrm>
            <a:off x="8754814" y="2628900"/>
            <a:ext cx="2425006" cy="613321"/>
          </a:xfrm>
          <a:prstGeom prst="rect">
            <a:avLst/>
          </a:prstGeom>
        </p:spPr>
      </p:pic>
      <p:pic>
        <p:nvPicPr>
          <p:cNvPr id="25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2">
            <a:alphaModFix amt="100000"/>
          </a:blip>
          <a:stretch/>
        </p:blipFill>
        <p:spPr>
          <a:xfrm>
            <a:off x="8762405" y="2636490"/>
            <a:ext cx="2402086" cy="607665"/>
          </a:xfrm>
          <a:prstGeom prst="rect">
            <a:avLst/>
          </a:prstGeom>
        </p:spPr>
      </p:pic>
      <p:sp>
        <p:nvSpPr>
          <p:cNvPr id="2528" name="text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89186" y="2766060"/>
            <a:ext cx="9858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Port</a:t>
            </a:r>
          </a:p>
        </p:txBody>
      </p:sp>
      <p:pic>
        <p:nvPicPr>
          <p:cNvPr id="25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4">
            <a:alphaModFix amt="100000"/>
          </a:blip>
          <a:stretch/>
        </p:blipFill>
        <p:spPr>
          <a:xfrm>
            <a:off x="11175949" y="2628900"/>
            <a:ext cx="6120706" cy="613321"/>
          </a:xfrm>
          <a:prstGeom prst="rect">
            <a:avLst/>
          </a:prstGeom>
        </p:spPr>
      </p:pic>
      <p:pic>
        <p:nvPicPr>
          <p:cNvPr id="25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6">
            <a:alphaModFix amt="100000"/>
          </a:blip>
          <a:stretch/>
        </p:blipFill>
        <p:spPr>
          <a:xfrm>
            <a:off x="11183541" y="2636490"/>
            <a:ext cx="6107311" cy="607665"/>
          </a:xfrm>
          <a:prstGeom prst="rect">
            <a:avLst/>
          </a:prstGeom>
        </p:spPr>
      </p:pic>
      <p:sp>
        <p:nvSpPr>
          <p:cNvPr id="2534" name="text-0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234892" y="2766060"/>
            <a:ext cx="20335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Dossier de données</a:t>
            </a:r>
          </a:p>
        </p:txBody>
      </p:sp>
      <p:pic>
        <p:nvPicPr>
          <p:cNvPr id="25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8">
            <a:alphaModFix amt="100000"/>
          </a:blip>
          <a:stretch/>
        </p:blipFill>
        <p:spPr>
          <a:xfrm>
            <a:off x="914400" y="3234631"/>
            <a:ext cx="3148906" cy="889546"/>
          </a:xfrm>
          <a:prstGeom prst="rect">
            <a:avLst/>
          </a:prstGeom>
        </p:spPr>
      </p:pic>
      <p:pic>
        <p:nvPicPr>
          <p:cNvPr id="25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80">
            <a:alphaModFix amt="100000"/>
          </a:blip>
          <a:stretch/>
        </p:blipFill>
        <p:spPr>
          <a:xfrm>
            <a:off x="921990" y="3242220"/>
            <a:ext cx="3135511" cy="883890"/>
          </a:xfrm>
          <a:prstGeom prst="rect">
            <a:avLst/>
          </a:prstGeom>
        </p:spPr>
      </p:pic>
      <p:sp>
        <p:nvSpPr>
          <p:cNvPr id="2540" name="Label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78413" y="3510915"/>
            <a:ext cx="145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config1</a:t>
            </a:r>
          </a:p>
        </p:txBody>
      </p:sp>
      <p:pic>
        <p:nvPicPr>
          <p:cNvPr id="25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82">
            <a:alphaModFix amt="100000"/>
          </a:blip>
          <a:stretch/>
        </p:blipFill>
        <p:spPr>
          <a:xfrm>
            <a:off x="4063455" y="3234631"/>
            <a:ext cx="4691956" cy="889546"/>
          </a:xfrm>
          <a:prstGeom prst="rect">
            <a:avLst/>
          </a:prstGeom>
        </p:spPr>
      </p:pic>
      <p:pic>
        <p:nvPicPr>
          <p:cNvPr id="25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84">
            <a:alphaModFix amt="100000"/>
          </a:blip>
          <a:stretch/>
        </p:blipFill>
        <p:spPr>
          <a:xfrm>
            <a:off x="4071194" y="3242220"/>
            <a:ext cx="4678561" cy="883890"/>
          </a:xfrm>
          <a:prstGeom prst="rect">
            <a:avLst/>
          </a:prstGeom>
        </p:spPr>
      </p:pic>
      <p:sp>
        <p:nvSpPr>
          <p:cNvPr id="2546" name="Label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283518" y="3510915"/>
            <a:ext cx="22812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Config server</a:t>
            </a:r>
          </a:p>
        </p:txBody>
      </p:sp>
      <p:pic>
        <p:nvPicPr>
          <p:cNvPr id="25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86">
            <a:alphaModFix amt="100000"/>
          </a:blip>
          <a:stretch/>
        </p:blipFill>
        <p:spPr>
          <a:xfrm>
            <a:off x="8754814" y="3234631"/>
            <a:ext cx="2425006" cy="889546"/>
          </a:xfrm>
          <a:prstGeom prst="rect">
            <a:avLst/>
          </a:prstGeom>
        </p:spPr>
      </p:pic>
      <p:pic>
        <p:nvPicPr>
          <p:cNvPr id="25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88">
            <a:alphaModFix amt="100000"/>
          </a:blip>
          <a:stretch/>
        </p:blipFill>
        <p:spPr>
          <a:xfrm>
            <a:off x="8762405" y="3242220"/>
            <a:ext cx="2402086" cy="883890"/>
          </a:xfrm>
          <a:prstGeom prst="rect">
            <a:avLst/>
          </a:prstGeom>
        </p:spPr>
      </p:pic>
      <p:sp>
        <p:nvSpPr>
          <p:cNvPr id="2552" name="Label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50800" y="3510915"/>
            <a:ext cx="106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26001</a:t>
            </a:r>
          </a:p>
        </p:txBody>
      </p:sp>
      <p:pic>
        <p:nvPicPr>
          <p:cNvPr id="25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90">
            <a:alphaModFix amt="100000"/>
          </a:blip>
          <a:stretch/>
        </p:blipFill>
        <p:spPr>
          <a:xfrm>
            <a:off x="11175949" y="3234631"/>
            <a:ext cx="6120706" cy="889546"/>
          </a:xfrm>
          <a:prstGeom prst="rect">
            <a:avLst/>
          </a:prstGeom>
        </p:spPr>
      </p:pic>
      <p:pic>
        <p:nvPicPr>
          <p:cNvPr id="25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92">
            <a:alphaModFix amt="100000"/>
          </a:blip>
          <a:stretch/>
        </p:blipFill>
        <p:spPr>
          <a:xfrm>
            <a:off x="11183541" y="3242220"/>
            <a:ext cx="6107311" cy="883890"/>
          </a:xfrm>
          <a:prstGeom prst="rect">
            <a:avLst/>
          </a:prstGeom>
        </p:spPr>
      </p:pic>
      <p:pic>
        <p:nvPicPr>
          <p:cNvPr id="2558" name="iconNode-1,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94">
            <a:alphaModFix amt="100000"/>
          </a:blip>
          <a:stretch/>
        </p:blipFill>
        <p:spPr>
          <a:xfrm>
            <a:off x="11313224" y="3371850"/>
            <a:ext cx="533400" cy="533400"/>
          </a:xfrm>
          <a:prstGeom prst="rect">
            <a:avLst/>
          </a:prstGeom>
        </p:spPr>
      </p:pic>
      <p:sp>
        <p:nvSpPr>
          <p:cNvPr id="2560" name="Label-1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999024" y="3514249"/>
            <a:ext cx="236696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5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C:\Users\karap\mongodb\cfg1</a:t>
            </a:r>
          </a:p>
        </p:txBody>
      </p:sp>
      <p:pic>
        <p:nvPicPr>
          <p:cNvPr id="25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96">
            <a:alphaModFix amt="100000"/>
          </a:blip>
          <a:stretch/>
        </p:blipFill>
        <p:spPr>
          <a:xfrm>
            <a:off x="914400" y="4118610"/>
            <a:ext cx="3148906" cy="889546"/>
          </a:xfrm>
          <a:prstGeom prst="rect">
            <a:avLst/>
          </a:prstGeom>
        </p:spPr>
      </p:pic>
      <p:pic>
        <p:nvPicPr>
          <p:cNvPr id="25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98">
            <a:alphaModFix amt="100000"/>
          </a:blip>
          <a:stretch/>
        </p:blipFill>
        <p:spPr>
          <a:xfrm>
            <a:off x="922020" y="4126230"/>
            <a:ext cx="3135511" cy="883890"/>
          </a:xfrm>
          <a:prstGeom prst="rect">
            <a:avLst/>
          </a:prstGeom>
        </p:spPr>
      </p:pic>
      <p:sp>
        <p:nvSpPr>
          <p:cNvPr id="2566" name="Label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78413" y="4394835"/>
            <a:ext cx="145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config2</a:t>
            </a:r>
          </a:p>
        </p:txBody>
      </p:sp>
      <p:pic>
        <p:nvPicPr>
          <p:cNvPr id="25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00">
            <a:alphaModFix amt="100000"/>
          </a:blip>
          <a:stretch/>
        </p:blipFill>
        <p:spPr>
          <a:xfrm>
            <a:off x="4063556" y="4118610"/>
            <a:ext cx="4691956" cy="889546"/>
          </a:xfrm>
          <a:prstGeom prst="rect">
            <a:avLst/>
          </a:prstGeom>
        </p:spPr>
      </p:pic>
      <p:pic>
        <p:nvPicPr>
          <p:cNvPr id="25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02">
            <a:alphaModFix amt="100000"/>
          </a:blip>
          <a:stretch/>
        </p:blipFill>
        <p:spPr>
          <a:xfrm>
            <a:off x="4071271" y="4126230"/>
            <a:ext cx="4678561" cy="883890"/>
          </a:xfrm>
          <a:prstGeom prst="rect">
            <a:avLst/>
          </a:prstGeom>
        </p:spPr>
      </p:pic>
      <p:sp>
        <p:nvSpPr>
          <p:cNvPr id="2572" name="Label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283518" y="4394835"/>
            <a:ext cx="22812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Config server</a:t>
            </a:r>
          </a:p>
        </p:txBody>
      </p:sp>
      <p:pic>
        <p:nvPicPr>
          <p:cNvPr id="25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04">
            <a:alphaModFix amt="100000"/>
          </a:blip>
          <a:stretch/>
        </p:blipFill>
        <p:spPr>
          <a:xfrm>
            <a:off x="8754904" y="4118610"/>
            <a:ext cx="2425006" cy="889546"/>
          </a:xfrm>
          <a:prstGeom prst="rect">
            <a:avLst/>
          </a:prstGeom>
        </p:spPr>
      </p:pic>
      <p:pic>
        <p:nvPicPr>
          <p:cNvPr id="25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06">
            <a:alphaModFix amt="100000"/>
          </a:blip>
          <a:stretch/>
        </p:blipFill>
        <p:spPr>
          <a:xfrm>
            <a:off x="8762524" y="4126230"/>
            <a:ext cx="2402086" cy="883890"/>
          </a:xfrm>
          <a:prstGeom prst="rect">
            <a:avLst/>
          </a:prstGeom>
        </p:spPr>
      </p:pic>
      <p:sp>
        <p:nvSpPr>
          <p:cNvPr id="2578" name="Label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50800" y="4394835"/>
            <a:ext cx="106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26002</a:t>
            </a:r>
          </a:p>
        </p:txBody>
      </p:sp>
      <p:pic>
        <p:nvPicPr>
          <p:cNvPr id="25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08">
            <a:alphaModFix amt="100000"/>
          </a:blip>
          <a:stretch/>
        </p:blipFill>
        <p:spPr>
          <a:xfrm>
            <a:off x="11176064" y="4118610"/>
            <a:ext cx="6120706" cy="889546"/>
          </a:xfrm>
          <a:prstGeom prst="rect">
            <a:avLst/>
          </a:prstGeom>
        </p:spPr>
      </p:pic>
      <p:pic>
        <p:nvPicPr>
          <p:cNvPr id="25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10">
            <a:alphaModFix amt="100000"/>
          </a:blip>
          <a:stretch/>
        </p:blipFill>
        <p:spPr>
          <a:xfrm>
            <a:off x="11183684" y="4126230"/>
            <a:ext cx="6107311" cy="883890"/>
          </a:xfrm>
          <a:prstGeom prst="rect">
            <a:avLst/>
          </a:prstGeom>
        </p:spPr>
      </p:pic>
      <p:pic>
        <p:nvPicPr>
          <p:cNvPr id="2584" name="iconNode-2,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13">
            <a:alphaModFix amt="100000"/>
            <a:extLst>
              <a:ext uri="{58B88934-50AC-429F-92D7-FEAB3A199AB9}">
                <asvg:svgBlip xmlns:r="http://schemas.openxmlformats.org/officeDocument/2006/relationships" xmlns:asvg="http://schemas.microsoft.com/office/drawing/2016/SVG/main" r:embed="rId1712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313224" y="4255770"/>
            <a:ext cx="533400" cy="533400"/>
          </a:xfrm>
          <a:prstGeom prst="rect">
            <a:avLst/>
          </a:prstGeom>
        </p:spPr>
      </p:pic>
      <p:sp>
        <p:nvSpPr>
          <p:cNvPr id="2586" name="Label-2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999024" y="4398169"/>
            <a:ext cx="236696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5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C:\Users\karap\mongodb\cfg2</a:t>
            </a:r>
          </a:p>
        </p:txBody>
      </p:sp>
      <p:pic>
        <p:nvPicPr>
          <p:cNvPr id="25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15">
            <a:alphaModFix amt="100000"/>
          </a:blip>
          <a:stretch/>
        </p:blipFill>
        <p:spPr>
          <a:xfrm>
            <a:off x="914400" y="5002530"/>
            <a:ext cx="3148906" cy="889546"/>
          </a:xfrm>
          <a:prstGeom prst="rect">
            <a:avLst/>
          </a:prstGeom>
        </p:spPr>
      </p:pic>
      <p:pic>
        <p:nvPicPr>
          <p:cNvPr id="25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17">
            <a:alphaModFix amt="100000"/>
          </a:blip>
          <a:stretch/>
        </p:blipFill>
        <p:spPr>
          <a:xfrm>
            <a:off x="922020" y="5010150"/>
            <a:ext cx="3135511" cy="883890"/>
          </a:xfrm>
          <a:prstGeom prst="rect">
            <a:avLst/>
          </a:prstGeom>
        </p:spPr>
      </p:pic>
      <p:sp>
        <p:nvSpPr>
          <p:cNvPr id="2592" name="Label-3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78413" y="5278755"/>
            <a:ext cx="145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config3</a:t>
            </a:r>
          </a:p>
        </p:txBody>
      </p:sp>
      <p:pic>
        <p:nvPicPr>
          <p:cNvPr id="25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19">
            <a:alphaModFix amt="100000"/>
          </a:blip>
          <a:stretch/>
        </p:blipFill>
        <p:spPr>
          <a:xfrm>
            <a:off x="4063556" y="5002530"/>
            <a:ext cx="4691956" cy="889546"/>
          </a:xfrm>
          <a:prstGeom prst="rect">
            <a:avLst/>
          </a:prstGeom>
        </p:spPr>
      </p:pic>
      <p:pic>
        <p:nvPicPr>
          <p:cNvPr id="25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21">
            <a:alphaModFix amt="100000"/>
          </a:blip>
          <a:stretch/>
        </p:blipFill>
        <p:spPr>
          <a:xfrm>
            <a:off x="4071271" y="5010150"/>
            <a:ext cx="4678561" cy="883890"/>
          </a:xfrm>
          <a:prstGeom prst="rect">
            <a:avLst/>
          </a:prstGeom>
        </p:spPr>
      </p:pic>
      <p:sp>
        <p:nvSpPr>
          <p:cNvPr id="2598" name="Label-3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283518" y="5278755"/>
            <a:ext cx="22812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Config server</a:t>
            </a:r>
          </a:p>
        </p:txBody>
      </p:sp>
      <p:pic>
        <p:nvPicPr>
          <p:cNvPr id="26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23">
            <a:alphaModFix amt="100000"/>
          </a:blip>
          <a:stretch/>
        </p:blipFill>
        <p:spPr>
          <a:xfrm>
            <a:off x="8754904" y="5002530"/>
            <a:ext cx="2425006" cy="889546"/>
          </a:xfrm>
          <a:prstGeom prst="rect">
            <a:avLst/>
          </a:prstGeom>
        </p:spPr>
      </p:pic>
      <p:pic>
        <p:nvPicPr>
          <p:cNvPr id="26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25">
            <a:alphaModFix amt="100000"/>
          </a:blip>
          <a:stretch/>
        </p:blipFill>
        <p:spPr>
          <a:xfrm>
            <a:off x="8762524" y="5010150"/>
            <a:ext cx="2402086" cy="883890"/>
          </a:xfrm>
          <a:prstGeom prst="rect">
            <a:avLst/>
          </a:prstGeom>
        </p:spPr>
      </p:pic>
      <p:sp>
        <p:nvSpPr>
          <p:cNvPr id="2604" name="Label-3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50800" y="5278755"/>
            <a:ext cx="106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26003</a:t>
            </a:r>
          </a:p>
        </p:txBody>
      </p:sp>
      <p:pic>
        <p:nvPicPr>
          <p:cNvPr id="26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27">
            <a:alphaModFix amt="100000"/>
          </a:blip>
          <a:stretch/>
        </p:blipFill>
        <p:spPr>
          <a:xfrm>
            <a:off x="11176064" y="5002530"/>
            <a:ext cx="6120706" cy="889546"/>
          </a:xfrm>
          <a:prstGeom prst="rect">
            <a:avLst/>
          </a:prstGeom>
        </p:spPr>
      </p:pic>
      <p:pic>
        <p:nvPicPr>
          <p:cNvPr id="26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29">
            <a:alphaModFix amt="100000"/>
          </a:blip>
          <a:stretch/>
        </p:blipFill>
        <p:spPr>
          <a:xfrm>
            <a:off x="11183684" y="5010150"/>
            <a:ext cx="6107311" cy="883890"/>
          </a:xfrm>
          <a:prstGeom prst="rect">
            <a:avLst/>
          </a:prstGeom>
        </p:spPr>
      </p:pic>
      <p:pic>
        <p:nvPicPr>
          <p:cNvPr id="2610" name="iconNode-3,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32">
            <a:alphaModFix amt="100000"/>
            <a:extLst>
              <a:ext uri="{F5C70599-B9E8-4E70-AFC8-C8625969FC53}">
                <asvg:svgBlip xmlns:r="http://schemas.openxmlformats.org/officeDocument/2006/relationships" xmlns:asvg="http://schemas.microsoft.com/office/drawing/2016/SVG/main" r:embed="rId173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313224" y="5139690"/>
            <a:ext cx="533400" cy="533400"/>
          </a:xfrm>
          <a:prstGeom prst="rect">
            <a:avLst/>
          </a:prstGeom>
        </p:spPr>
      </p:pic>
      <p:sp>
        <p:nvSpPr>
          <p:cNvPr id="2612" name="Label-3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999024" y="5282089"/>
            <a:ext cx="236696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35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C:\Users\karap\mongodb\cfg3</a:t>
            </a:r>
          </a:p>
        </p:txBody>
      </p:sp>
      <p:pic>
        <p:nvPicPr>
          <p:cNvPr id="26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34">
            <a:alphaModFix amt="100000"/>
          </a:blip>
          <a:stretch/>
        </p:blipFill>
        <p:spPr>
          <a:xfrm>
            <a:off x="914400" y="5886450"/>
            <a:ext cx="3148906" cy="889546"/>
          </a:xfrm>
          <a:prstGeom prst="rect">
            <a:avLst/>
          </a:prstGeom>
        </p:spPr>
      </p:pic>
      <p:pic>
        <p:nvPicPr>
          <p:cNvPr id="26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36">
            <a:alphaModFix amt="100000"/>
          </a:blip>
          <a:stretch/>
        </p:blipFill>
        <p:spPr>
          <a:xfrm>
            <a:off x="922020" y="5894070"/>
            <a:ext cx="3135511" cy="883890"/>
          </a:xfrm>
          <a:prstGeom prst="rect">
            <a:avLst/>
          </a:prstGeom>
        </p:spPr>
      </p:pic>
      <p:sp>
        <p:nvSpPr>
          <p:cNvPr id="2618" name="Label-4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78413" y="6162675"/>
            <a:ext cx="145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shard1 (Paris)</a:t>
            </a:r>
          </a:p>
        </p:txBody>
      </p:sp>
      <p:pic>
        <p:nvPicPr>
          <p:cNvPr id="26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38">
            <a:alphaModFix amt="100000"/>
          </a:blip>
          <a:stretch/>
        </p:blipFill>
        <p:spPr>
          <a:xfrm>
            <a:off x="4063556" y="5886450"/>
            <a:ext cx="4691956" cy="889546"/>
          </a:xfrm>
          <a:prstGeom prst="rect">
            <a:avLst/>
          </a:prstGeom>
        </p:spPr>
      </p:pic>
      <p:pic>
        <p:nvPicPr>
          <p:cNvPr id="26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40">
            <a:alphaModFix amt="100000"/>
          </a:blip>
          <a:stretch/>
        </p:blipFill>
        <p:spPr>
          <a:xfrm>
            <a:off x="4071271" y="5894070"/>
            <a:ext cx="4678561" cy="883890"/>
          </a:xfrm>
          <a:prstGeom prst="rect">
            <a:avLst/>
          </a:prstGeom>
        </p:spPr>
      </p:pic>
      <p:sp>
        <p:nvSpPr>
          <p:cNvPr id="2624" name="Label-4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283518" y="6162675"/>
            <a:ext cx="22812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Shard server (RS)</a:t>
            </a:r>
          </a:p>
        </p:txBody>
      </p:sp>
      <p:pic>
        <p:nvPicPr>
          <p:cNvPr id="26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42">
            <a:alphaModFix amt="100000"/>
          </a:blip>
          <a:stretch/>
        </p:blipFill>
        <p:spPr>
          <a:xfrm>
            <a:off x="8754904" y="5886450"/>
            <a:ext cx="2425006" cy="889546"/>
          </a:xfrm>
          <a:prstGeom prst="rect">
            <a:avLst/>
          </a:prstGeom>
        </p:spPr>
      </p:pic>
      <p:pic>
        <p:nvPicPr>
          <p:cNvPr id="262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44">
            <a:alphaModFix amt="100000"/>
          </a:blip>
          <a:stretch/>
        </p:blipFill>
        <p:spPr>
          <a:xfrm>
            <a:off x="8762524" y="5894070"/>
            <a:ext cx="2402086" cy="883890"/>
          </a:xfrm>
          <a:prstGeom prst="rect">
            <a:avLst/>
          </a:prstGeom>
        </p:spPr>
      </p:pic>
      <p:sp>
        <p:nvSpPr>
          <p:cNvPr id="2630" name="Label-4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50800" y="6162675"/>
            <a:ext cx="106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27017</a:t>
            </a:r>
          </a:p>
        </p:txBody>
      </p:sp>
      <p:pic>
        <p:nvPicPr>
          <p:cNvPr id="26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46">
            <a:alphaModFix amt="100000"/>
          </a:blip>
          <a:stretch/>
        </p:blipFill>
        <p:spPr>
          <a:xfrm>
            <a:off x="11176064" y="5886450"/>
            <a:ext cx="6120706" cy="889546"/>
          </a:xfrm>
          <a:prstGeom prst="rect">
            <a:avLst/>
          </a:prstGeom>
        </p:spPr>
      </p:pic>
      <p:pic>
        <p:nvPicPr>
          <p:cNvPr id="26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48">
            <a:alphaModFix amt="100000"/>
          </a:blip>
          <a:stretch/>
        </p:blipFill>
        <p:spPr>
          <a:xfrm>
            <a:off x="11183684" y="5894070"/>
            <a:ext cx="6107311" cy="883890"/>
          </a:xfrm>
          <a:prstGeom prst="rect">
            <a:avLst/>
          </a:prstGeom>
        </p:spPr>
      </p:pic>
      <p:pic>
        <p:nvPicPr>
          <p:cNvPr id="2636" name="iconNode-4,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51">
            <a:alphaModFix amt="100000"/>
            <a:extLst>
              <a:ext uri="{6C148831-9EF1-4F04-82EE-FA6586CF3826}">
                <asvg:svgBlip xmlns:r="http://schemas.openxmlformats.org/officeDocument/2006/relationships" xmlns:asvg="http://schemas.microsoft.com/office/drawing/2016/SVG/main" r:embed="rId175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313224" y="6023610"/>
            <a:ext cx="533400" cy="533400"/>
          </a:xfrm>
          <a:prstGeom prst="rect">
            <a:avLst/>
          </a:prstGeom>
        </p:spPr>
      </p:pic>
      <p:sp>
        <p:nvSpPr>
          <p:cNvPr id="2638" name="Label-4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999024" y="6179820"/>
            <a:ext cx="2271712" cy="228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2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C:\Users\karap\mongodb\shard1</a:t>
            </a:r>
          </a:p>
        </p:txBody>
      </p:sp>
      <p:pic>
        <p:nvPicPr>
          <p:cNvPr id="26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53">
            <a:alphaModFix amt="100000"/>
          </a:blip>
          <a:stretch/>
        </p:blipFill>
        <p:spPr>
          <a:xfrm>
            <a:off x="914400" y="6770370"/>
            <a:ext cx="3148906" cy="889546"/>
          </a:xfrm>
          <a:prstGeom prst="rect">
            <a:avLst/>
          </a:prstGeom>
        </p:spPr>
      </p:pic>
      <p:pic>
        <p:nvPicPr>
          <p:cNvPr id="26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55">
            <a:alphaModFix amt="100000"/>
          </a:blip>
          <a:stretch/>
        </p:blipFill>
        <p:spPr>
          <a:xfrm>
            <a:off x="922020" y="6777990"/>
            <a:ext cx="3135511" cy="883890"/>
          </a:xfrm>
          <a:prstGeom prst="rect">
            <a:avLst/>
          </a:prstGeom>
        </p:spPr>
      </p:pic>
      <p:sp>
        <p:nvSpPr>
          <p:cNvPr id="2644" name="Label-5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78413" y="7046595"/>
            <a:ext cx="145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shard2 (Lyon)</a:t>
            </a:r>
          </a:p>
        </p:txBody>
      </p:sp>
      <p:pic>
        <p:nvPicPr>
          <p:cNvPr id="26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57">
            <a:alphaModFix amt="100000"/>
          </a:blip>
          <a:stretch/>
        </p:blipFill>
        <p:spPr>
          <a:xfrm>
            <a:off x="4063556" y="6770370"/>
            <a:ext cx="4691956" cy="889546"/>
          </a:xfrm>
          <a:prstGeom prst="rect">
            <a:avLst/>
          </a:prstGeom>
        </p:spPr>
      </p:pic>
      <p:pic>
        <p:nvPicPr>
          <p:cNvPr id="26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59">
            <a:alphaModFix amt="100000"/>
          </a:blip>
          <a:stretch/>
        </p:blipFill>
        <p:spPr>
          <a:xfrm>
            <a:off x="4071271" y="6777990"/>
            <a:ext cx="4678561" cy="883890"/>
          </a:xfrm>
          <a:prstGeom prst="rect">
            <a:avLst/>
          </a:prstGeom>
        </p:spPr>
      </p:pic>
      <p:sp>
        <p:nvSpPr>
          <p:cNvPr id="2650" name="Label-5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283518" y="7046595"/>
            <a:ext cx="22812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Shard server (RS)</a:t>
            </a:r>
          </a:p>
        </p:txBody>
      </p:sp>
      <p:pic>
        <p:nvPicPr>
          <p:cNvPr id="26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61">
            <a:alphaModFix amt="100000"/>
          </a:blip>
          <a:stretch/>
        </p:blipFill>
        <p:spPr>
          <a:xfrm>
            <a:off x="8754904" y="6770370"/>
            <a:ext cx="2425006" cy="889546"/>
          </a:xfrm>
          <a:prstGeom prst="rect">
            <a:avLst/>
          </a:prstGeom>
        </p:spPr>
      </p:pic>
      <p:pic>
        <p:nvPicPr>
          <p:cNvPr id="26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63">
            <a:alphaModFix amt="100000"/>
          </a:blip>
          <a:stretch/>
        </p:blipFill>
        <p:spPr>
          <a:xfrm>
            <a:off x="8762524" y="6777990"/>
            <a:ext cx="2402086" cy="883890"/>
          </a:xfrm>
          <a:prstGeom prst="rect">
            <a:avLst/>
          </a:prstGeom>
        </p:spPr>
      </p:pic>
      <p:sp>
        <p:nvSpPr>
          <p:cNvPr id="2656" name="Label-5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50800" y="7046595"/>
            <a:ext cx="106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27018</a:t>
            </a:r>
          </a:p>
        </p:txBody>
      </p:sp>
      <p:pic>
        <p:nvPicPr>
          <p:cNvPr id="26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65">
            <a:alphaModFix amt="100000"/>
          </a:blip>
          <a:stretch/>
        </p:blipFill>
        <p:spPr>
          <a:xfrm>
            <a:off x="11176064" y="6770370"/>
            <a:ext cx="6120706" cy="889546"/>
          </a:xfrm>
          <a:prstGeom prst="rect">
            <a:avLst/>
          </a:prstGeom>
        </p:spPr>
      </p:pic>
      <p:pic>
        <p:nvPicPr>
          <p:cNvPr id="26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67">
            <a:alphaModFix amt="100000"/>
          </a:blip>
          <a:stretch/>
        </p:blipFill>
        <p:spPr>
          <a:xfrm>
            <a:off x="11183684" y="6777990"/>
            <a:ext cx="6107311" cy="883890"/>
          </a:xfrm>
          <a:prstGeom prst="rect">
            <a:avLst/>
          </a:prstGeom>
        </p:spPr>
      </p:pic>
      <p:pic>
        <p:nvPicPr>
          <p:cNvPr id="2662" name="iconNode-5,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70">
            <a:alphaModFix amt="100000"/>
            <a:extLst>
              <a:ext uri="{BB35E860-4B73-499B-9EC7-812C4EF827F6}">
                <asvg:svgBlip xmlns:r="http://schemas.openxmlformats.org/officeDocument/2006/relationships" xmlns:asvg="http://schemas.microsoft.com/office/drawing/2016/SVG/main" r:embed="rId176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313224" y="6907530"/>
            <a:ext cx="533400" cy="533400"/>
          </a:xfrm>
          <a:prstGeom prst="rect">
            <a:avLst/>
          </a:prstGeom>
        </p:spPr>
      </p:pic>
      <p:sp>
        <p:nvSpPr>
          <p:cNvPr id="2664" name="Label-5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999024" y="7063740"/>
            <a:ext cx="2271712" cy="228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2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C:\Users\karap\mongodb\shard2</a:t>
            </a:r>
          </a:p>
        </p:txBody>
      </p:sp>
      <p:pic>
        <p:nvPicPr>
          <p:cNvPr id="26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72">
            <a:alphaModFix amt="100000"/>
          </a:blip>
          <a:stretch/>
        </p:blipFill>
        <p:spPr>
          <a:xfrm>
            <a:off x="914400" y="7654231"/>
            <a:ext cx="3148906" cy="946696"/>
          </a:xfrm>
          <a:prstGeom prst="rect">
            <a:avLst/>
          </a:prstGeom>
        </p:spPr>
      </p:pic>
      <p:pic>
        <p:nvPicPr>
          <p:cNvPr id="26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74">
            <a:alphaModFix amt="100000"/>
          </a:blip>
          <a:stretch/>
        </p:blipFill>
        <p:spPr>
          <a:xfrm>
            <a:off x="921990" y="7661820"/>
            <a:ext cx="3135511" cy="941040"/>
          </a:xfrm>
          <a:prstGeom prst="rect">
            <a:avLst/>
          </a:prstGeom>
        </p:spPr>
      </p:pic>
      <p:sp>
        <p:nvSpPr>
          <p:cNvPr id="2670" name="Label-6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78413" y="7791450"/>
            <a:ext cx="145256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shard3 (Hors Paris et Lyon)</a:t>
            </a:r>
          </a:p>
        </p:txBody>
      </p:sp>
      <p:pic>
        <p:nvPicPr>
          <p:cNvPr id="26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76">
            <a:alphaModFix amt="100000"/>
          </a:blip>
          <a:stretch/>
        </p:blipFill>
        <p:spPr>
          <a:xfrm>
            <a:off x="4063455" y="7654231"/>
            <a:ext cx="4691956" cy="946696"/>
          </a:xfrm>
          <a:prstGeom prst="rect">
            <a:avLst/>
          </a:prstGeom>
        </p:spPr>
      </p:pic>
      <p:pic>
        <p:nvPicPr>
          <p:cNvPr id="26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78">
            <a:alphaModFix amt="100000"/>
          </a:blip>
          <a:stretch/>
        </p:blipFill>
        <p:spPr>
          <a:xfrm>
            <a:off x="4071194" y="7661820"/>
            <a:ext cx="4678561" cy="941040"/>
          </a:xfrm>
          <a:prstGeom prst="rect">
            <a:avLst/>
          </a:prstGeom>
        </p:spPr>
      </p:pic>
      <p:sp>
        <p:nvSpPr>
          <p:cNvPr id="2676" name="Label-6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283518" y="7957185"/>
            <a:ext cx="22812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Shard server (RS)</a:t>
            </a:r>
          </a:p>
        </p:txBody>
      </p:sp>
      <p:pic>
        <p:nvPicPr>
          <p:cNvPr id="26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80">
            <a:alphaModFix amt="100000"/>
          </a:blip>
          <a:stretch/>
        </p:blipFill>
        <p:spPr>
          <a:xfrm>
            <a:off x="8754814" y="7654231"/>
            <a:ext cx="2425006" cy="946696"/>
          </a:xfrm>
          <a:prstGeom prst="rect">
            <a:avLst/>
          </a:prstGeom>
        </p:spPr>
      </p:pic>
      <p:pic>
        <p:nvPicPr>
          <p:cNvPr id="26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82">
            <a:alphaModFix amt="100000"/>
          </a:blip>
          <a:stretch/>
        </p:blipFill>
        <p:spPr>
          <a:xfrm>
            <a:off x="8762405" y="7661820"/>
            <a:ext cx="2402086" cy="941040"/>
          </a:xfrm>
          <a:prstGeom prst="rect">
            <a:avLst/>
          </a:prstGeom>
        </p:spPr>
      </p:pic>
      <p:sp>
        <p:nvSpPr>
          <p:cNvPr id="2682" name="Label-6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50800" y="7957185"/>
            <a:ext cx="106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27019</a:t>
            </a:r>
          </a:p>
        </p:txBody>
      </p:sp>
      <p:pic>
        <p:nvPicPr>
          <p:cNvPr id="26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84">
            <a:alphaModFix amt="100000"/>
          </a:blip>
          <a:stretch/>
        </p:blipFill>
        <p:spPr>
          <a:xfrm>
            <a:off x="11175949" y="7654231"/>
            <a:ext cx="6120706" cy="946696"/>
          </a:xfrm>
          <a:prstGeom prst="rect">
            <a:avLst/>
          </a:prstGeom>
        </p:spPr>
      </p:pic>
      <p:pic>
        <p:nvPicPr>
          <p:cNvPr id="26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86">
            <a:alphaModFix amt="100000"/>
          </a:blip>
          <a:stretch/>
        </p:blipFill>
        <p:spPr>
          <a:xfrm>
            <a:off x="11183541" y="7661820"/>
            <a:ext cx="6107311" cy="941040"/>
          </a:xfrm>
          <a:prstGeom prst="rect">
            <a:avLst/>
          </a:prstGeom>
        </p:spPr>
      </p:pic>
      <p:pic>
        <p:nvPicPr>
          <p:cNvPr id="2688" name="iconNode-6,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89">
            <a:alphaModFix amt="100000"/>
            <a:extLst>
              <a:ext uri="{E73C4CAC-55F4-496F-9FF1-8FDA639C8B85}">
                <asvg:svgBlip xmlns:r="http://schemas.openxmlformats.org/officeDocument/2006/relationships" xmlns:asvg="http://schemas.microsoft.com/office/drawing/2016/SVG/main" r:embed="rId178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313224" y="7856220"/>
            <a:ext cx="533400" cy="533400"/>
          </a:xfrm>
          <a:prstGeom prst="rect">
            <a:avLst/>
          </a:prstGeom>
        </p:spPr>
      </p:pic>
      <p:sp>
        <p:nvSpPr>
          <p:cNvPr id="2690" name="Label-6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999024" y="8012430"/>
            <a:ext cx="2271712" cy="228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2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C:\Users\karap\mongodb\shard3</a:t>
            </a:r>
          </a:p>
        </p:txBody>
      </p:sp>
      <p:pic>
        <p:nvPicPr>
          <p:cNvPr id="26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91">
            <a:alphaModFix amt="100000"/>
          </a:blip>
          <a:stretch/>
        </p:blipFill>
        <p:spPr>
          <a:xfrm>
            <a:off x="914400" y="8591550"/>
            <a:ext cx="3148906" cy="889546"/>
          </a:xfrm>
          <a:prstGeom prst="rect">
            <a:avLst/>
          </a:prstGeom>
        </p:spPr>
      </p:pic>
      <p:pic>
        <p:nvPicPr>
          <p:cNvPr id="26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93">
            <a:alphaModFix amt="100000"/>
          </a:blip>
          <a:stretch/>
        </p:blipFill>
        <p:spPr>
          <a:xfrm>
            <a:off x="921990" y="8599140"/>
            <a:ext cx="3135511" cy="883890"/>
          </a:xfrm>
          <a:prstGeom prst="rect">
            <a:avLst/>
          </a:prstGeom>
        </p:spPr>
      </p:pic>
      <p:sp>
        <p:nvSpPr>
          <p:cNvPr id="2696" name="Label-7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78413" y="8867775"/>
            <a:ext cx="14525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mongos</a:t>
            </a:r>
          </a:p>
        </p:txBody>
      </p:sp>
      <p:pic>
        <p:nvPicPr>
          <p:cNvPr id="26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95">
            <a:alphaModFix amt="100000"/>
          </a:blip>
          <a:stretch/>
        </p:blipFill>
        <p:spPr>
          <a:xfrm>
            <a:off x="4063556" y="8591550"/>
            <a:ext cx="4691956" cy="889546"/>
          </a:xfrm>
          <a:prstGeom prst="rect">
            <a:avLst/>
          </a:prstGeom>
        </p:spPr>
      </p:pic>
      <p:pic>
        <p:nvPicPr>
          <p:cNvPr id="27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97">
            <a:alphaModFix amt="100000"/>
          </a:blip>
          <a:stretch/>
        </p:blipFill>
        <p:spPr>
          <a:xfrm>
            <a:off x="4071271" y="8599170"/>
            <a:ext cx="4678561" cy="883890"/>
          </a:xfrm>
          <a:prstGeom prst="rect">
            <a:avLst/>
          </a:prstGeom>
        </p:spPr>
      </p:pic>
      <p:sp>
        <p:nvSpPr>
          <p:cNvPr id="2702" name="Label-7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283518" y="8867775"/>
            <a:ext cx="22812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Routeur mongos</a:t>
            </a:r>
          </a:p>
        </p:txBody>
      </p:sp>
      <p:pic>
        <p:nvPicPr>
          <p:cNvPr id="27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99">
            <a:alphaModFix amt="100000"/>
          </a:blip>
          <a:stretch/>
        </p:blipFill>
        <p:spPr>
          <a:xfrm>
            <a:off x="8754904" y="8591550"/>
            <a:ext cx="2425006" cy="889546"/>
          </a:xfrm>
          <a:prstGeom prst="rect">
            <a:avLst/>
          </a:prstGeom>
        </p:spPr>
      </p:pic>
      <p:pic>
        <p:nvPicPr>
          <p:cNvPr id="27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01">
            <a:alphaModFix amt="100000"/>
          </a:blip>
          <a:stretch/>
        </p:blipFill>
        <p:spPr>
          <a:xfrm>
            <a:off x="8762524" y="8599170"/>
            <a:ext cx="2402086" cy="883890"/>
          </a:xfrm>
          <a:prstGeom prst="rect">
            <a:avLst/>
          </a:prstGeom>
        </p:spPr>
      </p:pic>
      <p:sp>
        <p:nvSpPr>
          <p:cNvPr id="2708" name="Label-7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50800" y="8867775"/>
            <a:ext cx="1062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27020</a:t>
            </a:r>
          </a:p>
        </p:txBody>
      </p:sp>
      <p:pic>
        <p:nvPicPr>
          <p:cNvPr id="27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03">
            <a:alphaModFix amt="100000"/>
          </a:blip>
          <a:stretch/>
        </p:blipFill>
        <p:spPr>
          <a:xfrm>
            <a:off x="11175949" y="8591550"/>
            <a:ext cx="6120706" cy="889546"/>
          </a:xfrm>
          <a:prstGeom prst="rect">
            <a:avLst/>
          </a:prstGeom>
        </p:spPr>
      </p:pic>
      <p:pic>
        <p:nvPicPr>
          <p:cNvPr id="27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05">
            <a:alphaModFix amt="100000"/>
          </a:blip>
          <a:stretch/>
        </p:blipFill>
        <p:spPr>
          <a:xfrm>
            <a:off x="11183541" y="8599140"/>
            <a:ext cx="6107311" cy="883890"/>
          </a:xfrm>
          <a:prstGeom prst="rect">
            <a:avLst/>
          </a:prstGeom>
        </p:spPr>
      </p:pic>
      <p:pic>
        <p:nvPicPr>
          <p:cNvPr id="2714" name="iconNode-7,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08">
            <a:alphaModFix amt="100000"/>
            <a:extLst>
              <a:ext uri="{BDB9EA5F-0CCC-479B-AF9B-22EF199F8F15}">
                <asvg:svgBlip xmlns:r="http://schemas.openxmlformats.org/officeDocument/2006/relationships" xmlns:asvg="http://schemas.microsoft.com/office/drawing/2016/SVG/main" r:embed="rId1807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313224" y="8728710"/>
            <a:ext cx="533400" cy="533400"/>
          </a:xfrm>
          <a:prstGeom prst="rect">
            <a:avLst/>
          </a:prstGeom>
        </p:spPr>
      </p:pic>
      <p:sp>
        <p:nvSpPr>
          <p:cNvPr id="2716" name="Label-7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999024" y="8884920"/>
            <a:ext cx="814388" cy="228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2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pas de data</a:t>
            </a:r>
          </a:p>
        </p:txBody>
      </p:sp>
      <p:sp>
        <p:nvSpPr>
          <p:cNvPr id="271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Architecture proposée pour le </a:t>
            </a:r>
            <a:r>
              <a:rPr lang="en-US" sz="4200" b="1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sharding</a:t>
            </a:r>
            <a:r>
              <a:rPr lang="en-US" sz="4200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 MongoDB</a:t>
            </a:r>
          </a:p>
        </p:txBody>
      </p:sp>
      <p:sp>
        <p:nvSpPr>
          <p:cNvPr id="272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Détails des composants, ports et dossiers de données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4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1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7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14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27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16">
            <a:alphaModFix amt="7000"/>
          </a:blip>
          <a:stretch/>
        </p:blipFill>
        <p:spPr>
          <a:xfrm>
            <a:off x="16764572" y="2600420"/>
            <a:ext cx="1524000" cy="762000"/>
          </a:xfrm>
          <a:prstGeom prst="rect">
            <a:avLst/>
          </a:prstGeom>
        </p:spPr>
      </p:pic>
      <p:pic>
        <p:nvPicPr>
          <p:cNvPr id="27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18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27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20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27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22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27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24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27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26">
            <a:alphaModFix amt="7000"/>
          </a:blip>
          <a:stretch/>
        </p:blipFill>
        <p:spPr>
          <a:xfrm>
            <a:off x="762572" y="2267236"/>
            <a:ext cx="762000" cy="762000"/>
          </a:xfrm>
          <a:prstGeom prst="rect">
            <a:avLst/>
          </a:prstGeom>
        </p:spPr>
      </p:pic>
      <p:pic>
        <p:nvPicPr>
          <p:cNvPr id="27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28">
            <a:alphaModFix amt="7000"/>
          </a:blip>
          <a:stretch/>
        </p:blipFill>
        <p:spPr>
          <a:xfrm>
            <a:off x="1523238" y="742760"/>
            <a:ext cx="762000" cy="1524000"/>
          </a:xfrm>
          <a:prstGeom prst="rect">
            <a:avLst/>
          </a:prstGeom>
        </p:spPr>
      </p:pic>
      <p:pic>
        <p:nvPicPr>
          <p:cNvPr id="2741" name="pyramid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31">
            <a:alphaModFix amt="100000"/>
            <a:extLst>
              <a:ext uri="{5DFE4F58-C709-43CE-AA81-0492F710FA35}">
                <asvg:svgBlip xmlns:r="http://schemas.openxmlformats.org/officeDocument/2006/relationships" xmlns:asvg="http://schemas.microsoft.com/office/drawing/2016/SVG/main" r:embed="rId183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009650" y="4029075"/>
            <a:ext cx="16363950" cy="1333500"/>
          </a:xfrm>
          <a:prstGeom prst="rect">
            <a:avLst/>
          </a:prstGeom>
        </p:spPr>
      </p:pic>
      <p:sp>
        <p:nvSpPr>
          <p:cNvPr id="2742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04900" y="5667375"/>
            <a:ext cx="23479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Étape 1 — Crée les dossiers</a:t>
            </a:r>
          </a:p>
        </p:txBody>
      </p:sp>
      <p:sp>
        <p:nvSpPr>
          <p:cNvPr id="274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00475" y="5667375"/>
            <a:ext cx="2347912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Étape 2 — Démarre les Config Servers</a:t>
            </a:r>
          </a:p>
        </p:txBody>
      </p:sp>
      <p:sp>
        <p:nvSpPr>
          <p:cNvPr id="274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96050" y="5667375"/>
            <a:ext cx="2347912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Étape 3 — Démarrer les shards</a:t>
            </a:r>
          </a:p>
        </p:txBody>
      </p:sp>
      <p:sp>
        <p:nvSpPr>
          <p:cNvPr id="2748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91625" y="5667375"/>
            <a:ext cx="2347912" cy="1609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Étape 4 — Démarrer le mongos (routeur)</a:t>
            </a:r>
          </a:p>
        </p:txBody>
      </p:sp>
      <p:sp>
        <p:nvSpPr>
          <p:cNvPr id="2750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887200" y="5667375"/>
            <a:ext cx="2347912" cy="1209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Étape 5 — Connexion à mongos</a:t>
            </a:r>
          </a:p>
        </p:txBody>
      </p:sp>
      <p:sp>
        <p:nvSpPr>
          <p:cNvPr id="2752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582775" y="5667375"/>
            <a:ext cx="2347912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Étape 6 — Activer le sharding</a:t>
            </a:r>
          </a:p>
        </p:txBody>
      </p:sp>
      <p:sp>
        <p:nvSpPr>
          <p:cNvPr id="2754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6 étape pour configurer un cluster MongoDB</a:t>
            </a:r>
          </a:p>
        </p:txBody>
      </p:sp>
      <p:sp>
        <p:nvSpPr>
          <p:cNvPr id="275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Démarrage des config servers, shards, mongos et activation du sharding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5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3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761" name="bg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83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763" name="Author Name-46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36875" y="5335429"/>
            <a:ext cx="4957762" cy="428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init-sharded-cluster.ps1</a:t>
            </a:r>
          </a:p>
        </p:txBody>
      </p:sp>
      <p:sp>
        <p:nvSpPr>
          <p:cNvPr id="2765" name="Author Desigination-43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36875" y="5754529"/>
            <a:ext cx="49577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000000">
                    <a:alpha val="50000"/>
                  </a:srgbClr>
                </a:solidFill>
                <a:latin typeface="Roboto" panose="00000700000000000000" pitchFamily="2" charset="0"/>
              </a:rPr>
              <a:t>Pascal Duval &amp; chat GPT</a:t>
            </a:r>
          </a:p>
        </p:txBody>
      </p:sp>
      <p:sp>
        <p:nvSpPr>
          <p:cNvPr id="276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36875" y="4178141"/>
            <a:ext cx="5834062" cy="561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Cluster sharded prêt à l'emploi </a:t>
            </a:r>
          </a:p>
        </p:txBody>
      </p:sp>
      <p:pic>
        <p:nvPicPr>
          <p:cNvPr id="27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39">
            <a:alphaModFix amt="100000"/>
          </a:blip>
          <a:stretch/>
        </p:blipFill>
        <p:spPr>
          <a:xfrm>
            <a:off x="11715598" y="1028700"/>
            <a:ext cx="628650" cy="628650"/>
          </a:xfrm>
          <a:prstGeom prst="rect">
            <a:avLst/>
          </a:prstGeom>
        </p:spPr>
      </p:pic>
      <p:pic>
        <p:nvPicPr>
          <p:cNvPr id="2771" name="freshtonesquote-Layer_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42">
            <a:alphaModFix amt="100000"/>
            <a:extLst>
              <a:ext uri="{B7E164C1-1A5D-401C-BF5F-0E52B749DEDF}">
                <asvg:svgBlip xmlns:r="http://schemas.openxmlformats.org/officeDocument/2006/relationships" xmlns:asvg="http://schemas.microsoft.com/office/drawing/2016/SVG/main" r:embed="rId184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872817" y="1185862"/>
            <a:ext cx="314230" cy="31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4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776" name="de63d8d8-e2e7-4d37-bacd-c44089cbbd5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84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7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50">
            <a:alphaModFix amt="100000"/>
          </a:blip>
          <a:stretch/>
        </p:blipFill>
        <p:spPr>
          <a:xfrm>
            <a:off x="0" y="0"/>
            <a:ext cx="762000" cy="762000"/>
          </a:xfrm>
          <a:prstGeom prst="rect">
            <a:avLst/>
          </a:prstGeom>
        </p:spPr>
      </p:pic>
      <p:pic>
        <p:nvPicPr>
          <p:cNvPr id="27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52">
            <a:alphaModFix amt="100000"/>
          </a:blip>
          <a:stretch/>
        </p:blipFill>
        <p:spPr>
          <a:xfrm>
            <a:off x="16764572" y="9524619"/>
            <a:ext cx="762000" cy="762000"/>
          </a:xfrm>
          <a:prstGeom prst="rect">
            <a:avLst/>
          </a:prstGeom>
        </p:spPr>
      </p:pic>
      <p:pic>
        <p:nvPicPr>
          <p:cNvPr id="27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54">
            <a:alphaModFix amt="100000"/>
          </a:blip>
          <a:stretch/>
        </p:blipFill>
        <p:spPr>
          <a:xfrm>
            <a:off x="16764572" y="7181278"/>
            <a:ext cx="1524000" cy="1581150"/>
          </a:xfrm>
          <a:prstGeom prst="rect">
            <a:avLst/>
          </a:prstGeom>
        </p:spPr>
      </p:pic>
      <p:pic>
        <p:nvPicPr>
          <p:cNvPr id="27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56">
            <a:alphaModFix amt="100000"/>
          </a:blip>
          <a:stretch/>
        </p:blipFill>
        <p:spPr>
          <a:xfrm>
            <a:off x="16002000" y="8763476"/>
            <a:ext cx="762000" cy="762000"/>
          </a:xfrm>
          <a:prstGeom prst="rect">
            <a:avLst/>
          </a:prstGeom>
        </p:spPr>
      </p:pic>
      <p:pic>
        <p:nvPicPr>
          <p:cNvPr id="27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58">
            <a:alphaModFix amt="100000"/>
          </a:blip>
          <a:stretch/>
        </p:blipFill>
        <p:spPr>
          <a:xfrm>
            <a:off x="17525333" y="5657850"/>
            <a:ext cx="762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6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791" name="fef1bb69-28a9-4d63-9560-b046e23cf49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86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7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66">
            <a:alphaModFix amt="100000"/>
          </a:blip>
          <a:stretch/>
        </p:blipFill>
        <p:spPr>
          <a:xfrm>
            <a:off x="0" y="0"/>
            <a:ext cx="762000" cy="762000"/>
          </a:xfrm>
          <a:prstGeom prst="rect">
            <a:avLst/>
          </a:prstGeom>
        </p:spPr>
      </p:pic>
      <p:pic>
        <p:nvPicPr>
          <p:cNvPr id="27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68">
            <a:alphaModFix amt="100000"/>
          </a:blip>
          <a:stretch/>
        </p:blipFill>
        <p:spPr>
          <a:xfrm>
            <a:off x="16764572" y="9524619"/>
            <a:ext cx="762000" cy="762000"/>
          </a:xfrm>
          <a:prstGeom prst="rect">
            <a:avLst/>
          </a:prstGeom>
        </p:spPr>
      </p:pic>
      <p:pic>
        <p:nvPicPr>
          <p:cNvPr id="27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70">
            <a:alphaModFix amt="100000"/>
          </a:blip>
          <a:stretch/>
        </p:blipFill>
        <p:spPr>
          <a:xfrm>
            <a:off x="16764572" y="7181278"/>
            <a:ext cx="1524000" cy="1581150"/>
          </a:xfrm>
          <a:prstGeom prst="rect">
            <a:avLst/>
          </a:prstGeom>
        </p:spPr>
      </p:pic>
      <p:pic>
        <p:nvPicPr>
          <p:cNvPr id="27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72">
            <a:alphaModFix amt="100000"/>
          </a:blip>
          <a:stretch/>
        </p:blipFill>
        <p:spPr>
          <a:xfrm>
            <a:off x="16002000" y="8763476"/>
            <a:ext cx="762000" cy="762000"/>
          </a:xfrm>
          <a:prstGeom prst="rect">
            <a:avLst/>
          </a:prstGeom>
        </p:spPr>
      </p:pic>
      <p:pic>
        <p:nvPicPr>
          <p:cNvPr id="28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74">
            <a:alphaModFix amt="100000"/>
          </a:blip>
          <a:stretch/>
        </p:blipFill>
        <p:spPr>
          <a:xfrm>
            <a:off x="17525333" y="5657850"/>
            <a:ext cx="762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7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806" name="39c08999-8273-4539-8724-9da454cc9157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8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8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82">
            <a:alphaModFix amt="100000"/>
          </a:blip>
          <a:stretch/>
        </p:blipFill>
        <p:spPr>
          <a:xfrm>
            <a:off x="0" y="0"/>
            <a:ext cx="762000" cy="762000"/>
          </a:xfrm>
          <a:prstGeom prst="rect">
            <a:avLst/>
          </a:prstGeom>
        </p:spPr>
      </p:pic>
      <p:pic>
        <p:nvPicPr>
          <p:cNvPr id="28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84">
            <a:alphaModFix amt="100000"/>
          </a:blip>
          <a:stretch/>
        </p:blipFill>
        <p:spPr>
          <a:xfrm>
            <a:off x="16764572" y="9524619"/>
            <a:ext cx="762000" cy="762000"/>
          </a:xfrm>
          <a:prstGeom prst="rect">
            <a:avLst/>
          </a:prstGeom>
        </p:spPr>
      </p:pic>
      <p:pic>
        <p:nvPicPr>
          <p:cNvPr id="28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86">
            <a:alphaModFix amt="100000"/>
          </a:blip>
          <a:stretch/>
        </p:blipFill>
        <p:spPr>
          <a:xfrm>
            <a:off x="16764572" y="7181278"/>
            <a:ext cx="1524000" cy="1581150"/>
          </a:xfrm>
          <a:prstGeom prst="rect">
            <a:avLst/>
          </a:prstGeom>
        </p:spPr>
      </p:pic>
      <p:pic>
        <p:nvPicPr>
          <p:cNvPr id="28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88">
            <a:alphaModFix amt="100000"/>
          </a:blip>
          <a:stretch/>
        </p:blipFill>
        <p:spPr>
          <a:xfrm>
            <a:off x="16002000" y="8763476"/>
            <a:ext cx="762000" cy="762000"/>
          </a:xfrm>
          <a:prstGeom prst="rect">
            <a:avLst/>
          </a:prstGeom>
        </p:spPr>
      </p:pic>
      <p:pic>
        <p:nvPicPr>
          <p:cNvPr id="28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90">
            <a:alphaModFix amt="100000"/>
          </a:blip>
          <a:stretch/>
        </p:blipFill>
        <p:spPr>
          <a:xfrm>
            <a:off x="17525333" y="5657850"/>
            <a:ext cx="762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9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9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8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96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28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98">
            <a:alphaModFix amt="7000"/>
          </a:blip>
          <a:stretch/>
        </p:blipFill>
        <p:spPr>
          <a:xfrm>
            <a:off x="16764572" y="2600420"/>
            <a:ext cx="1524000" cy="762000"/>
          </a:xfrm>
          <a:prstGeom prst="rect">
            <a:avLst/>
          </a:prstGeom>
        </p:spPr>
      </p:pic>
      <p:pic>
        <p:nvPicPr>
          <p:cNvPr id="28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00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28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02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28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04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28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06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28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08">
            <a:alphaModFix amt="7000"/>
          </a:blip>
          <a:stretch/>
        </p:blipFill>
        <p:spPr>
          <a:xfrm>
            <a:off x="762572" y="2267236"/>
            <a:ext cx="762000" cy="762000"/>
          </a:xfrm>
          <a:prstGeom prst="rect">
            <a:avLst/>
          </a:prstGeom>
        </p:spPr>
      </p:pic>
      <p:pic>
        <p:nvPicPr>
          <p:cNvPr id="28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10">
            <a:alphaModFix amt="7000"/>
          </a:blip>
          <a:stretch/>
        </p:blipFill>
        <p:spPr>
          <a:xfrm>
            <a:off x="1523238" y="742760"/>
            <a:ext cx="762000" cy="1524000"/>
          </a:xfrm>
          <a:prstGeom prst="rect">
            <a:avLst/>
          </a:prstGeom>
        </p:spPr>
      </p:pic>
      <p:pic>
        <p:nvPicPr>
          <p:cNvPr id="28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12">
            <a:alphaModFix amt="100000"/>
          </a:blip>
          <a:stretch/>
        </p:blipFill>
        <p:spPr>
          <a:xfrm>
            <a:off x="2000250" y="3881438"/>
            <a:ext cx="800100" cy="800100"/>
          </a:xfrm>
          <a:prstGeom prst="rect">
            <a:avLst/>
          </a:prstGeom>
        </p:spPr>
      </p:pic>
      <p:pic>
        <p:nvPicPr>
          <p:cNvPr id="2839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15">
            <a:alphaModFix amt="100000"/>
            <a:extLst>
              <a:ext uri="{4F38BFFA-1927-4CF9-9AC8-A01D63C2DE05}">
                <asvg:svgBlip xmlns:r="http://schemas.openxmlformats.org/officeDocument/2006/relationships" xmlns:asvg="http://schemas.microsoft.com/office/drawing/2016/SVG/main" r:embed="rId191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2200275" y="4081462"/>
            <a:ext cx="400050" cy="400050"/>
          </a:xfrm>
          <a:prstGeom prst="rect">
            <a:avLst/>
          </a:prstGeom>
        </p:spPr>
      </p:pic>
      <p:pic>
        <p:nvPicPr>
          <p:cNvPr id="28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17">
            <a:alphaModFix amt="100000"/>
          </a:blip>
          <a:stretch/>
        </p:blipFill>
        <p:spPr>
          <a:xfrm>
            <a:off x="2288286" y="4569524"/>
            <a:ext cx="228600" cy="228600"/>
          </a:xfrm>
          <a:prstGeom prst="rect">
            <a:avLst/>
          </a:prstGeom>
        </p:spPr>
      </p:pic>
      <p:sp>
        <p:nvSpPr>
          <p:cNvPr id="2843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349341" y="4605814"/>
            <a:ext cx="138112" cy="161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91"/>
              </a:lnSpc>
            </a:pPr>
            <a:r>
              <a:rPr lang="en-US" sz="794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01</a:t>
            </a:r>
          </a:p>
        </p:txBody>
      </p:sp>
      <p:pic>
        <p:nvPicPr>
          <p:cNvPr id="28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19">
            <a:alphaModFix amt="100000"/>
          </a:blip>
          <a:stretch/>
        </p:blipFill>
        <p:spPr>
          <a:xfrm>
            <a:off x="914400" y="5193506"/>
            <a:ext cx="2971800" cy="1028700"/>
          </a:xfrm>
          <a:prstGeom prst="rect">
            <a:avLst/>
          </a:prstGeom>
        </p:spPr>
      </p:pic>
      <p:sp>
        <p:nvSpPr>
          <p:cNvPr id="284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3000" y="5307806"/>
            <a:ext cx="25479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Objectif de routage</a:t>
            </a:r>
          </a:p>
        </p:txBody>
      </p:sp>
      <p:sp>
        <p:nvSpPr>
          <p:cNvPr id="284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6336506"/>
            <a:ext cx="30051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host_location "Paris, France" -&gt; shard1Repl; "Lyon, France" -&gt; shard2Repl; autres villes -&gt; shard3Repl</a:t>
            </a:r>
          </a:p>
        </p:txBody>
      </p:sp>
      <p:pic>
        <p:nvPicPr>
          <p:cNvPr id="28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21">
            <a:alphaModFix amt="100000"/>
          </a:blip>
          <a:stretch/>
        </p:blipFill>
        <p:spPr>
          <a:xfrm>
            <a:off x="4133850" y="5691188"/>
            <a:ext cx="990600" cy="38100"/>
          </a:xfrm>
          <a:prstGeom prst="rect">
            <a:avLst/>
          </a:prstGeom>
        </p:spPr>
      </p:pic>
      <p:pic>
        <p:nvPicPr>
          <p:cNvPr id="285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23">
            <a:alphaModFix amt="100000"/>
          </a:blip>
          <a:stretch/>
        </p:blipFill>
        <p:spPr>
          <a:xfrm>
            <a:off x="5010868" y="5683273"/>
            <a:ext cx="141439" cy="141439"/>
          </a:xfrm>
          <a:prstGeom prst="rect">
            <a:avLst/>
          </a:prstGeom>
        </p:spPr>
      </p:pic>
      <p:pic>
        <p:nvPicPr>
          <p:cNvPr id="285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25">
            <a:alphaModFix amt="100000"/>
          </a:blip>
          <a:stretch/>
        </p:blipFill>
        <p:spPr>
          <a:xfrm>
            <a:off x="5010868" y="5595614"/>
            <a:ext cx="141439" cy="141439"/>
          </a:xfrm>
          <a:prstGeom prst="rect">
            <a:avLst/>
          </a:prstGeom>
        </p:spPr>
      </p:pic>
      <p:pic>
        <p:nvPicPr>
          <p:cNvPr id="28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27">
            <a:alphaModFix amt="100000"/>
          </a:blip>
          <a:stretch/>
        </p:blipFill>
        <p:spPr>
          <a:xfrm>
            <a:off x="6496050" y="3881438"/>
            <a:ext cx="800100" cy="800100"/>
          </a:xfrm>
          <a:prstGeom prst="rect">
            <a:avLst/>
          </a:prstGeom>
        </p:spPr>
      </p:pic>
      <p:pic>
        <p:nvPicPr>
          <p:cNvPr id="2859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30">
            <a:alphaModFix amt="100000"/>
            <a:extLst>
              <a:ext uri="{0D16FCFC-BA1A-425E-9C67-9C3A9C8D2185}">
                <asvg:svgBlip xmlns:r="http://schemas.openxmlformats.org/officeDocument/2006/relationships" xmlns:asvg="http://schemas.microsoft.com/office/drawing/2016/SVG/main" r:embed="rId192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6696075" y="4081462"/>
            <a:ext cx="400050" cy="400050"/>
          </a:xfrm>
          <a:prstGeom prst="rect">
            <a:avLst/>
          </a:prstGeom>
        </p:spPr>
      </p:pic>
      <p:pic>
        <p:nvPicPr>
          <p:cNvPr id="28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32">
            <a:alphaModFix amt="100000"/>
          </a:blip>
          <a:stretch/>
        </p:blipFill>
        <p:spPr>
          <a:xfrm>
            <a:off x="6784086" y="4569524"/>
            <a:ext cx="228600" cy="228600"/>
          </a:xfrm>
          <a:prstGeom prst="rect">
            <a:avLst/>
          </a:prstGeom>
        </p:spPr>
      </p:pic>
      <p:sp>
        <p:nvSpPr>
          <p:cNvPr id="2863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834568" y="4605814"/>
            <a:ext cx="157162" cy="161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91"/>
              </a:lnSpc>
            </a:pPr>
            <a:r>
              <a:rPr lang="en-US" sz="794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02</a:t>
            </a:r>
          </a:p>
        </p:txBody>
      </p:sp>
      <p:pic>
        <p:nvPicPr>
          <p:cNvPr id="28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34">
            <a:alphaModFix amt="100000"/>
          </a:blip>
          <a:stretch/>
        </p:blipFill>
        <p:spPr>
          <a:xfrm>
            <a:off x="5410200" y="5193506"/>
            <a:ext cx="2971800" cy="1028700"/>
          </a:xfrm>
          <a:prstGeom prst="rect">
            <a:avLst/>
          </a:prstGeom>
        </p:spPr>
      </p:pic>
      <p:sp>
        <p:nvSpPr>
          <p:cNvPr id="286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638800" y="5307806"/>
            <a:ext cx="25479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 Indexer la clé</a:t>
            </a:r>
          </a:p>
        </p:txBody>
      </p:sp>
      <p:sp>
        <p:nvSpPr>
          <p:cNvPr id="286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410200" y="6336506"/>
            <a:ext cx="300513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Créer un index sur la clé { host_location: 1 } (obligatoire)</a:t>
            </a:r>
          </a:p>
        </p:txBody>
      </p:sp>
      <p:pic>
        <p:nvPicPr>
          <p:cNvPr id="28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36">
            <a:alphaModFix amt="100000"/>
          </a:blip>
          <a:stretch/>
        </p:blipFill>
        <p:spPr>
          <a:xfrm>
            <a:off x="8629650" y="5691188"/>
            <a:ext cx="990600" cy="38100"/>
          </a:xfrm>
          <a:prstGeom prst="rect">
            <a:avLst/>
          </a:prstGeom>
        </p:spPr>
      </p:pic>
      <p:pic>
        <p:nvPicPr>
          <p:cNvPr id="287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38">
            <a:alphaModFix amt="100000"/>
          </a:blip>
          <a:stretch/>
        </p:blipFill>
        <p:spPr>
          <a:xfrm>
            <a:off x="9506668" y="5683273"/>
            <a:ext cx="141439" cy="141439"/>
          </a:xfrm>
          <a:prstGeom prst="rect">
            <a:avLst/>
          </a:prstGeom>
        </p:spPr>
      </p:pic>
      <p:pic>
        <p:nvPicPr>
          <p:cNvPr id="287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40">
            <a:alphaModFix amt="100000"/>
          </a:blip>
          <a:stretch/>
        </p:blipFill>
        <p:spPr>
          <a:xfrm>
            <a:off x="9506668" y="5595614"/>
            <a:ext cx="141439" cy="141439"/>
          </a:xfrm>
          <a:prstGeom prst="rect">
            <a:avLst/>
          </a:prstGeom>
        </p:spPr>
      </p:pic>
      <p:pic>
        <p:nvPicPr>
          <p:cNvPr id="28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42">
            <a:alphaModFix amt="100000"/>
          </a:blip>
          <a:stretch/>
        </p:blipFill>
        <p:spPr>
          <a:xfrm>
            <a:off x="10991850" y="3881438"/>
            <a:ext cx="800100" cy="800100"/>
          </a:xfrm>
          <a:prstGeom prst="rect">
            <a:avLst/>
          </a:prstGeom>
        </p:spPr>
      </p:pic>
      <p:pic>
        <p:nvPicPr>
          <p:cNvPr id="2879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45">
            <a:alphaModFix amt="100000"/>
            <a:extLst>
              <a:ext uri="{6E2F1DD0-AE13-4F78-A2C9-B893905B21E4}">
                <asvg:svgBlip xmlns:r="http://schemas.openxmlformats.org/officeDocument/2006/relationships" xmlns:asvg="http://schemas.microsoft.com/office/drawing/2016/SVG/main" r:embed="rId194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191875" y="4081462"/>
            <a:ext cx="400050" cy="400050"/>
          </a:xfrm>
          <a:prstGeom prst="rect">
            <a:avLst/>
          </a:prstGeom>
        </p:spPr>
      </p:pic>
      <p:pic>
        <p:nvPicPr>
          <p:cNvPr id="28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47">
            <a:alphaModFix amt="100000"/>
          </a:blip>
          <a:stretch/>
        </p:blipFill>
        <p:spPr>
          <a:xfrm>
            <a:off x="11279886" y="4569524"/>
            <a:ext cx="228600" cy="228600"/>
          </a:xfrm>
          <a:prstGeom prst="rect">
            <a:avLst/>
          </a:prstGeom>
        </p:spPr>
      </p:pic>
      <p:sp>
        <p:nvSpPr>
          <p:cNvPr id="2883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29035" y="4605814"/>
            <a:ext cx="157162" cy="161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91"/>
              </a:lnSpc>
            </a:pPr>
            <a:r>
              <a:rPr lang="en-US" sz="794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03</a:t>
            </a:r>
          </a:p>
        </p:txBody>
      </p:sp>
      <p:pic>
        <p:nvPicPr>
          <p:cNvPr id="28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49">
            <a:alphaModFix amt="100000"/>
          </a:blip>
          <a:stretch/>
        </p:blipFill>
        <p:spPr>
          <a:xfrm>
            <a:off x="9906000" y="5193506"/>
            <a:ext cx="2971800" cy="1028700"/>
          </a:xfrm>
          <a:prstGeom prst="rect">
            <a:avLst/>
          </a:prstGeom>
        </p:spPr>
      </p:pic>
      <p:sp>
        <p:nvSpPr>
          <p:cNvPr id="288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34600" y="5307806"/>
            <a:ext cx="25479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Activer le sharding</a:t>
            </a:r>
          </a:p>
        </p:txBody>
      </p:sp>
      <p:sp>
        <p:nvSpPr>
          <p:cNvPr id="288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06000" y="6336506"/>
            <a:ext cx="300513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Activer le sharding sur la base airbnbShard (obligatoire)</a:t>
            </a:r>
          </a:p>
        </p:txBody>
      </p:sp>
      <p:pic>
        <p:nvPicPr>
          <p:cNvPr id="28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51">
            <a:alphaModFix amt="100000"/>
          </a:blip>
          <a:stretch/>
        </p:blipFill>
        <p:spPr>
          <a:xfrm>
            <a:off x="13125450" y="5691188"/>
            <a:ext cx="990600" cy="38100"/>
          </a:xfrm>
          <a:prstGeom prst="rect">
            <a:avLst/>
          </a:prstGeom>
        </p:spPr>
      </p:pic>
      <p:pic>
        <p:nvPicPr>
          <p:cNvPr id="289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53">
            <a:alphaModFix amt="100000"/>
          </a:blip>
          <a:stretch/>
        </p:blipFill>
        <p:spPr>
          <a:xfrm>
            <a:off x="14002464" y="5683273"/>
            <a:ext cx="141440" cy="141439"/>
          </a:xfrm>
          <a:prstGeom prst="rect">
            <a:avLst/>
          </a:prstGeom>
        </p:spPr>
      </p:pic>
      <p:pic>
        <p:nvPicPr>
          <p:cNvPr id="289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55">
            <a:alphaModFix amt="100000"/>
          </a:blip>
          <a:stretch/>
        </p:blipFill>
        <p:spPr>
          <a:xfrm>
            <a:off x="14002464" y="5595614"/>
            <a:ext cx="141440" cy="141439"/>
          </a:xfrm>
          <a:prstGeom prst="rect">
            <a:avLst/>
          </a:prstGeom>
        </p:spPr>
      </p:pic>
      <p:pic>
        <p:nvPicPr>
          <p:cNvPr id="28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57">
            <a:alphaModFix amt="100000"/>
          </a:blip>
          <a:stretch/>
        </p:blipFill>
        <p:spPr>
          <a:xfrm>
            <a:off x="15487650" y="3881438"/>
            <a:ext cx="800100" cy="800100"/>
          </a:xfrm>
          <a:prstGeom prst="rect">
            <a:avLst/>
          </a:prstGeom>
        </p:spPr>
      </p:pic>
      <p:pic>
        <p:nvPicPr>
          <p:cNvPr id="2899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60">
            <a:alphaModFix amt="100000"/>
            <a:extLst>
              <a:ext uri="{2759C4E0-F07C-40B7-BA8D-DF14FB2A98AC}">
                <asvg:svgBlip xmlns:r="http://schemas.openxmlformats.org/officeDocument/2006/relationships" xmlns:asvg="http://schemas.microsoft.com/office/drawing/2016/SVG/main" r:embed="rId1959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5687675" y="4081462"/>
            <a:ext cx="400050" cy="400050"/>
          </a:xfrm>
          <a:prstGeom prst="rect">
            <a:avLst/>
          </a:prstGeom>
        </p:spPr>
      </p:pic>
      <p:pic>
        <p:nvPicPr>
          <p:cNvPr id="29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62">
            <a:alphaModFix amt="100000"/>
          </a:blip>
          <a:stretch/>
        </p:blipFill>
        <p:spPr>
          <a:xfrm>
            <a:off x="15775686" y="4569524"/>
            <a:ext cx="228600" cy="228600"/>
          </a:xfrm>
          <a:prstGeom prst="rect">
            <a:avLst/>
          </a:prstGeom>
        </p:spPr>
      </p:pic>
      <p:sp>
        <p:nvSpPr>
          <p:cNvPr id="2903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821787" y="4605814"/>
            <a:ext cx="166688" cy="161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91"/>
              </a:lnSpc>
            </a:pPr>
            <a:r>
              <a:rPr lang="en-US" sz="794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04</a:t>
            </a:r>
          </a:p>
        </p:txBody>
      </p:sp>
      <p:pic>
        <p:nvPicPr>
          <p:cNvPr id="29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64">
            <a:alphaModFix amt="100000"/>
          </a:blip>
          <a:stretch/>
        </p:blipFill>
        <p:spPr>
          <a:xfrm>
            <a:off x="14401800" y="5193506"/>
            <a:ext cx="2971800" cy="1028700"/>
          </a:xfrm>
          <a:prstGeom prst="rect">
            <a:avLst/>
          </a:prstGeom>
        </p:spPr>
      </p:pic>
      <p:sp>
        <p:nvSpPr>
          <p:cNvPr id="290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630400" y="5307806"/>
            <a:ext cx="25479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Finaliser</a:t>
            </a:r>
          </a:p>
        </p:txBody>
      </p:sp>
      <p:sp>
        <p:nvSpPr>
          <p:cNvPr id="290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401800" y="6336506"/>
            <a:ext cx="3005138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déplacer les chunks manuellement</a:t>
            </a:r>
          </a:p>
        </p:txBody>
      </p:sp>
      <p:sp>
        <p:nvSpPr>
          <p:cNvPr id="291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Répartir une collection entre trois shards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6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9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7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9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72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29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74">
            <a:alphaModFix amt="7000"/>
          </a:blip>
          <a:stretch/>
        </p:blipFill>
        <p:spPr>
          <a:xfrm>
            <a:off x="16764572" y="2600420"/>
            <a:ext cx="1524000" cy="762000"/>
          </a:xfrm>
          <a:prstGeom prst="rect">
            <a:avLst/>
          </a:prstGeom>
        </p:spPr>
      </p:pic>
      <p:pic>
        <p:nvPicPr>
          <p:cNvPr id="29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76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29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78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29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80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29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82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29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84">
            <a:alphaModFix amt="7000"/>
          </a:blip>
          <a:stretch/>
        </p:blipFill>
        <p:spPr>
          <a:xfrm>
            <a:off x="762572" y="2267236"/>
            <a:ext cx="762000" cy="762000"/>
          </a:xfrm>
          <a:prstGeom prst="rect">
            <a:avLst/>
          </a:prstGeom>
        </p:spPr>
      </p:pic>
      <p:pic>
        <p:nvPicPr>
          <p:cNvPr id="29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86">
            <a:alphaModFix amt="7000"/>
          </a:blip>
          <a:stretch/>
        </p:blipFill>
        <p:spPr>
          <a:xfrm>
            <a:off x="1523238" y="742760"/>
            <a:ext cx="762000" cy="1524000"/>
          </a:xfrm>
          <a:prstGeom prst="rect">
            <a:avLst/>
          </a:prstGeom>
        </p:spPr>
      </p:pic>
      <p:pic>
        <p:nvPicPr>
          <p:cNvPr id="29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88">
            <a:alphaModFix amt="100000"/>
          </a:blip>
          <a:stretch/>
        </p:blipFill>
        <p:spPr>
          <a:xfrm>
            <a:off x="914400" y="2628900"/>
            <a:ext cx="5596831" cy="841921"/>
          </a:xfrm>
          <a:prstGeom prst="rect">
            <a:avLst/>
          </a:prstGeom>
        </p:spPr>
      </p:pic>
      <p:pic>
        <p:nvPicPr>
          <p:cNvPr id="29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90">
            <a:alphaModFix amt="100000"/>
          </a:blip>
          <a:stretch/>
        </p:blipFill>
        <p:spPr>
          <a:xfrm>
            <a:off x="921990" y="2636490"/>
            <a:ext cx="5573911" cy="836265"/>
          </a:xfrm>
          <a:prstGeom prst="rect">
            <a:avLst/>
          </a:prstGeom>
        </p:spPr>
      </p:pic>
      <p:sp>
        <p:nvSpPr>
          <p:cNvPr id="2937" name="text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234785" y="2880170"/>
            <a:ext cx="9858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Élément</a:t>
            </a:r>
          </a:p>
        </p:txBody>
      </p:sp>
      <p:pic>
        <p:nvPicPr>
          <p:cNvPr id="29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92">
            <a:alphaModFix amt="100000"/>
          </a:blip>
          <a:stretch/>
        </p:blipFill>
        <p:spPr>
          <a:xfrm>
            <a:off x="6507659" y="2628900"/>
            <a:ext cx="6130231" cy="841921"/>
          </a:xfrm>
          <a:prstGeom prst="rect">
            <a:avLst/>
          </a:prstGeom>
        </p:spPr>
      </p:pic>
      <p:pic>
        <p:nvPicPr>
          <p:cNvPr id="29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94">
            <a:alphaModFix amt="100000"/>
          </a:blip>
          <a:stretch/>
        </p:blipFill>
        <p:spPr>
          <a:xfrm>
            <a:off x="6515249" y="2636490"/>
            <a:ext cx="6116836" cy="836265"/>
          </a:xfrm>
          <a:prstGeom prst="rect">
            <a:avLst/>
          </a:prstGeom>
        </p:spPr>
      </p:pic>
      <p:sp>
        <p:nvSpPr>
          <p:cNvPr id="2943" name="text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31129" y="2880170"/>
            <a:ext cx="1109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État actuel</a:t>
            </a:r>
          </a:p>
        </p:txBody>
      </p:sp>
      <p:pic>
        <p:nvPicPr>
          <p:cNvPr id="29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96">
            <a:alphaModFix amt="100000"/>
          </a:blip>
          <a:stretch/>
        </p:blipFill>
        <p:spPr>
          <a:xfrm>
            <a:off x="12635208" y="2628900"/>
            <a:ext cx="4663381" cy="841921"/>
          </a:xfrm>
          <a:prstGeom prst="rect">
            <a:avLst/>
          </a:prstGeom>
        </p:spPr>
      </p:pic>
      <p:pic>
        <p:nvPicPr>
          <p:cNvPr id="29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98">
            <a:alphaModFix amt="100000"/>
          </a:blip>
          <a:stretch/>
        </p:blipFill>
        <p:spPr>
          <a:xfrm>
            <a:off x="12642799" y="2636490"/>
            <a:ext cx="4649986" cy="836265"/>
          </a:xfrm>
          <a:prstGeom prst="rect">
            <a:avLst/>
          </a:prstGeom>
        </p:spPr>
      </p:pic>
      <p:sp>
        <p:nvSpPr>
          <p:cNvPr id="2949" name="text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76832" y="2880170"/>
            <a:ext cx="14144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Commentaire</a:t>
            </a:r>
          </a:p>
        </p:txBody>
      </p:sp>
      <p:pic>
        <p:nvPicPr>
          <p:cNvPr id="29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00">
            <a:alphaModFix amt="100000"/>
          </a:blip>
          <a:stretch/>
        </p:blipFill>
        <p:spPr>
          <a:xfrm>
            <a:off x="914400" y="3462784"/>
            <a:ext cx="5596831" cy="841921"/>
          </a:xfrm>
          <a:prstGeom prst="rect">
            <a:avLst/>
          </a:prstGeom>
        </p:spPr>
      </p:pic>
      <p:pic>
        <p:nvPicPr>
          <p:cNvPr id="29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02">
            <a:alphaModFix amt="100000"/>
          </a:blip>
          <a:stretch/>
        </p:blipFill>
        <p:spPr>
          <a:xfrm>
            <a:off x="921990" y="3470375"/>
            <a:ext cx="5573911" cy="836265"/>
          </a:xfrm>
          <a:prstGeom prst="rect">
            <a:avLst/>
          </a:prstGeom>
        </p:spPr>
      </p:pic>
      <p:sp>
        <p:nvSpPr>
          <p:cNvPr id="2955" name="text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750915" y="3714083"/>
            <a:ext cx="19573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Shards enregistrés</a:t>
            </a:r>
          </a:p>
        </p:txBody>
      </p:sp>
      <p:pic>
        <p:nvPicPr>
          <p:cNvPr id="29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04">
            <a:alphaModFix amt="100000"/>
          </a:blip>
          <a:stretch/>
        </p:blipFill>
        <p:spPr>
          <a:xfrm>
            <a:off x="6507659" y="3462784"/>
            <a:ext cx="6130231" cy="841921"/>
          </a:xfrm>
          <a:prstGeom prst="rect">
            <a:avLst/>
          </a:prstGeom>
        </p:spPr>
      </p:pic>
      <p:pic>
        <p:nvPicPr>
          <p:cNvPr id="29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06">
            <a:alphaModFix amt="100000"/>
          </a:blip>
          <a:stretch/>
        </p:blipFill>
        <p:spPr>
          <a:xfrm>
            <a:off x="6515290" y="3470434"/>
            <a:ext cx="6116836" cy="836265"/>
          </a:xfrm>
          <a:prstGeom prst="rect">
            <a:avLst/>
          </a:prstGeom>
        </p:spPr>
      </p:pic>
      <p:sp>
        <p:nvSpPr>
          <p:cNvPr id="2961" name="Label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87680" y="3714083"/>
            <a:ext cx="60055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✅ Oui</a:t>
            </a:r>
          </a:p>
        </p:txBody>
      </p:sp>
      <p:pic>
        <p:nvPicPr>
          <p:cNvPr id="29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08">
            <a:alphaModFix amt="100000"/>
          </a:blip>
          <a:stretch/>
        </p:blipFill>
        <p:spPr>
          <a:xfrm>
            <a:off x="12635208" y="3462784"/>
            <a:ext cx="4663381" cy="841921"/>
          </a:xfrm>
          <a:prstGeom prst="rect">
            <a:avLst/>
          </a:prstGeom>
        </p:spPr>
      </p:pic>
      <p:pic>
        <p:nvPicPr>
          <p:cNvPr id="29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10">
            <a:alphaModFix amt="100000"/>
          </a:blip>
          <a:stretch/>
        </p:blipFill>
        <p:spPr>
          <a:xfrm>
            <a:off x="12642799" y="3470375"/>
            <a:ext cx="4649986" cy="836265"/>
          </a:xfrm>
          <a:prstGeom prst="rect">
            <a:avLst/>
          </a:prstGeom>
        </p:spPr>
      </p:pic>
      <p:sp>
        <p:nvSpPr>
          <p:cNvPr id="2967" name="Label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15304" y="3714083"/>
            <a:ext cx="4538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Tous bien visibles</a:t>
            </a:r>
          </a:p>
        </p:txBody>
      </p:sp>
      <p:pic>
        <p:nvPicPr>
          <p:cNvPr id="29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12">
            <a:alphaModFix amt="100000"/>
          </a:blip>
          <a:stretch/>
        </p:blipFill>
        <p:spPr>
          <a:xfrm>
            <a:off x="914400" y="4296728"/>
            <a:ext cx="5596831" cy="841921"/>
          </a:xfrm>
          <a:prstGeom prst="rect">
            <a:avLst/>
          </a:prstGeom>
        </p:spPr>
      </p:pic>
      <p:pic>
        <p:nvPicPr>
          <p:cNvPr id="29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14">
            <a:alphaModFix amt="100000"/>
          </a:blip>
          <a:stretch/>
        </p:blipFill>
        <p:spPr>
          <a:xfrm>
            <a:off x="922020" y="4304348"/>
            <a:ext cx="5573911" cy="836265"/>
          </a:xfrm>
          <a:prstGeom prst="rect">
            <a:avLst/>
          </a:prstGeom>
        </p:spPr>
      </p:pic>
      <p:sp>
        <p:nvSpPr>
          <p:cNvPr id="2973" name="text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921222" y="4547997"/>
            <a:ext cx="16144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Clé de sharding</a:t>
            </a:r>
          </a:p>
        </p:txBody>
      </p:sp>
      <p:pic>
        <p:nvPicPr>
          <p:cNvPr id="29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16">
            <a:alphaModFix amt="100000"/>
          </a:blip>
          <a:stretch/>
        </p:blipFill>
        <p:spPr>
          <a:xfrm>
            <a:off x="6507766" y="4296728"/>
            <a:ext cx="6130231" cy="841921"/>
          </a:xfrm>
          <a:prstGeom prst="rect">
            <a:avLst/>
          </a:prstGeom>
        </p:spPr>
      </p:pic>
      <p:pic>
        <p:nvPicPr>
          <p:cNvPr id="29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18">
            <a:alphaModFix amt="100000"/>
          </a:blip>
          <a:stretch/>
        </p:blipFill>
        <p:spPr>
          <a:xfrm>
            <a:off x="6515290" y="4304348"/>
            <a:ext cx="6116836" cy="836265"/>
          </a:xfrm>
          <a:prstGeom prst="rect">
            <a:avLst/>
          </a:prstGeom>
        </p:spPr>
      </p:pic>
      <p:sp>
        <p:nvSpPr>
          <p:cNvPr id="2979" name="Label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87680" y="4547997"/>
            <a:ext cx="60055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✅ { host_location: 1 }</a:t>
            </a:r>
          </a:p>
        </p:txBody>
      </p:sp>
      <p:pic>
        <p:nvPicPr>
          <p:cNvPr id="29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20">
            <a:alphaModFix amt="100000"/>
          </a:blip>
          <a:stretch/>
        </p:blipFill>
        <p:spPr>
          <a:xfrm>
            <a:off x="12635294" y="4296728"/>
            <a:ext cx="4663381" cy="841921"/>
          </a:xfrm>
          <a:prstGeom prst="rect">
            <a:avLst/>
          </a:prstGeom>
        </p:spPr>
      </p:pic>
      <p:pic>
        <p:nvPicPr>
          <p:cNvPr id="29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22">
            <a:alphaModFix amt="100000"/>
          </a:blip>
          <a:stretch/>
        </p:blipFill>
        <p:spPr>
          <a:xfrm>
            <a:off x="12642914" y="4304348"/>
            <a:ext cx="4649986" cy="836265"/>
          </a:xfrm>
          <a:prstGeom prst="rect">
            <a:avLst/>
          </a:prstGeom>
        </p:spPr>
      </p:pic>
      <p:sp>
        <p:nvSpPr>
          <p:cNvPr id="2985" name="Label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15304" y="4547997"/>
            <a:ext cx="4538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Correct</a:t>
            </a:r>
          </a:p>
        </p:txBody>
      </p:sp>
      <p:pic>
        <p:nvPicPr>
          <p:cNvPr id="29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24">
            <a:alphaModFix amt="100000"/>
          </a:blip>
          <a:stretch/>
        </p:blipFill>
        <p:spPr>
          <a:xfrm>
            <a:off x="914400" y="5130641"/>
            <a:ext cx="5596831" cy="841921"/>
          </a:xfrm>
          <a:prstGeom prst="rect">
            <a:avLst/>
          </a:prstGeom>
        </p:spPr>
      </p:pic>
      <p:pic>
        <p:nvPicPr>
          <p:cNvPr id="29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26">
            <a:alphaModFix amt="100000"/>
          </a:blip>
          <a:stretch/>
        </p:blipFill>
        <p:spPr>
          <a:xfrm>
            <a:off x="922020" y="5138261"/>
            <a:ext cx="5573911" cy="836265"/>
          </a:xfrm>
          <a:prstGeom prst="rect">
            <a:avLst/>
          </a:prstGeom>
        </p:spPr>
      </p:pic>
      <p:sp>
        <p:nvSpPr>
          <p:cNvPr id="2991" name="text-3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781205" y="5381911"/>
            <a:ext cx="18907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Données réparties</a:t>
            </a:r>
          </a:p>
        </p:txBody>
      </p:sp>
      <p:pic>
        <p:nvPicPr>
          <p:cNvPr id="29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28">
            <a:alphaModFix amt="100000"/>
          </a:blip>
          <a:stretch/>
        </p:blipFill>
        <p:spPr>
          <a:xfrm>
            <a:off x="6507766" y="5130641"/>
            <a:ext cx="6130231" cy="841921"/>
          </a:xfrm>
          <a:prstGeom prst="rect">
            <a:avLst/>
          </a:prstGeom>
        </p:spPr>
      </p:pic>
      <p:pic>
        <p:nvPicPr>
          <p:cNvPr id="29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30">
            <a:alphaModFix amt="100000"/>
          </a:blip>
          <a:stretch/>
        </p:blipFill>
        <p:spPr>
          <a:xfrm>
            <a:off x="6515290" y="5138261"/>
            <a:ext cx="6116836" cy="836265"/>
          </a:xfrm>
          <a:prstGeom prst="rect">
            <a:avLst/>
          </a:prstGeom>
        </p:spPr>
      </p:pic>
      <p:sp>
        <p:nvSpPr>
          <p:cNvPr id="2997" name="Label-3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87680" y="5381911"/>
            <a:ext cx="60055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⚠️ shard3 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vide</a:t>
            </a:r>
          </a:p>
        </p:txBody>
      </p:sp>
      <p:pic>
        <p:nvPicPr>
          <p:cNvPr id="29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32">
            <a:alphaModFix amt="100000"/>
          </a:blip>
          <a:stretch/>
        </p:blipFill>
        <p:spPr>
          <a:xfrm>
            <a:off x="12635294" y="5130641"/>
            <a:ext cx="4663381" cy="841921"/>
          </a:xfrm>
          <a:prstGeom prst="rect">
            <a:avLst/>
          </a:prstGeom>
        </p:spPr>
      </p:pic>
      <p:pic>
        <p:nvPicPr>
          <p:cNvPr id="30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34">
            <a:alphaModFix amt="100000"/>
          </a:blip>
          <a:stretch/>
        </p:blipFill>
        <p:spPr>
          <a:xfrm>
            <a:off x="12642914" y="5138261"/>
            <a:ext cx="4649986" cy="836265"/>
          </a:xfrm>
          <a:prstGeom prst="rect">
            <a:avLst/>
          </a:prstGeom>
        </p:spPr>
      </p:pic>
      <p:sp>
        <p:nvSpPr>
          <p:cNvPr id="3003" name="Label-3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15304" y="5381911"/>
            <a:ext cx="4538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Besoin d'ajustement</a:t>
            </a:r>
          </a:p>
        </p:txBody>
      </p:sp>
      <p:pic>
        <p:nvPicPr>
          <p:cNvPr id="30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36">
            <a:alphaModFix amt="100000"/>
          </a:blip>
          <a:stretch/>
        </p:blipFill>
        <p:spPr>
          <a:xfrm>
            <a:off x="914400" y="5964555"/>
            <a:ext cx="5596831" cy="841921"/>
          </a:xfrm>
          <a:prstGeom prst="rect">
            <a:avLst/>
          </a:prstGeom>
        </p:spPr>
      </p:pic>
      <p:pic>
        <p:nvPicPr>
          <p:cNvPr id="30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38">
            <a:alphaModFix amt="100000"/>
          </a:blip>
          <a:stretch/>
        </p:blipFill>
        <p:spPr>
          <a:xfrm>
            <a:off x="922020" y="5972175"/>
            <a:ext cx="5573911" cy="836265"/>
          </a:xfrm>
          <a:prstGeom prst="rect">
            <a:avLst/>
          </a:prstGeom>
        </p:spPr>
      </p:pic>
      <p:sp>
        <p:nvSpPr>
          <p:cNvPr id="3009" name="text-4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95911" y="6215824"/>
            <a:ext cx="12620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Chunk Paris</a:t>
            </a:r>
          </a:p>
        </p:txBody>
      </p:sp>
      <p:pic>
        <p:nvPicPr>
          <p:cNvPr id="30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40">
            <a:alphaModFix amt="100000"/>
          </a:blip>
          <a:stretch/>
        </p:blipFill>
        <p:spPr>
          <a:xfrm>
            <a:off x="6507766" y="5964555"/>
            <a:ext cx="6130231" cy="841921"/>
          </a:xfrm>
          <a:prstGeom prst="rect">
            <a:avLst/>
          </a:prstGeom>
        </p:spPr>
      </p:pic>
      <p:pic>
        <p:nvPicPr>
          <p:cNvPr id="30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42">
            <a:alphaModFix amt="100000"/>
          </a:blip>
          <a:stretch/>
        </p:blipFill>
        <p:spPr>
          <a:xfrm>
            <a:off x="6515290" y="5972175"/>
            <a:ext cx="6116836" cy="836265"/>
          </a:xfrm>
          <a:prstGeom prst="rect">
            <a:avLst/>
          </a:prstGeom>
        </p:spPr>
      </p:pic>
      <p:sp>
        <p:nvSpPr>
          <p:cNvPr id="3015" name="Label-4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87680" y="6215824"/>
            <a:ext cx="60055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✅ sur shard1</a:t>
            </a:r>
          </a:p>
        </p:txBody>
      </p:sp>
      <p:pic>
        <p:nvPicPr>
          <p:cNvPr id="30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44">
            <a:alphaModFix amt="100000"/>
          </a:blip>
          <a:stretch/>
        </p:blipFill>
        <p:spPr>
          <a:xfrm>
            <a:off x="12635294" y="5964555"/>
            <a:ext cx="4663381" cy="841921"/>
          </a:xfrm>
          <a:prstGeom prst="rect">
            <a:avLst/>
          </a:prstGeom>
        </p:spPr>
      </p:pic>
      <p:pic>
        <p:nvPicPr>
          <p:cNvPr id="30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46">
            <a:alphaModFix amt="100000"/>
          </a:blip>
          <a:stretch/>
        </p:blipFill>
        <p:spPr>
          <a:xfrm>
            <a:off x="12642914" y="5972175"/>
            <a:ext cx="4649986" cy="836265"/>
          </a:xfrm>
          <a:prstGeom prst="rect">
            <a:avLst/>
          </a:prstGeom>
        </p:spPr>
      </p:pic>
      <p:sp>
        <p:nvSpPr>
          <p:cNvPr id="3021" name="Label-4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15304" y="6215824"/>
            <a:ext cx="4538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OK</a:t>
            </a:r>
          </a:p>
        </p:txBody>
      </p:sp>
      <p:pic>
        <p:nvPicPr>
          <p:cNvPr id="30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48">
            <a:alphaModFix amt="100000"/>
          </a:blip>
          <a:stretch/>
        </p:blipFill>
        <p:spPr>
          <a:xfrm>
            <a:off x="914400" y="6798469"/>
            <a:ext cx="5596831" cy="841921"/>
          </a:xfrm>
          <a:prstGeom prst="rect">
            <a:avLst/>
          </a:prstGeom>
        </p:spPr>
      </p:pic>
      <p:pic>
        <p:nvPicPr>
          <p:cNvPr id="30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50">
            <a:alphaModFix amt="100000"/>
          </a:blip>
          <a:stretch/>
        </p:blipFill>
        <p:spPr>
          <a:xfrm>
            <a:off x="922020" y="6806089"/>
            <a:ext cx="5573911" cy="836265"/>
          </a:xfrm>
          <a:prstGeom prst="rect">
            <a:avLst/>
          </a:prstGeom>
        </p:spPr>
      </p:pic>
      <p:sp>
        <p:nvSpPr>
          <p:cNvPr id="3027" name="text-5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120295" y="7049738"/>
            <a:ext cx="12144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Chunk Lyon</a:t>
            </a:r>
          </a:p>
        </p:txBody>
      </p:sp>
      <p:pic>
        <p:nvPicPr>
          <p:cNvPr id="30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52">
            <a:alphaModFix amt="100000"/>
          </a:blip>
          <a:stretch/>
        </p:blipFill>
        <p:spPr>
          <a:xfrm>
            <a:off x="6507766" y="6798469"/>
            <a:ext cx="6130231" cy="841921"/>
          </a:xfrm>
          <a:prstGeom prst="rect">
            <a:avLst/>
          </a:prstGeom>
        </p:spPr>
      </p:pic>
      <p:pic>
        <p:nvPicPr>
          <p:cNvPr id="30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54">
            <a:alphaModFix amt="100000"/>
          </a:blip>
          <a:stretch/>
        </p:blipFill>
        <p:spPr>
          <a:xfrm>
            <a:off x="6515290" y="6806089"/>
            <a:ext cx="6116836" cy="836265"/>
          </a:xfrm>
          <a:prstGeom prst="rect">
            <a:avLst/>
          </a:prstGeom>
        </p:spPr>
      </p:pic>
      <p:sp>
        <p:nvSpPr>
          <p:cNvPr id="3033" name="Label-5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87680" y="7049738"/>
            <a:ext cx="60055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✅ sur shard2</a:t>
            </a:r>
          </a:p>
        </p:txBody>
      </p:sp>
      <p:pic>
        <p:nvPicPr>
          <p:cNvPr id="30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56">
            <a:alphaModFix amt="100000"/>
          </a:blip>
          <a:stretch/>
        </p:blipFill>
        <p:spPr>
          <a:xfrm>
            <a:off x="12635294" y="6798469"/>
            <a:ext cx="4663381" cy="841921"/>
          </a:xfrm>
          <a:prstGeom prst="rect">
            <a:avLst/>
          </a:prstGeom>
        </p:spPr>
      </p:pic>
      <p:pic>
        <p:nvPicPr>
          <p:cNvPr id="30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58">
            <a:alphaModFix amt="100000"/>
          </a:blip>
          <a:stretch/>
        </p:blipFill>
        <p:spPr>
          <a:xfrm>
            <a:off x="12642914" y="6806089"/>
            <a:ext cx="4649986" cy="836265"/>
          </a:xfrm>
          <a:prstGeom prst="rect">
            <a:avLst/>
          </a:prstGeom>
        </p:spPr>
      </p:pic>
      <p:sp>
        <p:nvSpPr>
          <p:cNvPr id="3039" name="Label-5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15304" y="7049738"/>
            <a:ext cx="4538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OK</a:t>
            </a:r>
          </a:p>
        </p:txBody>
      </p:sp>
      <p:pic>
        <p:nvPicPr>
          <p:cNvPr id="30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60">
            <a:alphaModFix amt="100000"/>
          </a:blip>
          <a:stretch/>
        </p:blipFill>
        <p:spPr>
          <a:xfrm>
            <a:off x="914400" y="7632382"/>
            <a:ext cx="5596831" cy="841921"/>
          </a:xfrm>
          <a:prstGeom prst="rect">
            <a:avLst/>
          </a:prstGeom>
        </p:spPr>
      </p:pic>
      <p:pic>
        <p:nvPicPr>
          <p:cNvPr id="30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62">
            <a:alphaModFix amt="100000"/>
          </a:blip>
          <a:stretch/>
        </p:blipFill>
        <p:spPr>
          <a:xfrm>
            <a:off x="922020" y="7640002"/>
            <a:ext cx="5573911" cy="836265"/>
          </a:xfrm>
          <a:prstGeom prst="rect">
            <a:avLst/>
          </a:prstGeom>
        </p:spPr>
      </p:pic>
      <p:sp>
        <p:nvSpPr>
          <p:cNvPr id="3045" name="text-6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474976" y="7883652"/>
            <a:ext cx="25098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Chunk “reste du monde”</a:t>
            </a:r>
          </a:p>
        </p:txBody>
      </p:sp>
      <p:pic>
        <p:nvPicPr>
          <p:cNvPr id="30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64">
            <a:alphaModFix amt="100000"/>
          </a:blip>
          <a:stretch/>
        </p:blipFill>
        <p:spPr>
          <a:xfrm>
            <a:off x="6507766" y="7632382"/>
            <a:ext cx="6130231" cy="841921"/>
          </a:xfrm>
          <a:prstGeom prst="rect">
            <a:avLst/>
          </a:prstGeom>
        </p:spPr>
      </p:pic>
      <p:pic>
        <p:nvPicPr>
          <p:cNvPr id="30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66">
            <a:alphaModFix amt="100000"/>
          </a:blip>
          <a:stretch/>
        </p:blipFill>
        <p:spPr>
          <a:xfrm>
            <a:off x="6515290" y="7640002"/>
            <a:ext cx="6116836" cy="836265"/>
          </a:xfrm>
          <a:prstGeom prst="rect">
            <a:avLst/>
          </a:prstGeom>
        </p:spPr>
      </p:pic>
      <p:sp>
        <p:nvSpPr>
          <p:cNvPr id="3051" name="Label-6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87680" y="7883652"/>
            <a:ext cx="60055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❌ </a:t>
            </a:r>
            <a:r>
              <a:rPr lang="en-US" sz="1800" b="1" spc="-9" dirty="0">
                <a:solidFill>
                  <a:srgbClr val="262D36"/>
                </a:solidFill>
                <a:latin typeface="Roboto" panose="00000700000000000000" pitchFamily="2" charset="0"/>
              </a:rPr>
              <a:t>non présent sur shard3</a:t>
            </a:r>
          </a:p>
        </p:txBody>
      </p:sp>
      <p:pic>
        <p:nvPicPr>
          <p:cNvPr id="30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68">
            <a:alphaModFix amt="100000"/>
          </a:blip>
          <a:stretch/>
        </p:blipFill>
        <p:spPr>
          <a:xfrm>
            <a:off x="12635294" y="7632382"/>
            <a:ext cx="4663381" cy="841921"/>
          </a:xfrm>
          <a:prstGeom prst="rect">
            <a:avLst/>
          </a:prstGeom>
        </p:spPr>
      </p:pic>
      <p:pic>
        <p:nvPicPr>
          <p:cNvPr id="30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70">
            <a:alphaModFix amt="100000"/>
          </a:blip>
          <a:stretch/>
        </p:blipFill>
        <p:spPr>
          <a:xfrm>
            <a:off x="12642914" y="7640002"/>
            <a:ext cx="4649986" cy="836265"/>
          </a:xfrm>
          <a:prstGeom prst="rect">
            <a:avLst/>
          </a:prstGeom>
        </p:spPr>
      </p:pic>
      <p:sp>
        <p:nvSpPr>
          <p:cNvPr id="3057" name="Label-6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15304" y="7883652"/>
            <a:ext cx="4538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À corriger</a:t>
            </a:r>
          </a:p>
        </p:txBody>
      </p:sp>
      <p:pic>
        <p:nvPicPr>
          <p:cNvPr id="30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72">
            <a:alphaModFix amt="100000"/>
          </a:blip>
          <a:stretch/>
        </p:blipFill>
        <p:spPr>
          <a:xfrm>
            <a:off x="914400" y="8466237"/>
            <a:ext cx="5596831" cy="841921"/>
          </a:xfrm>
          <a:prstGeom prst="rect">
            <a:avLst/>
          </a:prstGeom>
        </p:spPr>
      </p:pic>
      <p:pic>
        <p:nvPicPr>
          <p:cNvPr id="30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74">
            <a:alphaModFix amt="100000"/>
          </a:blip>
          <a:stretch/>
        </p:blipFill>
        <p:spPr>
          <a:xfrm>
            <a:off x="921990" y="8473827"/>
            <a:ext cx="5573911" cy="836265"/>
          </a:xfrm>
          <a:prstGeom prst="rect">
            <a:avLst/>
          </a:prstGeom>
        </p:spPr>
      </p:pic>
      <p:sp>
        <p:nvSpPr>
          <p:cNvPr id="3063" name="text-7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851594" y="8717566"/>
            <a:ext cx="17478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000000">
                    <a:alpha val="100000"/>
                  </a:srgbClr>
                </a:solidFill>
                <a:latin typeface="Roboto" panose="00000700000000000000" pitchFamily="2" charset="0"/>
              </a:rPr>
              <a:t>Index nécessaire</a:t>
            </a:r>
          </a:p>
        </p:txBody>
      </p:sp>
      <p:pic>
        <p:nvPicPr>
          <p:cNvPr id="30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76">
            <a:alphaModFix amt="100000"/>
          </a:blip>
          <a:stretch/>
        </p:blipFill>
        <p:spPr>
          <a:xfrm>
            <a:off x="6507766" y="8466296"/>
            <a:ext cx="6130231" cy="841921"/>
          </a:xfrm>
          <a:prstGeom prst="rect">
            <a:avLst/>
          </a:prstGeom>
        </p:spPr>
      </p:pic>
      <p:pic>
        <p:nvPicPr>
          <p:cNvPr id="306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78">
            <a:alphaModFix amt="100000"/>
          </a:blip>
          <a:stretch/>
        </p:blipFill>
        <p:spPr>
          <a:xfrm>
            <a:off x="6515290" y="8473916"/>
            <a:ext cx="6116836" cy="836265"/>
          </a:xfrm>
          <a:prstGeom prst="rect">
            <a:avLst/>
          </a:prstGeom>
        </p:spPr>
      </p:pic>
      <p:sp>
        <p:nvSpPr>
          <p:cNvPr id="3069" name="Label-7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87680" y="8717566"/>
            <a:ext cx="60055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✅ déjà créé pour sharding</a:t>
            </a:r>
          </a:p>
        </p:txBody>
      </p:sp>
      <p:pic>
        <p:nvPicPr>
          <p:cNvPr id="30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80">
            <a:alphaModFix amt="100000"/>
          </a:blip>
          <a:stretch/>
        </p:blipFill>
        <p:spPr>
          <a:xfrm>
            <a:off x="12635208" y="8466237"/>
            <a:ext cx="4663381" cy="841921"/>
          </a:xfrm>
          <a:prstGeom prst="rect">
            <a:avLst/>
          </a:prstGeom>
        </p:spPr>
      </p:pic>
      <p:pic>
        <p:nvPicPr>
          <p:cNvPr id="30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82">
            <a:alphaModFix amt="100000"/>
          </a:blip>
          <a:stretch/>
        </p:blipFill>
        <p:spPr>
          <a:xfrm>
            <a:off x="12642799" y="8473827"/>
            <a:ext cx="4649986" cy="836265"/>
          </a:xfrm>
          <a:prstGeom prst="rect">
            <a:avLst/>
          </a:prstGeom>
        </p:spPr>
      </p:pic>
      <p:sp>
        <p:nvSpPr>
          <p:cNvPr id="3075" name="Label-7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715304" y="8717566"/>
            <a:ext cx="4538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Aucun souci</a:t>
            </a:r>
          </a:p>
        </p:txBody>
      </p:sp>
      <p:sp>
        <p:nvSpPr>
          <p:cNvPr id="307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0491"/>
            <a:ext cx="16492538" cy="762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2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État du sharding: </a:t>
            </a:r>
            <a:r>
              <a:rPr lang="en-US" sz="4200" b="1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vue d'ensemble</a:t>
            </a:r>
            <a:r>
              <a:rPr lang="en-US" sz="4200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 rapide</a:t>
            </a:r>
          </a:p>
        </p:txBody>
      </p:sp>
      <p:sp>
        <p:nvSpPr>
          <p:cNvPr id="307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526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sh.status() sur  &amp; "C:\Users\karap\Downloads\mongosh-2.5.10-win32-x64\mongosh-2.5.10-win32-x64\bin\mongosh.exe" --port 27000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1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8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8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90">
            <a:alphaModFix amt="7000"/>
          </a:blip>
          <a:stretch/>
        </p:blipFill>
        <p:spPr>
          <a:xfrm>
            <a:off x="16002000" y="3362801"/>
            <a:ext cx="762000" cy="762000"/>
          </a:xfrm>
          <a:prstGeom prst="rect">
            <a:avLst/>
          </a:prstGeom>
        </p:spPr>
      </p:pic>
      <p:pic>
        <p:nvPicPr>
          <p:cNvPr id="30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92">
            <a:alphaModFix amt="7000"/>
          </a:blip>
          <a:stretch/>
        </p:blipFill>
        <p:spPr>
          <a:xfrm>
            <a:off x="16764572" y="2600420"/>
            <a:ext cx="1524000" cy="762000"/>
          </a:xfrm>
          <a:prstGeom prst="rect">
            <a:avLst/>
          </a:prstGeom>
        </p:spPr>
      </p:pic>
      <p:pic>
        <p:nvPicPr>
          <p:cNvPr id="30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94">
            <a:alphaModFix amt="7000"/>
          </a:blip>
          <a:stretch/>
        </p:blipFill>
        <p:spPr>
          <a:xfrm>
            <a:off x="16764572" y="1075944"/>
            <a:ext cx="800100" cy="1524000"/>
          </a:xfrm>
          <a:prstGeom prst="rect">
            <a:avLst/>
          </a:prstGeom>
        </p:spPr>
      </p:pic>
      <p:pic>
        <p:nvPicPr>
          <p:cNvPr id="30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96">
            <a:alphaModFix amt="7000"/>
          </a:blip>
          <a:stretch/>
        </p:blipFill>
        <p:spPr>
          <a:xfrm>
            <a:off x="15239333" y="2600420"/>
            <a:ext cx="762000" cy="762000"/>
          </a:xfrm>
          <a:prstGeom prst="rect">
            <a:avLst/>
          </a:prstGeom>
        </p:spPr>
      </p:pic>
      <p:pic>
        <p:nvPicPr>
          <p:cNvPr id="30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98">
            <a:alphaModFix amt="7000"/>
          </a:blip>
          <a:stretch/>
        </p:blipFill>
        <p:spPr>
          <a:xfrm>
            <a:off x="2286000" y="2238375"/>
            <a:ext cx="762000" cy="762000"/>
          </a:xfrm>
          <a:prstGeom prst="rect">
            <a:avLst/>
          </a:prstGeom>
        </p:spPr>
      </p:pic>
      <p:pic>
        <p:nvPicPr>
          <p:cNvPr id="30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00">
            <a:alphaModFix amt="7000"/>
          </a:blip>
          <a:stretch/>
        </p:blipFill>
        <p:spPr>
          <a:xfrm>
            <a:off x="0" y="0"/>
            <a:ext cx="1524000" cy="1581150"/>
          </a:xfrm>
          <a:prstGeom prst="rect">
            <a:avLst/>
          </a:prstGeom>
        </p:spPr>
      </p:pic>
      <p:pic>
        <p:nvPicPr>
          <p:cNvPr id="30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02">
            <a:alphaModFix amt="7000"/>
          </a:blip>
          <a:stretch/>
        </p:blipFill>
        <p:spPr>
          <a:xfrm>
            <a:off x="762572" y="2267236"/>
            <a:ext cx="762000" cy="762000"/>
          </a:xfrm>
          <a:prstGeom prst="rect">
            <a:avLst/>
          </a:prstGeom>
        </p:spPr>
      </p:pic>
      <p:pic>
        <p:nvPicPr>
          <p:cNvPr id="30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04">
            <a:alphaModFix amt="7000"/>
          </a:blip>
          <a:stretch/>
        </p:blipFill>
        <p:spPr>
          <a:xfrm>
            <a:off x="1523238" y="742760"/>
            <a:ext cx="762000" cy="1524000"/>
          </a:xfrm>
          <a:prstGeom prst="rect">
            <a:avLst/>
          </a:prstGeom>
        </p:spPr>
      </p:pic>
      <p:pic>
        <p:nvPicPr>
          <p:cNvPr id="31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06">
            <a:alphaModFix amt="100000"/>
          </a:blip>
          <a:stretch/>
        </p:blipFill>
        <p:spPr>
          <a:xfrm>
            <a:off x="914400" y="2895600"/>
            <a:ext cx="5263456" cy="946696"/>
          </a:xfrm>
          <a:prstGeom prst="rect">
            <a:avLst/>
          </a:prstGeom>
        </p:spPr>
      </p:pic>
      <p:pic>
        <p:nvPicPr>
          <p:cNvPr id="31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08">
            <a:alphaModFix amt="100000"/>
          </a:blip>
          <a:stretch/>
        </p:blipFill>
        <p:spPr>
          <a:xfrm>
            <a:off x="921990" y="2903190"/>
            <a:ext cx="5250061" cy="941040"/>
          </a:xfrm>
          <a:prstGeom prst="rect">
            <a:avLst/>
          </a:prstGeom>
        </p:spPr>
      </p:pic>
      <p:sp>
        <p:nvSpPr>
          <p:cNvPr id="3105" name="text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69812" y="3198781"/>
            <a:ext cx="9858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Shard</a:t>
            </a:r>
          </a:p>
        </p:txBody>
      </p:sp>
      <p:pic>
        <p:nvPicPr>
          <p:cNvPr id="31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10">
            <a:alphaModFix amt="100000"/>
          </a:blip>
          <a:stretch/>
        </p:blipFill>
        <p:spPr>
          <a:xfrm>
            <a:off x="6177706" y="2895600"/>
            <a:ext cx="1967806" cy="946696"/>
          </a:xfrm>
          <a:prstGeom prst="rect">
            <a:avLst/>
          </a:prstGeom>
        </p:spPr>
      </p:pic>
      <p:pic>
        <p:nvPicPr>
          <p:cNvPr id="31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12">
            <a:alphaModFix amt="100000"/>
          </a:blip>
          <a:stretch/>
        </p:blipFill>
        <p:spPr>
          <a:xfrm>
            <a:off x="6185297" y="2903190"/>
            <a:ext cx="1954411" cy="941040"/>
          </a:xfrm>
          <a:prstGeom prst="rect">
            <a:avLst/>
          </a:prstGeom>
        </p:spPr>
      </p:pic>
      <p:sp>
        <p:nvSpPr>
          <p:cNvPr id="3111" name="text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46139" y="3198781"/>
            <a:ext cx="14716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Donnée (data)</a:t>
            </a:r>
          </a:p>
        </p:txBody>
      </p:sp>
      <p:pic>
        <p:nvPicPr>
          <p:cNvPr id="31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14">
            <a:alphaModFix amt="100000"/>
          </a:blip>
          <a:stretch/>
        </p:blipFill>
        <p:spPr>
          <a:xfrm>
            <a:off x="8148340" y="2895600"/>
            <a:ext cx="2444056" cy="946696"/>
          </a:xfrm>
          <a:prstGeom prst="rect">
            <a:avLst/>
          </a:prstGeom>
        </p:spPr>
      </p:pic>
      <p:pic>
        <p:nvPicPr>
          <p:cNvPr id="31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16">
            <a:alphaModFix amt="100000"/>
          </a:blip>
          <a:stretch/>
        </p:blipFill>
        <p:spPr>
          <a:xfrm>
            <a:off x="8155930" y="2903190"/>
            <a:ext cx="2421136" cy="941040"/>
          </a:xfrm>
          <a:prstGeom prst="rect">
            <a:avLst/>
          </a:prstGeom>
        </p:spPr>
      </p:pic>
      <p:sp>
        <p:nvSpPr>
          <p:cNvPr id="3117" name="text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48199" y="3033046"/>
            <a:ext cx="187166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Documents (docs)</a:t>
            </a:r>
          </a:p>
        </p:txBody>
      </p:sp>
      <p:pic>
        <p:nvPicPr>
          <p:cNvPr id="31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18">
            <a:alphaModFix amt="100000"/>
          </a:blip>
          <a:stretch/>
        </p:blipFill>
        <p:spPr>
          <a:xfrm>
            <a:off x="10589266" y="2895600"/>
            <a:ext cx="3358456" cy="946696"/>
          </a:xfrm>
          <a:prstGeom prst="rect">
            <a:avLst/>
          </a:prstGeom>
        </p:spPr>
      </p:pic>
      <p:pic>
        <p:nvPicPr>
          <p:cNvPr id="31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20">
            <a:alphaModFix amt="100000"/>
          </a:blip>
          <a:stretch/>
        </p:blipFill>
        <p:spPr>
          <a:xfrm>
            <a:off x="10596858" y="2903190"/>
            <a:ext cx="3335536" cy="941040"/>
          </a:xfrm>
          <a:prstGeom prst="rect">
            <a:avLst/>
          </a:prstGeom>
        </p:spPr>
      </p:pic>
      <p:sp>
        <p:nvSpPr>
          <p:cNvPr id="3123" name="text-0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90140" y="3198781"/>
            <a:ext cx="9858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Chunks</a:t>
            </a:r>
          </a:p>
        </p:txBody>
      </p:sp>
      <p:pic>
        <p:nvPicPr>
          <p:cNvPr id="31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22">
            <a:alphaModFix amt="100000"/>
          </a:blip>
          <a:stretch/>
        </p:blipFill>
        <p:spPr>
          <a:xfrm>
            <a:off x="13943562" y="2895600"/>
            <a:ext cx="3358456" cy="946696"/>
          </a:xfrm>
          <a:prstGeom prst="rect">
            <a:avLst/>
          </a:prstGeom>
        </p:spPr>
      </p:pic>
      <p:pic>
        <p:nvPicPr>
          <p:cNvPr id="31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24">
            <a:alphaModFix amt="100000"/>
          </a:blip>
          <a:stretch/>
        </p:blipFill>
        <p:spPr>
          <a:xfrm>
            <a:off x="13951153" y="2903190"/>
            <a:ext cx="3335536" cy="941040"/>
          </a:xfrm>
          <a:prstGeom prst="rect">
            <a:avLst/>
          </a:prstGeom>
        </p:spPr>
      </p:pic>
      <p:sp>
        <p:nvSpPr>
          <p:cNvPr id="3129" name="text-0,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304454" y="3198781"/>
            <a:ext cx="26622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b="1" spc="-9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Estimated docs per chunk</a:t>
            </a:r>
          </a:p>
        </p:txBody>
      </p:sp>
      <p:pic>
        <p:nvPicPr>
          <p:cNvPr id="313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26">
            <a:alphaModFix amt="100000"/>
          </a:blip>
          <a:stretch/>
        </p:blipFill>
        <p:spPr>
          <a:xfrm>
            <a:off x="914400" y="3833217"/>
            <a:ext cx="5263456" cy="889546"/>
          </a:xfrm>
          <a:prstGeom prst="rect">
            <a:avLst/>
          </a:prstGeom>
        </p:spPr>
      </p:pic>
      <p:pic>
        <p:nvPicPr>
          <p:cNvPr id="31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28">
            <a:alphaModFix amt="100000"/>
          </a:blip>
          <a:stretch/>
        </p:blipFill>
        <p:spPr>
          <a:xfrm>
            <a:off x="921990" y="3840956"/>
            <a:ext cx="5250061" cy="883890"/>
          </a:xfrm>
          <a:prstGeom prst="rect">
            <a:avLst/>
          </a:prstGeom>
        </p:spPr>
      </p:pic>
      <p:sp>
        <p:nvSpPr>
          <p:cNvPr id="3135" name="Label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4109847"/>
            <a:ext cx="50244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shard3Repl at shard3Repl/localhost:27019</a:t>
            </a:r>
          </a:p>
        </p:txBody>
      </p:sp>
      <p:pic>
        <p:nvPicPr>
          <p:cNvPr id="31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30">
            <a:alphaModFix amt="100000"/>
          </a:blip>
          <a:stretch/>
        </p:blipFill>
        <p:spPr>
          <a:xfrm>
            <a:off x="6177706" y="3833217"/>
            <a:ext cx="1967806" cy="889546"/>
          </a:xfrm>
          <a:prstGeom prst="rect">
            <a:avLst/>
          </a:prstGeom>
        </p:spPr>
      </p:pic>
      <p:pic>
        <p:nvPicPr>
          <p:cNvPr id="31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32">
            <a:alphaModFix amt="100000"/>
          </a:blip>
          <a:stretch/>
        </p:blipFill>
        <p:spPr>
          <a:xfrm>
            <a:off x="6185297" y="3840956"/>
            <a:ext cx="1954411" cy="883890"/>
          </a:xfrm>
          <a:prstGeom prst="rect">
            <a:avLst/>
          </a:prstGeom>
        </p:spPr>
      </p:pic>
      <p:sp>
        <p:nvSpPr>
          <p:cNvPr id="3141" name="Label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14884" y="4109847"/>
            <a:ext cx="17287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90.58MiB</a:t>
            </a:r>
          </a:p>
        </p:txBody>
      </p:sp>
      <p:pic>
        <p:nvPicPr>
          <p:cNvPr id="31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34">
            <a:alphaModFix amt="100000"/>
          </a:blip>
          <a:stretch/>
        </p:blipFill>
        <p:spPr>
          <a:xfrm>
            <a:off x="8148340" y="3833217"/>
            <a:ext cx="2444056" cy="889546"/>
          </a:xfrm>
          <a:prstGeom prst="rect">
            <a:avLst/>
          </a:prstGeom>
        </p:spPr>
      </p:pic>
      <p:pic>
        <p:nvPicPr>
          <p:cNvPr id="31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36">
            <a:alphaModFix amt="100000"/>
          </a:blip>
          <a:stretch/>
        </p:blipFill>
        <p:spPr>
          <a:xfrm>
            <a:off x="8155930" y="3840956"/>
            <a:ext cx="2421136" cy="883890"/>
          </a:xfrm>
          <a:prstGeom prst="rect">
            <a:avLst/>
          </a:prstGeom>
        </p:spPr>
      </p:pic>
      <p:sp>
        <p:nvSpPr>
          <p:cNvPr id="3147" name="Label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48199" y="4109847"/>
            <a:ext cx="1871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27396</a:t>
            </a:r>
          </a:p>
        </p:txBody>
      </p:sp>
      <p:pic>
        <p:nvPicPr>
          <p:cNvPr id="31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38">
            <a:alphaModFix amt="100000"/>
          </a:blip>
          <a:stretch/>
        </p:blipFill>
        <p:spPr>
          <a:xfrm>
            <a:off x="10589266" y="3833217"/>
            <a:ext cx="3358456" cy="889546"/>
          </a:xfrm>
          <a:prstGeom prst="rect">
            <a:avLst/>
          </a:prstGeom>
        </p:spPr>
      </p:pic>
      <p:pic>
        <p:nvPicPr>
          <p:cNvPr id="31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40">
            <a:alphaModFix amt="100000"/>
          </a:blip>
          <a:stretch/>
        </p:blipFill>
        <p:spPr>
          <a:xfrm>
            <a:off x="10596858" y="3840956"/>
            <a:ext cx="3335536" cy="883890"/>
          </a:xfrm>
          <a:prstGeom prst="rect">
            <a:avLst/>
          </a:prstGeom>
        </p:spPr>
      </p:pic>
      <p:sp>
        <p:nvSpPr>
          <p:cNvPr id="3153" name="Label-1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26484" y="4109847"/>
            <a:ext cx="31099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1</a:t>
            </a:r>
          </a:p>
        </p:txBody>
      </p:sp>
      <p:pic>
        <p:nvPicPr>
          <p:cNvPr id="31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42">
            <a:alphaModFix amt="100000"/>
          </a:blip>
          <a:stretch/>
        </p:blipFill>
        <p:spPr>
          <a:xfrm>
            <a:off x="13943562" y="3833217"/>
            <a:ext cx="3358456" cy="889546"/>
          </a:xfrm>
          <a:prstGeom prst="rect">
            <a:avLst/>
          </a:prstGeom>
        </p:spPr>
      </p:pic>
      <p:pic>
        <p:nvPicPr>
          <p:cNvPr id="31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44">
            <a:alphaModFix amt="100000"/>
          </a:blip>
          <a:stretch/>
        </p:blipFill>
        <p:spPr>
          <a:xfrm>
            <a:off x="13951153" y="3840956"/>
            <a:ext cx="3335536" cy="883890"/>
          </a:xfrm>
          <a:prstGeom prst="rect">
            <a:avLst/>
          </a:prstGeom>
        </p:spPr>
      </p:pic>
      <p:pic>
        <p:nvPicPr>
          <p:cNvPr id="3159" name="iconNode-1,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46">
            <a:alphaModFix amt="100000"/>
          </a:blip>
          <a:stretch/>
        </p:blipFill>
        <p:spPr>
          <a:xfrm>
            <a:off x="14080808" y="4008882"/>
            <a:ext cx="533400" cy="533400"/>
          </a:xfrm>
          <a:prstGeom prst="rect">
            <a:avLst/>
          </a:prstGeom>
        </p:spPr>
      </p:pic>
      <p:sp>
        <p:nvSpPr>
          <p:cNvPr id="3161" name="Label-1,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66608" y="4109847"/>
            <a:ext cx="6715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27396</a:t>
            </a:r>
          </a:p>
        </p:txBody>
      </p:sp>
      <p:pic>
        <p:nvPicPr>
          <p:cNvPr id="31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48">
            <a:alphaModFix amt="100000"/>
          </a:blip>
          <a:stretch/>
        </p:blipFill>
        <p:spPr>
          <a:xfrm>
            <a:off x="914400" y="4717732"/>
            <a:ext cx="5263456" cy="889546"/>
          </a:xfrm>
          <a:prstGeom prst="rect">
            <a:avLst/>
          </a:prstGeom>
        </p:spPr>
      </p:pic>
      <p:pic>
        <p:nvPicPr>
          <p:cNvPr id="31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50">
            <a:alphaModFix amt="100000"/>
          </a:blip>
          <a:stretch/>
        </p:blipFill>
        <p:spPr>
          <a:xfrm>
            <a:off x="922020" y="4725352"/>
            <a:ext cx="5250061" cy="883890"/>
          </a:xfrm>
          <a:prstGeom prst="rect">
            <a:avLst/>
          </a:prstGeom>
        </p:spPr>
      </p:pic>
      <p:sp>
        <p:nvSpPr>
          <p:cNvPr id="3167" name="Label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4994243"/>
            <a:ext cx="50244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shard2Repl at shard2Repl/localhost:27018</a:t>
            </a:r>
          </a:p>
        </p:txBody>
      </p:sp>
      <p:pic>
        <p:nvPicPr>
          <p:cNvPr id="31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52">
            <a:alphaModFix amt="100000"/>
          </a:blip>
          <a:stretch/>
        </p:blipFill>
        <p:spPr>
          <a:xfrm>
            <a:off x="6177724" y="4717732"/>
            <a:ext cx="1967806" cy="889546"/>
          </a:xfrm>
          <a:prstGeom prst="rect">
            <a:avLst/>
          </a:prstGeom>
        </p:spPr>
      </p:pic>
      <p:pic>
        <p:nvPicPr>
          <p:cNvPr id="31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54">
            <a:alphaModFix amt="100000"/>
          </a:blip>
          <a:stretch/>
        </p:blipFill>
        <p:spPr>
          <a:xfrm>
            <a:off x="6185344" y="4725352"/>
            <a:ext cx="1954411" cy="883890"/>
          </a:xfrm>
          <a:prstGeom prst="rect">
            <a:avLst/>
          </a:prstGeom>
        </p:spPr>
      </p:pic>
      <p:sp>
        <p:nvSpPr>
          <p:cNvPr id="3173" name="Label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14884" y="4994243"/>
            <a:ext cx="17287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29.51MiB</a:t>
            </a:r>
          </a:p>
        </p:txBody>
      </p:sp>
      <p:pic>
        <p:nvPicPr>
          <p:cNvPr id="31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56">
            <a:alphaModFix amt="100000"/>
          </a:blip>
          <a:stretch/>
        </p:blipFill>
        <p:spPr>
          <a:xfrm>
            <a:off x="8148447" y="4717732"/>
            <a:ext cx="2444056" cy="889546"/>
          </a:xfrm>
          <a:prstGeom prst="rect">
            <a:avLst/>
          </a:prstGeom>
        </p:spPr>
      </p:pic>
      <p:pic>
        <p:nvPicPr>
          <p:cNvPr id="31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58">
            <a:alphaModFix amt="100000"/>
          </a:blip>
          <a:stretch/>
        </p:blipFill>
        <p:spPr>
          <a:xfrm>
            <a:off x="8156067" y="4725352"/>
            <a:ext cx="2421136" cy="883890"/>
          </a:xfrm>
          <a:prstGeom prst="rect">
            <a:avLst/>
          </a:prstGeom>
        </p:spPr>
      </p:pic>
      <p:sp>
        <p:nvSpPr>
          <p:cNvPr id="3179" name="Label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48199" y="4994243"/>
            <a:ext cx="1871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36307</a:t>
            </a:r>
          </a:p>
        </p:txBody>
      </p:sp>
      <p:pic>
        <p:nvPicPr>
          <p:cNvPr id="31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60">
            <a:alphaModFix amt="100000"/>
          </a:blip>
          <a:stretch/>
        </p:blipFill>
        <p:spPr>
          <a:xfrm>
            <a:off x="10589324" y="4717732"/>
            <a:ext cx="3358456" cy="889546"/>
          </a:xfrm>
          <a:prstGeom prst="rect">
            <a:avLst/>
          </a:prstGeom>
        </p:spPr>
      </p:pic>
      <p:pic>
        <p:nvPicPr>
          <p:cNvPr id="31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62">
            <a:alphaModFix amt="100000"/>
          </a:blip>
          <a:stretch/>
        </p:blipFill>
        <p:spPr>
          <a:xfrm>
            <a:off x="10596944" y="4725352"/>
            <a:ext cx="3335536" cy="883890"/>
          </a:xfrm>
          <a:prstGeom prst="rect">
            <a:avLst/>
          </a:prstGeom>
        </p:spPr>
      </p:pic>
      <p:sp>
        <p:nvSpPr>
          <p:cNvPr id="3185" name="Label-2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26484" y="4994243"/>
            <a:ext cx="31099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1</a:t>
            </a:r>
          </a:p>
        </p:txBody>
      </p:sp>
      <p:pic>
        <p:nvPicPr>
          <p:cNvPr id="31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64">
            <a:alphaModFix amt="100000"/>
          </a:blip>
          <a:stretch/>
        </p:blipFill>
        <p:spPr>
          <a:xfrm>
            <a:off x="13943648" y="4717732"/>
            <a:ext cx="3358456" cy="889546"/>
          </a:xfrm>
          <a:prstGeom prst="rect">
            <a:avLst/>
          </a:prstGeom>
        </p:spPr>
      </p:pic>
      <p:pic>
        <p:nvPicPr>
          <p:cNvPr id="31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66">
            <a:alphaModFix amt="100000"/>
          </a:blip>
          <a:stretch/>
        </p:blipFill>
        <p:spPr>
          <a:xfrm>
            <a:off x="13951268" y="4725352"/>
            <a:ext cx="3335536" cy="883890"/>
          </a:xfrm>
          <a:prstGeom prst="rect">
            <a:avLst/>
          </a:prstGeom>
        </p:spPr>
      </p:pic>
      <p:pic>
        <p:nvPicPr>
          <p:cNvPr id="3191" name="iconNode-2,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68">
            <a:alphaModFix amt="100000"/>
          </a:blip>
          <a:stretch/>
        </p:blipFill>
        <p:spPr>
          <a:xfrm>
            <a:off x="14080808" y="4893278"/>
            <a:ext cx="533400" cy="533400"/>
          </a:xfrm>
          <a:prstGeom prst="rect">
            <a:avLst/>
          </a:prstGeom>
        </p:spPr>
      </p:pic>
      <p:sp>
        <p:nvSpPr>
          <p:cNvPr id="3193" name="Label-2,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66608" y="4994243"/>
            <a:ext cx="6715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36307</a:t>
            </a:r>
          </a:p>
        </p:txBody>
      </p:sp>
      <p:pic>
        <p:nvPicPr>
          <p:cNvPr id="31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70">
            <a:alphaModFix amt="100000"/>
          </a:blip>
          <a:stretch/>
        </p:blipFill>
        <p:spPr>
          <a:xfrm>
            <a:off x="914400" y="5602129"/>
            <a:ext cx="5263456" cy="889546"/>
          </a:xfrm>
          <a:prstGeom prst="rect">
            <a:avLst/>
          </a:prstGeom>
        </p:spPr>
      </p:pic>
      <p:pic>
        <p:nvPicPr>
          <p:cNvPr id="31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72">
            <a:alphaModFix amt="100000"/>
          </a:blip>
          <a:stretch/>
        </p:blipFill>
        <p:spPr>
          <a:xfrm>
            <a:off x="922020" y="5609749"/>
            <a:ext cx="5250061" cy="883890"/>
          </a:xfrm>
          <a:prstGeom prst="rect">
            <a:avLst/>
          </a:prstGeom>
        </p:spPr>
      </p:pic>
      <p:sp>
        <p:nvSpPr>
          <p:cNvPr id="3199" name="Label-3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5878640"/>
            <a:ext cx="50244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shard1Repl at shard1Repl/localhost:27017</a:t>
            </a:r>
          </a:p>
        </p:txBody>
      </p:sp>
      <p:pic>
        <p:nvPicPr>
          <p:cNvPr id="32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74">
            <a:alphaModFix amt="100000"/>
          </a:blip>
          <a:stretch/>
        </p:blipFill>
        <p:spPr>
          <a:xfrm>
            <a:off x="6177724" y="5602129"/>
            <a:ext cx="1967806" cy="889546"/>
          </a:xfrm>
          <a:prstGeom prst="rect">
            <a:avLst/>
          </a:prstGeom>
        </p:spPr>
      </p:pic>
      <p:pic>
        <p:nvPicPr>
          <p:cNvPr id="32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76">
            <a:alphaModFix amt="100000"/>
          </a:blip>
          <a:stretch/>
        </p:blipFill>
        <p:spPr>
          <a:xfrm>
            <a:off x="6185344" y="5609749"/>
            <a:ext cx="1954411" cy="883890"/>
          </a:xfrm>
          <a:prstGeom prst="rect">
            <a:avLst/>
          </a:prstGeom>
        </p:spPr>
      </p:pic>
      <p:sp>
        <p:nvSpPr>
          <p:cNvPr id="3205" name="Label-3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14884" y="5878640"/>
            <a:ext cx="17287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238.88MiB</a:t>
            </a:r>
          </a:p>
        </p:txBody>
      </p:sp>
      <p:pic>
        <p:nvPicPr>
          <p:cNvPr id="32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78">
            <a:alphaModFix amt="100000"/>
          </a:blip>
          <a:stretch/>
        </p:blipFill>
        <p:spPr>
          <a:xfrm>
            <a:off x="8148447" y="5602129"/>
            <a:ext cx="2444056" cy="889546"/>
          </a:xfrm>
          <a:prstGeom prst="rect">
            <a:avLst/>
          </a:prstGeom>
        </p:spPr>
      </p:pic>
      <p:pic>
        <p:nvPicPr>
          <p:cNvPr id="32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80">
            <a:alphaModFix amt="100000"/>
          </a:blip>
          <a:stretch/>
        </p:blipFill>
        <p:spPr>
          <a:xfrm>
            <a:off x="8156067" y="5609749"/>
            <a:ext cx="2421136" cy="883890"/>
          </a:xfrm>
          <a:prstGeom prst="rect">
            <a:avLst/>
          </a:prstGeom>
        </p:spPr>
      </p:pic>
      <p:sp>
        <p:nvSpPr>
          <p:cNvPr id="3211" name="Label-3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48199" y="5878640"/>
            <a:ext cx="18716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69556</a:t>
            </a:r>
          </a:p>
        </p:txBody>
      </p:sp>
      <p:pic>
        <p:nvPicPr>
          <p:cNvPr id="32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82">
            <a:alphaModFix amt="100000"/>
          </a:blip>
          <a:stretch/>
        </p:blipFill>
        <p:spPr>
          <a:xfrm>
            <a:off x="10589324" y="5602129"/>
            <a:ext cx="3358456" cy="889546"/>
          </a:xfrm>
          <a:prstGeom prst="rect">
            <a:avLst/>
          </a:prstGeom>
        </p:spPr>
      </p:pic>
      <p:pic>
        <p:nvPicPr>
          <p:cNvPr id="32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84">
            <a:alphaModFix amt="100000"/>
          </a:blip>
          <a:stretch/>
        </p:blipFill>
        <p:spPr>
          <a:xfrm>
            <a:off x="10596944" y="5609749"/>
            <a:ext cx="3335536" cy="883890"/>
          </a:xfrm>
          <a:prstGeom prst="rect">
            <a:avLst/>
          </a:prstGeom>
        </p:spPr>
      </p:pic>
      <p:sp>
        <p:nvSpPr>
          <p:cNvPr id="3217" name="Label-3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26484" y="5878640"/>
            <a:ext cx="31099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1</a:t>
            </a:r>
          </a:p>
        </p:txBody>
      </p:sp>
      <p:pic>
        <p:nvPicPr>
          <p:cNvPr id="32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86">
            <a:alphaModFix amt="100000"/>
          </a:blip>
          <a:stretch/>
        </p:blipFill>
        <p:spPr>
          <a:xfrm>
            <a:off x="13943648" y="5602129"/>
            <a:ext cx="3358456" cy="889546"/>
          </a:xfrm>
          <a:prstGeom prst="rect">
            <a:avLst/>
          </a:prstGeom>
        </p:spPr>
      </p:pic>
      <p:pic>
        <p:nvPicPr>
          <p:cNvPr id="32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88">
            <a:alphaModFix amt="100000"/>
          </a:blip>
          <a:stretch/>
        </p:blipFill>
        <p:spPr>
          <a:xfrm>
            <a:off x="13951268" y="5609749"/>
            <a:ext cx="3335536" cy="883890"/>
          </a:xfrm>
          <a:prstGeom prst="rect">
            <a:avLst/>
          </a:prstGeom>
        </p:spPr>
      </p:pic>
      <p:pic>
        <p:nvPicPr>
          <p:cNvPr id="3223" name="iconNode-3,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90">
            <a:alphaModFix amt="100000"/>
          </a:blip>
          <a:stretch/>
        </p:blipFill>
        <p:spPr>
          <a:xfrm>
            <a:off x="14080808" y="5777674"/>
            <a:ext cx="533400" cy="533400"/>
          </a:xfrm>
          <a:prstGeom prst="rect">
            <a:avLst/>
          </a:prstGeom>
        </p:spPr>
      </p:pic>
      <p:sp>
        <p:nvSpPr>
          <p:cNvPr id="3225" name="Label-3,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66608" y="5878640"/>
            <a:ext cx="6715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69556</a:t>
            </a:r>
          </a:p>
        </p:txBody>
      </p:sp>
      <p:pic>
        <p:nvPicPr>
          <p:cNvPr id="32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92">
            <a:alphaModFix amt="100000"/>
          </a:blip>
          <a:stretch/>
        </p:blipFill>
        <p:spPr>
          <a:xfrm>
            <a:off x="914400" y="6486525"/>
            <a:ext cx="5263456" cy="946696"/>
          </a:xfrm>
          <a:prstGeom prst="rect">
            <a:avLst/>
          </a:prstGeom>
        </p:spPr>
      </p:pic>
      <p:pic>
        <p:nvPicPr>
          <p:cNvPr id="32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94">
            <a:alphaModFix amt="100000"/>
          </a:blip>
          <a:stretch/>
        </p:blipFill>
        <p:spPr>
          <a:xfrm>
            <a:off x="921990" y="6494115"/>
            <a:ext cx="5250061" cy="941040"/>
          </a:xfrm>
          <a:prstGeom prst="rect">
            <a:avLst/>
          </a:prstGeom>
        </p:spPr>
      </p:pic>
      <p:sp>
        <p:nvSpPr>
          <p:cNvPr id="3231" name="Label-4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6789706"/>
            <a:ext cx="50244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Shard shard3Repl (pourcentages)</a:t>
            </a:r>
          </a:p>
        </p:txBody>
      </p:sp>
      <p:pic>
        <p:nvPicPr>
          <p:cNvPr id="32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96">
            <a:alphaModFix amt="100000"/>
          </a:blip>
          <a:stretch/>
        </p:blipFill>
        <p:spPr>
          <a:xfrm>
            <a:off x="6177706" y="6486525"/>
            <a:ext cx="1967806" cy="946696"/>
          </a:xfrm>
          <a:prstGeom prst="rect">
            <a:avLst/>
          </a:prstGeom>
        </p:spPr>
      </p:pic>
      <p:pic>
        <p:nvPicPr>
          <p:cNvPr id="32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98">
            <a:alphaModFix amt="100000"/>
          </a:blip>
          <a:stretch/>
        </p:blipFill>
        <p:spPr>
          <a:xfrm>
            <a:off x="6185344" y="6494145"/>
            <a:ext cx="1954411" cy="941040"/>
          </a:xfrm>
          <a:prstGeom prst="rect">
            <a:avLst/>
          </a:prstGeom>
        </p:spPr>
      </p:pic>
      <p:sp>
        <p:nvSpPr>
          <p:cNvPr id="3237" name="Label-4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14884" y="6789706"/>
            <a:ext cx="17287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25.23 % data</a:t>
            </a:r>
          </a:p>
        </p:txBody>
      </p:sp>
      <p:pic>
        <p:nvPicPr>
          <p:cNvPr id="32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00">
            <a:alphaModFix amt="100000"/>
          </a:blip>
          <a:stretch/>
        </p:blipFill>
        <p:spPr>
          <a:xfrm>
            <a:off x="8148340" y="6486525"/>
            <a:ext cx="2444056" cy="946696"/>
          </a:xfrm>
          <a:prstGeom prst="rect">
            <a:avLst/>
          </a:prstGeom>
        </p:spPr>
      </p:pic>
      <p:pic>
        <p:nvPicPr>
          <p:cNvPr id="32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02">
            <a:alphaModFix amt="100000"/>
          </a:blip>
          <a:stretch/>
        </p:blipFill>
        <p:spPr>
          <a:xfrm>
            <a:off x="8156067" y="6494145"/>
            <a:ext cx="2421136" cy="941040"/>
          </a:xfrm>
          <a:prstGeom prst="rect">
            <a:avLst/>
          </a:prstGeom>
        </p:spPr>
      </p:pic>
      <p:sp>
        <p:nvSpPr>
          <p:cNvPr id="3243" name="Label-4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48199" y="6623971"/>
            <a:ext cx="187166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20.55 % docs in cluster</a:t>
            </a:r>
          </a:p>
        </p:txBody>
      </p:sp>
      <p:pic>
        <p:nvPicPr>
          <p:cNvPr id="32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04">
            <a:alphaModFix amt="100000"/>
          </a:blip>
          <a:stretch/>
        </p:blipFill>
        <p:spPr>
          <a:xfrm>
            <a:off x="10589266" y="6486525"/>
            <a:ext cx="3358456" cy="946696"/>
          </a:xfrm>
          <a:prstGeom prst="rect">
            <a:avLst/>
          </a:prstGeom>
        </p:spPr>
      </p:pic>
      <p:pic>
        <p:nvPicPr>
          <p:cNvPr id="32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06">
            <a:alphaModFix amt="100000"/>
          </a:blip>
          <a:stretch/>
        </p:blipFill>
        <p:spPr>
          <a:xfrm>
            <a:off x="10596944" y="6494145"/>
            <a:ext cx="3335536" cy="941040"/>
          </a:xfrm>
          <a:prstGeom prst="rect">
            <a:avLst/>
          </a:prstGeom>
        </p:spPr>
      </p:pic>
      <p:sp>
        <p:nvSpPr>
          <p:cNvPr id="3249" name="Label-4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26484" y="6789706"/>
            <a:ext cx="31099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3KiB avg obj size on shard</a:t>
            </a:r>
          </a:p>
        </p:txBody>
      </p:sp>
      <p:pic>
        <p:nvPicPr>
          <p:cNvPr id="32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08">
            <a:alphaModFix amt="100000"/>
          </a:blip>
          <a:stretch/>
        </p:blipFill>
        <p:spPr>
          <a:xfrm>
            <a:off x="13943562" y="6486525"/>
            <a:ext cx="3358456" cy="946696"/>
          </a:xfrm>
          <a:prstGeom prst="rect">
            <a:avLst/>
          </a:prstGeom>
        </p:spPr>
      </p:pic>
      <p:pic>
        <p:nvPicPr>
          <p:cNvPr id="32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10">
            <a:alphaModFix amt="100000"/>
          </a:blip>
          <a:stretch/>
        </p:blipFill>
        <p:spPr>
          <a:xfrm>
            <a:off x="13951153" y="6494115"/>
            <a:ext cx="3335536" cy="941040"/>
          </a:xfrm>
          <a:prstGeom prst="rect">
            <a:avLst/>
          </a:prstGeom>
        </p:spPr>
      </p:pic>
      <p:pic>
        <p:nvPicPr>
          <p:cNvPr id="3255" name="iconNode-4,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13">
            <a:alphaModFix amt="100000"/>
            <a:extLst>
              <a:ext uri="{EC5431A9-8FA8-4939-8752-F9A8EBCC7A20}">
                <asvg:svgBlip xmlns:r="http://schemas.openxmlformats.org/officeDocument/2006/relationships" xmlns:asvg="http://schemas.microsoft.com/office/drawing/2016/SVG/main" r:embed="rId2212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4080808" y="6688741"/>
            <a:ext cx="533400" cy="533400"/>
          </a:xfrm>
          <a:prstGeom prst="rect">
            <a:avLst/>
          </a:prstGeom>
        </p:spPr>
      </p:pic>
      <p:sp>
        <p:nvSpPr>
          <p:cNvPr id="3257" name="Label-4,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66608" y="6789706"/>
            <a:ext cx="18240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hors Paris et Lyon</a:t>
            </a:r>
          </a:p>
        </p:txBody>
      </p:sp>
      <p:pic>
        <p:nvPicPr>
          <p:cNvPr id="32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15">
            <a:alphaModFix amt="100000"/>
          </a:blip>
          <a:stretch/>
        </p:blipFill>
        <p:spPr>
          <a:xfrm>
            <a:off x="914400" y="7424261"/>
            <a:ext cx="5263456" cy="946696"/>
          </a:xfrm>
          <a:prstGeom prst="rect">
            <a:avLst/>
          </a:prstGeom>
        </p:spPr>
      </p:pic>
      <p:pic>
        <p:nvPicPr>
          <p:cNvPr id="32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17">
            <a:alphaModFix amt="100000"/>
          </a:blip>
          <a:stretch/>
        </p:blipFill>
        <p:spPr>
          <a:xfrm>
            <a:off x="922020" y="7431881"/>
            <a:ext cx="5250061" cy="941040"/>
          </a:xfrm>
          <a:prstGeom prst="rect">
            <a:avLst/>
          </a:prstGeom>
        </p:spPr>
      </p:pic>
      <p:sp>
        <p:nvSpPr>
          <p:cNvPr id="3263" name="Label-5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7727442"/>
            <a:ext cx="50244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Shard shard2Repl (pourcentages)</a:t>
            </a:r>
          </a:p>
        </p:txBody>
      </p:sp>
      <p:pic>
        <p:nvPicPr>
          <p:cNvPr id="32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19">
            <a:alphaModFix amt="100000"/>
          </a:blip>
          <a:stretch/>
        </p:blipFill>
        <p:spPr>
          <a:xfrm>
            <a:off x="6177724" y="7424261"/>
            <a:ext cx="1967806" cy="946696"/>
          </a:xfrm>
          <a:prstGeom prst="rect">
            <a:avLst/>
          </a:prstGeom>
        </p:spPr>
      </p:pic>
      <p:pic>
        <p:nvPicPr>
          <p:cNvPr id="326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21">
            <a:alphaModFix amt="100000"/>
          </a:blip>
          <a:stretch/>
        </p:blipFill>
        <p:spPr>
          <a:xfrm>
            <a:off x="6185344" y="7431881"/>
            <a:ext cx="1954411" cy="941040"/>
          </a:xfrm>
          <a:prstGeom prst="rect">
            <a:avLst/>
          </a:prstGeom>
        </p:spPr>
      </p:pic>
      <p:sp>
        <p:nvSpPr>
          <p:cNvPr id="3269" name="Label-5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14884" y="7727442"/>
            <a:ext cx="17287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8.22 % data</a:t>
            </a:r>
          </a:p>
        </p:txBody>
      </p:sp>
      <p:pic>
        <p:nvPicPr>
          <p:cNvPr id="32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23">
            <a:alphaModFix amt="100000"/>
          </a:blip>
          <a:stretch/>
        </p:blipFill>
        <p:spPr>
          <a:xfrm>
            <a:off x="8148447" y="7424261"/>
            <a:ext cx="2444056" cy="946696"/>
          </a:xfrm>
          <a:prstGeom prst="rect">
            <a:avLst/>
          </a:prstGeom>
        </p:spPr>
      </p:pic>
      <p:pic>
        <p:nvPicPr>
          <p:cNvPr id="327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25">
            <a:alphaModFix amt="100000"/>
          </a:blip>
          <a:stretch/>
        </p:blipFill>
        <p:spPr>
          <a:xfrm>
            <a:off x="8156067" y="7431881"/>
            <a:ext cx="2421136" cy="941040"/>
          </a:xfrm>
          <a:prstGeom prst="rect">
            <a:avLst/>
          </a:prstGeom>
        </p:spPr>
      </p:pic>
      <p:sp>
        <p:nvSpPr>
          <p:cNvPr id="3275" name="Label-5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48199" y="7561707"/>
            <a:ext cx="187166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27.24 % docs in cluster</a:t>
            </a:r>
          </a:p>
        </p:txBody>
      </p:sp>
      <p:pic>
        <p:nvPicPr>
          <p:cNvPr id="32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27">
            <a:alphaModFix amt="100000"/>
          </a:blip>
          <a:stretch/>
        </p:blipFill>
        <p:spPr>
          <a:xfrm>
            <a:off x="10589324" y="7424261"/>
            <a:ext cx="3358456" cy="946696"/>
          </a:xfrm>
          <a:prstGeom prst="rect">
            <a:avLst/>
          </a:prstGeom>
        </p:spPr>
      </p:pic>
      <p:pic>
        <p:nvPicPr>
          <p:cNvPr id="32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29">
            <a:alphaModFix amt="100000"/>
          </a:blip>
          <a:stretch/>
        </p:blipFill>
        <p:spPr>
          <a:xfrm>
            <a:off x="10596944" y="7431881"/>
            <a:ext cx="3335536" cy="941040"/>
          </a:xfrm>
          <a:prstGeom prst="rect">
            <a:avLst/>
          </a:prstGeom>
        </p:spPr>
      </p:pic>
      <p:sp>
        <p:nvSpPr>
          <p:cNvPr id="3281" name="Label-5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26484" y="7727442"/>
            <a:ext cx="31099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3KiB avg obj size on shard</a:t>
            </a:r>
          </a:p>
        </p:txBody>
      </p:sp>
      <p:pic>
        <p:nvPicPr>
          <p:cNvPr id="32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31">
            <a:alphaModFix amt="100000"/>
          </a:blip>
          <a:stretch/>
        </p:blipFill>
        <p:spPr>
          <a:xfrm>
            <a:off x="13943648" y="7424261"/>
            <a:ext cx="3358456" cy="946696"/>
          </a:xfrm>
          <a:prstGeom prst="rect">
            <a:avLst/>
          </a:prstGeom>
        </p:spPr>
      </p:pic>
      <p:pic>
        <p:nvPicPr>
          <p:cNvPr id="32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33">
            <a:alphaModFix amt="100000"/>
          </a:blip>
          <a:stretch/>
        </p:blipFill>
        <p:spPr>
          <a:xfrm>
            <a:off x="13951268" y="7431881"/>
            <a:ext cx="3335536" cy="941040"/>
          </a:xfrm>
          <a:prstGeom prst="rect">
            <a:avLst/>
          </a:prstGeom>
        </p:spPr>
      </p:pic>
      <p:pic>
        <p:nvPicPr>
          <p:cNvPr id="3287" name="iconNode-5,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36">
            <a:alphaModFix amt="100000"/>
            <a:extLst>
              <a:ext uri="{47733A73-992F-40B9-9195-5239CC56B7AC}">
                <asvg:svgBlip xmlns:r="http://schemas.openxmlformats.org/officeDocument/2006/relationships" xmlns:asvg="http://schemas.microsoft.com/office/drawing/2016/SVG/main" r:embed="rId223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4080808" y="7626477"/>
            <a:ext cx="533400" cy="533400"/>
          </a:xfrm>
          <a:prstGeom prst="rect">
            <a:avLst/>
          </a:prstGeom>
        </p:spPr>
      </p:pic>
      <p:sp>
        <p:nvSpPr>
          <p:cNvPr id="3289" name="Label-5,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66608" y="7727442"/>
            <a:ext cx="5000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Lyon</a:t>
            </a:r>
          </a:p>
        </p:txBody>
      </p:sp>
      <p:pic>
        <p:nvPicPr>
          <p:cNvPr id="32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38">
            <a:alphaModFix amt="100000"/>
          </a:blip>
          <a:stretch/>
        </p:blipFill>
        <p:spPr>
          <a:xfrm>
            <a:off x="914400" y="8361908"/>
            <a:ext cx="5263456" cy="946696"/>
          </a:xfrm>
          <a:prstGeom prst="rect">
            <a:avLst/>
          </a:prstGeom>
        </p:spPr>
      </p:pic>
      <p:pic>
        <p:nvPicPr>
          <p:cNvPr id="32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40">
            <a:alphaModFix amt="100000"/>
          </a:blip>
          <a:stretch/>
        </p:blipFill>
        <p:spPr>
          <a:xfrm>
            <a:off x="921990" y="8369498"/>
            <a:ext cx="5250061" cy="941040"/>
          </a:xfrm>
          <a:prstGeom prst="rect">
            <a:avLst/>
          </a:prstGeom>
        </p:spPr>
      </p:pic>
      <p:sp>
        <p:nvSpPr>
          <p:cNvPr id="3295" name="Label-6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1560" y="8665369"/>
            <a:ext cx="50244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Shard shard1Repl (pourcentages)</a:t>
            </a:r>
          </a:p>
        </p:txBody>
      </p:sp>
      <p:pic>
        <p:nvPicPr>
          <p:cNvPr id="32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42">
            <a:alphaModFix amt="100000"/>
          </a:blip>
          <a:stretch/>
        </p:blipFill>
        <p:spPr>
          <a:xfrm>
            <a:off x="6177706" y="8361908"/>
            <a:ext cx="1967806" cy="946696"/>
          </a:xfrm>
          <a:prstGeom prst="rect">
            <a:avLst/>
          </a:prstGeom>
        </p:spPr>
      </p:pic>
      <p:pic>
        <p:nvPicPr>
          <p:cNvPr id="32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44">
            <a:alphaModFix amt="100000"/>
          </a:blip>
          <a:stretch/>
        </p:blipFill>
        <p:spPr>
          <a:xfrm>
            <a:off x="6185297" y="8369498"/>
            <a:ext cx="1954411" cy="941040"/>
          </a:xfrm>
          <a:prstGeom prst="rect">
            <a:avLst/>
          </a:prstGeom>
        </p:spPr>
      </p:pic>
      <p:sp>
        <p:nvSpPr>
          <p:cNvPr id="3301" name="Label-6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14884" y="8665369"/>
            <a:ext cx="17287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66.54 % data</a:t>
            </a:r>
          </a:p>
        </p:txBody>
      </p:sp>
      <p:pic>
        <p:nvPicPr>
          <p:cNvPr id="3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46">
            <a:alphaModFix amt="100000"/>
          </a:blip>
          <a:stretch/>
        </p:blipFill>
        <p:spPr>
          <a:xfrm>
            <a:off x="8148340" y="8361908"/>
            <a:ext cx="2444056" cy="946696"/>
          </a:xfrm>
          <a:prstGeom prst="rect">
            <a:avLst/>
          </a:prstGeom>
        </p:spPr>
      </p:pic>
      <p:pic>
        <p:nvPicPr>
          <p:cNvPr id="33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48">
            <a:alphaModFix amt="100000"/>
          </a:blip>
          <a:stretch/>
        </p:blipFill>
        <p:spPr>
          <a:xfrm>
            <a:off x="8155930" y="8369498"/>
            <a:ext cx="2421136" cy="941040"/>
          </a:xfrm>
          <a:prstGeom prst="rect">
            <a:avLst/>
          </a:prstGeom>
        </p:spPr>
      </p:pic>
      <p:sp>
        <p:nvSpPr>
          <p:cNvPr id="3307" name="Label-6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448199" y="8499634"/>
            <a:ext cx="1871662" cy="676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52.19 % docs in cluster</a:t>
            </a:r>
          </a:p>
        </p:txBody>
      </p:sp>
      <p:pic>
        <p:nvPicPr>
          <p:cNvPr id="33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50">
            <a:alphaModFix amt="100000"/>
          </a:blip>
          <a:stretch/>
        </p:blipFill>
        <p:spPr>
          <a:xfrm>
            <a:off x="10589266" y="8361908"/>
            <a:ext cx="3358456" cy="946696"/>
          </a:xfrm>
          <a:prstGeom prst="rect">
            <a:avLst/>
          </a:prstGeom>
        </p:spPr>
      </p:pic>
      <p:pic>
        <p:nvPicPr>
          <p:cNvPr id="33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52">
            <a:alphaModFix amt="100000"/>
          </a:blip>
          <a:stretch/>
        </p:blipFill>
        <p:spPr>
          <a:xfrm>
            <a:off x="10596858" y="8369498"/>
            <a:ext cx="3335536" cy="941040"/>
          </a:xfrm>
          <a:prstGeom prst="rect">
            <a:avLst/>
          </a:prstGeom>
        </p:spPr>
      </p:pic>
      <p:sp>
        <p:nvSpPr>
          <p:cNvPr id="3313" name="Label-6,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26484" y="8665369"/>
            <a:ext cx="310991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3KiB avg obj size on shard</a:t>
            </a:r>
          </a:p>
        </p:txBody>
      </p:sp>
      <p:pic>
        <p:nvPicPr>
          <p:cNvPr id="33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54">
            <a:alphaModFix amt="100000"/>
          </a:blip>
          <a:stretch/>
        </p:blipFill>
        <p:spPr>
          <a:xfrm>
            <a:off x="13943562" y="8361908"/>
            <a:ext cx="3358456" cy="946696"/>
          </a:xfrm>
          <a:prstGeom prst="rect">
            <a:avLst/>
          </a:prstGeom>
        </p:spPr>
      </p:pic>
      <p:pic>
        <p:nvPicPr>
          <p:cNvPr id="33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56">
            <a:alphaModFix amt="100000"/>
          </a:blip>
          <a:stretch/>
        </p:blipFill>
        <p:spPr>
          <a:xfrm>
            <a:off x="13951153" y="8369498"/>
            <a:ext cx="3335536" cy="941040"/>
          </a:xfrm>
          <a:prstGeom prst="rect">
            <a:avLst/>
          </a:prstGeom>
        </p:spPr>
      </p:pic>
      <p:pic>
        <p:nvPicPr>
          <p:cNvPr id="3319" name="iconNode-6,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59">
            <a:alphaModFix amt="100000"/>
            <a:extLst>
              <a:ext uri="{44DDCDA9-44AE-4AFA-A693-0F0370068815}">
                <asvg:svgBlip xmlns:r="http://schemas.openxmlformats.org/officeDocument/2006/relationships" xmlns:asvg="http://schemas.microsoft.com/office/drawing/2016/SVG/main" r:embed="rId225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4080808" y="8564404"/>
            <a:ext cx="533400" cy="533400"/>
          </a:xfrm>
          <a:prstGeom prst="rect">
            <a:avLst/>
          </a:prstGeom>
        </p:spPr>
      </p:pic>
      <p:sp>
        <p:nvSpPr>
          <p:cNvPr id="3321" name="Label-6,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766608" y="8665369"/>
            <a:ext cx="5476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Paris</a:t>
            </a:r>
          </a:p>
        </p:txBody>
      </p:sp>
      <p:sp>
        <p:nvSpPr>
          <p:cNvPr id="332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7730"/>
            <a:ext cx="16492538" cy="714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3900" spc="-92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Répartition finale des </a:t>
            </a:r>
            <a:r>
              <a:rPr lang="en-US" sz="3900" b="1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shards</a:t>
            </a:r>
            <a:r>
              <a:rPr lang="en-US" sz="3900" spc="-92" dirty="0">
                <a:solidFill>
                  <a:srgbClr val="000000"/>
                </a:solidFill>
                <a:latin typeface="Poppins SemiBold" panose="00000700000000000000" pitchFamily="2" charset="0"/>
              </a:rPr>
              <a:t> pour logementsParisLyon</a:t>
            </a:r>
          </a:p>
        </p:txBody>
      </p:sp>
      <p:sp>
        <p:nvSpPr>
          <p:cNvPr id="332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14500"/>
            <a:ext cx="164925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 db.logementsParisLyon.getShardDistribution() sur  &amp; "C:\Users\karap\Downloads\mongosh-2.5.10-win32-x64\mongosh-2.5.10-win32-x64\bin\mongosh.exe" --port 27000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6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330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265">
            <a:alphaModFix amt="100000"/>
          </a:blip>
          <a:stretch/>
        </p:blipFill>
        <p:spPr>
          <a:xfrm>
            <a:off x="5857875" y="0"/>
            <a:ext cx="12430125" cy="10287000"/>
          </a:xfrm>
          <a:prstGeom prst="rect">
            <a:avLst/>
          </a:prstGeom>
        </p:spPr>
      </p:pic>
      <p:pic>
        <p:nvPicPr>
          <p:cNvPr id="3332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67">
            <a:alphaModFix amt="100000"/>
          </a:blip>
          <a:stretch/>
        </p:blipFill>
        <p:spPr>
          <a:xfrm>
            <a:off x="5857875" y="1828800"/>
            <a:ext cx="1828800" cy="914400"/>
          </a:xfrm>
          <a:prstGeom prst="rect">
            <a:avLst/>
          </a:prstGeom>
        </p:spPr>
      </p:pic>
      <p:pic>
        <p:nvPicPr>
          <p:cNvPr id="3334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69">
            <a:alphaModFix amt="100000"/>
          </a:blip>
          <a:stretch/>
        </p:blipFill>
        <p:spPr>
          <a:xfrm>
            <a:off x="4943475" y="0"/>
            <a:ext cx="914400" cy="1828800"/>
          </a:xfrm>
          <a:prstGeom prst="rect">
            <a:avLst/>
          </a:prstGeom>
        </p:spPr>
      </p:pic>
      <p:pic>
        <p:nvPicPr>
          <p:cNvPr id="333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71">
            <a:alphaModFix amt="100000"/>
          </a:blip>
          <a:stretch/>
        </p:blipFill>
        <p:spPr>
          <a:xfrm>
            <a:off x="4943475" y="2743200"/>
            <a:ext cx="914400" cy="914400"/>
          </a:xfrm>
          <a:prstGeom prst="rect">
            <a:avLst/>
          </a:prstGeom>
        </p:spPr>
      </p:pic>
      <p:sp>
        <p:nvSpPr>
          <p:cNvPr id="333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914400"/>
            <a:ext cx="3148012" cy="1381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3900" spc="-92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Architecture finale</a:t>
            </a:r>
          </a:p>
        </p:txBody>
      </p:sp>
      <p:sp>
        <p:nvSpPr>
          <p:cNvPr id="334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403158"/>
            <a:ext cx="314801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100" spc="-10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Serveur, usager et liens entre replicats</a:t>
            </a:r>
          </a:p>
        </p:txBody>
      </p:sp>
      <p:sp>
        <p:nvSpPr>
          <p:cNvPr id="3342" name="Presenter Name-44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019574"/>
            <a:ext cx="31480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FFFFFF">
                    <a:alpha val="100000"/>
                  </a:srgbClr>
                </a:solidFill>
                <a:latin typeface="Poppins SemiBold" panose="00000700000000000000" pitchFamily="2" charset="0"/>
              </a:rPr>
              <a:t>API applicative</a:t>
            </a:r>
          </a:p>
        </p:txBody>
      </p:sp>
      <p:sp>
        <p:nvSpPr>
          <p:cNvPr id="3344" name="Presenter Designation-46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419624"/>
            <a:ext cx="3148012" cy="962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725" spc="-9" dirty="0">
                <a:solidFill>
                  <a:srgbClr val="F0F0F0">
                    <a:alpha val="80000"/>
                  </a:srgbClr>
                </a:solidFill>
                <a:latin typeface="Roboto" panose="00000700000000000000" pitchFamily="2" charset="0"/>
              </a:rPr>
              <a:t>Elle ramène en fonction du host_ocation de la demande les données es shards concernés</a:t>
            </a:r>
          </a:p>
        </p:txBody>
      </p:sp>
      <p:pic>
        <p:nvPicPr>
          <p:cNvPr id="33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73">
            <a:alphaModFix amt="100000"/>
          </a:blip>
          <a:stretch/>
        </p:blipFill>
        <p:spPr>
          <a:xfrm>
            <a:off x="15239333" y="8763476"/>
            <a:ext cx="762000" cy="762000"/>
          </a:xfrm>
          <a:prstGeom prst="rect">
            <a:avLst/>
          </a:prstGeom>
        </p:spPr>
      </p:pic>
      <p:pic>
        <p:nvPicPr>
          <p:cNvPr id="33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75">
            <a:alphaModFix amt="100000"/>
          </a:blip>
          <a:stretch/>
        </p:blipFill>
        <p:spPr>
          <a:xfrm>
            <a:off x="16764572" y="7238905"/>
            <a:ext cx="800100" cy="1524000"/>
          </a:xfrm>
          <a:prstGeom prst="rect">
            <a:avLst/>
          </a:prstGeom>
        </p:spPr>
      </p:pic>
      <p:pic>
        <p:nvPicPr>
          <p:cNvPr id="33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77">
            <a:alphaModFix amt="100000"/>
          </a:blip>
          <a:stretch/>
        </p:blipFill>
        <p:spPr>
          <a:xfrm>
            <a:off x="16764448" y="8763447"/>
            <a:ext cx="1523553" cy="762000"/>
          </a:xfrm>
          <a:prstGeom prst="rect">
            <a:avLst/>
          </a:prstGeom>
        </p:spPr>
      </p:pic>
      <p:pic>
        <p:nvPicPr>
          <p:cNvPr id="33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79">
            <a:alphaModFix amt="100000"/>
          </a:blip>
          <a:stretch/>
        </p:blipFill>
        <p:spPr>
          <a:xfrm>
            <a:off x="16002000" y="9524619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8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357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285">
            <a:alphaModFix amt="100000"/>
          </a:blip>
          <a:stretch/>
        </p:blipFill>
        <p:spPr>
          <a:xfrm>
            <a:off x="0" y="0"/>
            <a:ext cx="6248400" cy="10287000"/>
          </a:xfrm>
          <a:prstGeom prst="rect">
            <a:avLst/>
          </a:prstGeom>
        </p:spPr>
      </p:pic>
      <p:pic>
        <p:nvPicPr>
          <p:cNvPr id="335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87">
            <a:alphaModFix amt="100000"/>
          </a:blip>
          <a:stretch/>
        </p:blipFill>
        <p:spPr>
          <a:xfrm>
            <a:off x="4422458" y="1828800"/>
            <a:ext cx="914400" cy="914400"/>
          </a:xfrm>
          <a:prstGeom prst="rect">
            <a:avLst/>
          </a:prstGeom>
        </p:spPr>
      </p:pic>
      <p:pic>
        <p:nvPicPr>
          <p:cNvPr id="336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89">
            <a:alphaModFix amt="100000"/>
          </a:blip>
          <a:stretch/>
        </p:blipFill>
        <p:spPr>
          <a:xfrm>
            <a:off x="5336858" y="2743200"/>
            <a:ext cx="914400" cy="914400"/>
          </a:xfrm>
          <a:prstGeom prst="rect">
            <a:avLst/>
          </a:prstGeom>
        </p:spPr>
      </p:pic>
      <p:pic>
        <p:nvPicPr>
          <p:cNvPr id="3363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91">
            <a:alphaModFix amt="100000"/>
          </a:blip>
          <a:stretch/>
        </p:blipFill>
        <p:spPr>
          <a:xfrm>
            <a:off x="6251258" y="1828800"/>
            <a:ext cx="1828800" cy="914400"/>
          </a:xfrm>
          <a:prstGeom prst="rect">
            <a:avLst/>
          </a:prstGeom>
        </p:spPr>
      </p:pic>
      <p:pic>
        <p:nvPicPr>
          <p:cNvPr id="336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93">
            <a:alphaModFix amt="100000"/>
          </a:blip>
          <a:stretch/>
        </p:blipFill>
        <p:spPr>
          <a:xfrm>
            <a:off x="6251258" y="0"/>
            <a:ext cx="914400" cy="1828800"/>
          </a:xfrm>
          <a:prstGeom prst="rect">
            <a:avLst/>
          </a:prstGeom>
        </p:spPr>
      </p:pic>
      <p:sp>
        <p:nvSpPr>
          <p:cNvPr id="336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537258" y="914400"/>
            <a:ext cx="8872538" cy="2676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858"/>
              </a:lnSpc>
            </a:pPr>
            <a:r>
              <a:rPr lang="en-US" sz="5400" spc="-119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Concevoir et analyser une base de données </a:t>
            </a:r>
            <a:r>
              <a:rPr lang="en-US" sz="5400" b="1" spc="-119" dirty="0">
                <a:solidFill>
                  <a:srgbClr val="000000"/>
                </a:solidFill>
                <a:latin typeface="Poppins SemiBold" panose="00000700000000000000" pitchFamily="2" charset="0"/>
              </a:rPr>
              <a:t>NoSQL</a:t>
            </a:r>
          </a:p>
        </p:txBody>
      </p:sp>
      <p:sp>
        <p:nvSpPr>
          <p:cNvPr id="336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537258" y="3697224"/>
            <a:ext cx="8872538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19"/>
              </a:lnSpc>
            </a:pPr>
            <a:r>
              <a:rPr lang="en-US" sz="2100" spc="-10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 </a:t>
            </a:r>
          </a:p>
        </p:txBody>
      </p:sp>
      <p:sp>
        <p:nvSpPr>
          <p:cNvPr id="3371" name="Presenter Name-41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04058" y="8996362"/>
            <a:ext cx="78057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38" dirty="0">
                <a:solidFill>
                  <a:srgbClr val="000000">
                    <a:alpha val="100000"/>
                  </a:srgbClr>
                </a:solidFill>
                <a:latin typeface="Poppins SemiBold" panose="00000700000000000000" pitchFamily="2" charset="0"/>
              </a:rPr>
              <a:t>Pascal DUVAL</a:t>
            </a:r>
          </a:p>
        </p:txBody>
      </p:sp>
      <p:sp>
        <p:nvSpPr>
          <p:cNvPr id="3373" name="Presenter Designation-46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04058" y="9396412"/>
            <a:ext cx="78057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 spc="-9" dirty="0">
                <a:solidFill>
                  <a:srgbClr val="262D36">
                    <a:alpha val="80000"/>
                  </a:srgbClr>
                </a:solidFill>
                <a:latin typeface="Roboto" panose="00000700000000000000" pitchFamily="2" charset="0"/>
              </a:rPr>
              <a:t>AI/ML Engineer</a:t>
            </a:r>
          </a:p>
        </p:txBody>
      </p:sp>
      <p:pic>
        <p:nvPicPr>
          <p:cNvPr id="33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95">
            <a:alphaModFix amt="100000"/>
          </a:blip>
          <a:stretch/>
        </p:blipFill>
        <p:spPr>
          <a:xfrm>
            <a:off x="8537258" y="8934450"/>
            <a:ext cx="876300" cy="876300"/>
          </a:xfrm>
          <a:prstGeom prst="rect">
            <a:avLst/>
          </a:prstGeom>
        </p:spPr>
      </p:pic>
      <p:pic>
        <p:nvPicPr>
          <p:cNvPr id="3377" name="sgPresentorImageNod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297">
            <a:alphaModFix amt="100000"/>
          </a:blip>
          <a:stretch/>
        </p:blipFill>
        <p:spPr>
          <a:xfrm>
            <a:off x="8537258" y="8934450"/>
            <a:ext cx="876300" cy="876300"/>
          </a:xfrm>
          <a:prstGeom prst="rect">
            <a:avLst/>
          </a:prstGeom>
        </p:spPr>
      </p:pic>
      <p:pic>
        <p:nvPicPr>
          <p:cNvPr id="33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99">
            <a:alphaModFix amt="100000"/>
          </a:blip>
          <a:stretch/>
        </p:blipFill>
        <p:spPr>
          <a:xfrm>
            <a:off x="0" y="9524619"/>
            <a:ext cx="762000" cy="762000"/>
          </a:xfrm>
          <a:prstGeom prst="rect">
            <a:avLst/>
          </a:prstGeom>
        </p:spPr>
      </p:pic>
      <p:pic>
        <p:nvPicPr>
          <p:cNvPr id="33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01">
            <a:alphaModFix amt="100000"/>
          </a:blip>
          <a:stretch/>
        </p:blipFill>
        <p:spPr>
          <a:xfrm>
            <a:off x="0" y="7238905"/>
            <a:ext cx="762000" cy="1524000"/>
          </a:xfrm>
          <a:prstGeom prst="rect">
            <a:avLst/>
          </a:prstGeom>
        </p:spPr>
      </p:pic>
      <p:pic>
        <p:nvPicPr>
          <p:cNvPr id="33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03">
            <a:alphaModFix amt="100000"/>
          </a:blip>
          <a:stretch/>
        </p:blipFill>
        <p:spPr>
          <a:xfrm>
            <a:off x="762572" y="8763476"/>
            <a:ext cx="1524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Exporter Version: 2.6.0.0, docId: 25224645, orderId: 10094719</dc:title>
  <dc:creator>Presentations.AI Exporter</dc:creator>
  <lastModifiedBy>Presentations.AI Exporter</lastModifiedBy>
  <revision>1</revision>
  <dcterms:created xsi:type="dcterms:W3CDTF">2025-12-26T11:16:31.0000000Z</dcterms:created>
  <dcterms:modified xsi:type="dcterms:W3CDTF">2025-12-26T11:16:31.0000000Z</dcterms:modified>
</coreProperties>
</file>